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6" r:id="rId12"/>
    <p:sldId id="267" r:id="rId13"/>
    <p:sldId id="268" r:id="rId14"/>
    <p:sldId id="269" r:id="rId15"/>
    <p:sldId id="272" r:id="rId18"/>
    <p:sldId id="274" r:id="rId20"/>
    <p:sldId id="275" r:id="rId21"/>
    <p:sldId id="276" r:id="rId22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2"/>
    <p:sldId id="297" r:id="rId43"/>
    <p:sldId id="298" r:id="rId44"/>
    <p:sldId id="299" r:id="rId45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5" r:id="rId61"/>
    <p:sldId id="316" r:id="rId62"/>
    <p:sldId id="317" r:id="rId63"/>
    <p:sldId id="318" r:id="rId64"/>
    <p:sldId id="319" r:id="rId65"/>
    <p:sldId id="320" r:id="rId66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8" r:id="rId84"/>
    <p:sldId id="339" r:id="rId85"/>
    <p:sldId id="341" r:id="rId87"/>
    <p:sldId id="342" r:id="rId88"/>
    <p:sldId id="343" r:id="rId89"/>
    <p:sldId id="344" r:id="rId90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8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0.png"/><Relationship Id="rId3" Type="http://schemas.openxmlformats.org/officeDocument/2006/relationships/image" Target="../media/merged31.png"/><Relationship Id="rId4" Type="http://schemas.openxmlformats.org/officeDocument/2006/relationships/image" Target="../media/merged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3.png"/><Relationship Id="rId3" Type="http://schemas.openxmlformats.org/officeDocument/2006/relationships/image" Target="../media/merged44.png"/><Relationship Id="rId4" Type="http://schemas.openxmlformats.org/officeDocument/2006/relationships/image" Target="../media/merged4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6.png"/><Relationship Id="rId3" Type="http://schemas.openxmlformats.org/officeDocument/2006/relationships/image" Target="../media/merged47.png"/><Relationship Id="rId4" Type="http://schemas.openxmlformats.org/officeDocument/2006/relationships/image" Target="../media/merged4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49.png"/><Relationship Id="rId3" Type="http://schemas.openxmlformats.org/officeDocument/2006/relationships/image" Target="../media/merged50.png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3.png"/><Relationship Id="rId3" Type="http://schemas.openxmlformats.org/officeDocument/2006/relationships/image" Target="../media/merged54.png"/><Relationship Id="rId4" Type="http://schemas.openxmlformats.org/officeDocument/2006/relationships/image" Target="../media/merged55.png"/><Relationship Id="rId5" Type="http://schemas.openxmlformats.org/officeDocument/2006/relationships/image" Target="../media/merged5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57.png"/><Relationship Id="rId3" Type="http://schemas.openxmlformats.org/officeDocument/2006/relationships/image" Target="../media/merged58.png"/><Relationship Id="rId4" Type="http://schemas.openxmlformats.org/officeDocument/2006/relationships/image" Target="../media/merged5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0.png"/><Relationship Id="rId3" Type="http://schemas.openxmlformats.org/officeDocument/2006/relationships/image" Target="../media/merged61.png"/><Relationship Id="rId4" Type="http://schemas.openxmlformats.org/officeDocument/2006/relationships/image" Target="../media/merged6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3.png"/><Relationship Id="rId3" Type="http://schemas.openxmlformats.org/officeDocument/2006/relationships/image" Target="../media/merged64.png"/><Relationship Id="rId4" Type="http://schemas.openxmlformats.org/officeDocument/2006/relationships/image" Target="../media/merged6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66.png"/><Relationship Id="rId3" Type="http://schemas.openxmlformats.org/officeDocument/2006/relationships/image" Target="../media/merged67.png"/><Relationship Id="rId4" Type="http://schemas.openxmlformats.org/officeDocument/2006/relationships/image" Target="../media/merged68.png"/><Relationship Id="rId5" Type="http://schemas.openxmlformats.org/officeDocument/2006/relationships/image" Target="../media/merged6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70.png"/><Relationship Id="rId3" Type="http://schemas.openxmlformats.org/officeDocument/2006/relationships/image" Target="../media/merged71.png"/><Relationship Id="rId4" Type="http://schemas.openxmlformats.org/officeDocument/2006/relationships/image" Target="../media/merged72.png"/><Relationship Id="rId5" Type="http://schemas.openxmlformats.org/officeDocument/2006/relationships/image" Target="../media/merged7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74.jpg"/><Relationship Id="rId3" Type="http://schemas.openxmlformats.org/officeDocument/2006/relationships/image" Target="../media/merged75.png"/><Relationship Id="rId4" Type="http://schemas.openxmlformats.org/officeDocument/2006/relationships/image" Target="../media/merged7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77.png"/><Relationship Id="rId3" Type="http://schemas.openxmlformats.org/officeDocument/2006/relationships/image" Target="../media/merged78.png"/><Relationship Id="rId4" Type="http://schemas.openxmlformats.org/officeDocument/2006/relationships/image" Target="../media/merged7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2.png"/><Relationship Id="rId3" Type="http://schemas.openxmlformats.org/officeDocument/2006/relationships/image" Target="../media/merged83.png"/><Relationship Id="rId4" Type="http://schemas.openxmlformats.org/officeDocument/2006/relationships/image" Target="../media/merged84.png"/><Relationship Id="rId5" Type="http://schemas.openxmlformats.org/officeDocument/2006/relationships/image" Target="../media/merged8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8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98.png"/><Relationship Id="rId3" Type="http://schemas.openxmlformats.org/officeDocument/2006/relationships/image" Target="../media/merged99.png"/><Relationship Id="rId4" Type="http://schemas.openxmlformats.org/officeDocument/2006/relationships/image" Target="../media/merged10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0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19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A3E7382-5710-4DD7-84B9-266CAEB2FC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01B29A9A-A909-4441-B907-242FFC720AFE}"/>
              </a:ext>
            </a:extLst>
          </p:cNvPr>
          <p:cNvSpPr/>
          <p:nvPr/>
        </p:nvSpPr>
        <p:spPr>
          <a:xfrm>
            <a:off x="0" y="1819275"/>
            <a:ext cx="12192000" cy="2895600"/>
          </a:xfrm>
          <a:prstGeom prst="rect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432BDA6-4C23-4334-A3EC-E94BB538A526}"/>
              </a:ext>
            </a:extLst>
          </p:cNvPr>
          <p:cNvSpPr/>
          <p:nvPr/>
        </p:nvSpPr>
        <p:spPr>
          <a:xfrm>
            <a:off x="762000" y="23431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F8C1C7-0E64-4230-8FE4-8842746948DC}"/>
              </a:ext>
            </a:extLst>
          </p:cNvPr>
          <p:cNvSpPr txBox="1"/>
          <p:nvPr/>
        </p:nvSpPr>
        <p:spPr>
          <a:xfrm>
            <a:off x="762000" y="2000250"/>
            <a:ext cx="6667500" cy="2857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科研入门系统培训 · 完全手册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72B8807-A62E-4E33-BE47-EBC5E29B2797}"/>
              </a:ext>
            </a:extLst>
          </p:cNvPr>
          <p:cNvSpPr txBox="1"/>
          <p:nvPr/>
        </p:nvSpPr>
        <p:spPr>
          <a:xfrm>
            <a:off x="762000" y="2457450"/>
            <a:ext cx="8572500" cy="670560"/>
          </a:xfrm>
        </p:spPr>
        <p:txBody>
          <a:bodyPr wrap="square" rtlCol="0" lIns="0" tIns="0" rIns="0" bIns="0" anchor="t"/>
          <a:lstStyle/>
          <a:p>
            <a:r>
              <a:rPr sz="4400" b="1">
                <a:solidFill>
                  <a:srgbClr val="FFFFFF"/>
                </a:solidFill>
                <a:latin typeface="Times New Roman"/>
                <a:ea typeface="华文中宋"/>
              </a:rPr>
              <a:t>如何做科研与写论文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DC28CC-1253-421A-9594-3AAE4C900A7D}"/>
              </a:ext>
            </a:extLst>
          </p:cNvPr>
          <p:cNvSpPr txBox="1"/>
          <p:nvPr/>
        </p:nvSpPr>
        <p:spPr>
          <a:xfrm>
            <a:off x="762000" y="3200400"/>
            <a:ext cx="7620000" cy="723900"/>
          </a:xfrm>
        </p:spPr>
        <p:txBody>
          <a:bodyPr wrap="square" rtlCol="0" lIns="0" tIns="0" rIns="0" bIns="0" anchor="t"/>
          <a:lstStyle/>
          <a:p>
            <a:r>
              <a:rPr sz="1700">
                <a:solidFill>
                  <a:srgbClr val="EAD7F0"/>
                </a:solidFill>
                <a:latin typeface="Times New Roman"/>
                <a:ea typeface="华文中宋"/>
              </a:rPr>
              <a:t>两条主线 · </a:t>
            </a:r>
            <a:r>
              <a:rPr sz="1700">
                <a:solidFill>
                  <a:srgbClr val="EAD7F0"/>
                </a:solidFill>
                <a:latin typeface="Times New Roman"/>
                <a:ea typeface="Times New Roman"/>
              </a:rPr>
              <a:t>16</a:t>
            </a:r>
            <a:r>
              <a:rPr sz="1700">
                <a:solidFill>
                  <a:srgbClr val="EAD7F0"/>
                </a:solidFill>
                <a:latin typeface="Times New Roman"/>
                <a:ea typeface="华文中宋"/>
              </a:rPr>
              <a:t> 篇培训文档</a:t>
            </a:r>
          </a:p>
          <a:p>
            <a:r>
              <a:rPr sz="1700">
                <a:solidFill>
                  <a:srgbClr val="EAD7F0"/>
                </a:solidFill>
                <a:latin typeface="Times New Roman"/>
                <a:ea typeface="华文中宋"/>
              </a:rPr>
              <a:t>从找论文、读论文、想 </a:t>
            </a:r>
            <a:r>
              <a:rPr sz="1700">
                <a:solidFill>
                  <a:srgbClr val="EAD7F0"/>
                </a:solidFill>
                <a:latin typeface="Times New Roman"/>
                <a:ea typeface="Times New Roman"/>
              </a:rPr>
              <a:t>Idea</a:t>
            </a:r>
            <a:r>
              <a:rPr sz="1700">
                <a:solidFill>
                  <a:srgbClr val="EAD7F0"/>
                </a:solidFill>
                <a:latin typeface="Times New Roman"/>
                <a:ea typeface="华文中宋"/>
              </a:rPr>
              <a:t>，到画图、摘要、正文、参考文献与 </a:t>
            </a:r>
            <a:r>
              <a:rPr sz="1700">
                <a:solidFill>
                  <a:srgbClr val="EAD7F0"/>
                </a:solidFill>
                <a:latin typeface="Times New Roman"/>
                <a:ea typeface="Times New Roman"/>
              </a:rPr>
              <a:t>Rebuttal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56AB00-91F8-4325-B685-BCC58152FDA0}"/>
              </a:ext>
            </a:extLst>
          </p:cNvPr>
          <p:cNvSpPr txBox="1"/>
          <p:nvPr/>
        </p:nvSpPr>
        <p:spPr>
          <a:xfrm>
            <a:off x="304800" y="4876800"/>
            <a:ext cx="2857500" cy="22860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研究过程六阶段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5603642-B0CA-4F98-BBE2-D81BE4CE37BC}"/>
              </a:ext>
            </a:extLst>
          </p:cNvPr>
          <p:cNvSpPr/>
          <p:nvPr/>
        </p:nvSpPr>
        <p:spPr>
          <a:xfrm>
            <a:off x="304800" y="5143500"/>
            <a:ext cx="1866900" cy="438150"/>
          </a:xfrm>
          <a:prstGeom prst="chevron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Topic</a:t>
            </a:r>
          </a:p>
          <a:p>
            <a:pPr algn="ctr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定方向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91F622D-1FDE-4B6F-B952-2CE8D670F1FC}"/>
              </a:ext>
            </a:extLst>
          </p:cNvPr>
          <p:cNvSpPr/>
          <p:nvPr/>
        </p:nvSpPr>
        <p:spPr>
          <a:xfrm>
            <a:off x="2171700" y="5143500"/>
            <a:ext cx="1866900" cy="438150"/>
          </a:xfrm>
          <a:prstGeom prst="chevron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Problem</a:t>
            </a:r>
          </a:p>
          <a:p>
            <a:pPr algn="ctr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找问题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C08832E-8B1B-4942-99BA-A77D790EE510}"/>
              </a:ext>
            </a:extLst>
          </p:cNvPr>
          <p:cNvSpPr/>
          <p:nvPr/>
        </p:nvSpPr>
        <p:spPr>
          <a:xfrm>
            <a:off x="4038600" y="5143500"/>
            <a:ext cx="1866900" cy="438150"/>
          </a:xfrm>
          <a:prstGeom prst="chevron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Idea</a:t>
            </a:r>
          </a:p>
          <a:p>
            <a:pPr algn="ctr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出想法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9CA66DA-D8EE-477E-AA4B-2243D2132BD7}"/>
              </a:ext>
            </a:extLst>
          </p:cNvPr>
          <p:cNvSpPr/>
          <p:nvPr/>
        </p:nvSpPr>
        <p:spPr>
          <a:xfrm>
            <a:off x="5905500" y="5143500"/>
            <a:ext cx="1866900" cy="438150"/>
          </a:xfrm>
          <a:prstGeom prst="chevron">
            <a:avLst/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6D35"/>
                </a:solidFill>
                <a:latin typeface="Times New Roman"/>
                <a:ea typeface="Times New Roman"/>
              </a:rPr>
              <a:t>Concrete Work</a:t>
            </a:r>
          </a:p>
          <a:p>
            <a:pPr algn="ctr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做实验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DD0640B-BCF9-4054-AE06-8B9CF01CAB2A}"/>
              </a:ext>
            </a:extLst>
          </p:cNvPr>
          <p:cNvSpPr/>
          <p:nvPr/>
        </p:nvSpPr>
        <p:spPr>
          <a:xfrm>
            <a:off x="7772400" y="5143500"/>
            <a:ext cx="1866900" cy="438150"/>
          </a:xfrm>
          <a:prstGeom prst="chevron">
            <a:avLst/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6D35"/>
                </a:solidFill>
                <a:latin typeface="Times New Roman"/>
                <a:ea typeface="Times New Roman"/>
              </a:rPr>
              <a:t>Paper Writing</a:t>
            </a:r>
          </a:p>
          <a:p>
            <a:pPr algn="ctr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写论文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997D09B-5CEC-4B17-9CEB-8F2508A25770}"/>
              </a:ext>
            </a:extLst>
          </p:cNvPr>
          <p:cNvSpPr/>
          <p:nvPr/>
        </p:nvSpPr>
        <p:spPr>
          <a:xfrm>
            <a:off x="9639300" y="5143500"/>
            <a:ext cx="1866900" cy="438150"/>
          </a:xfrm>
          <a:prstGeom prst="chevron">
            <a:avLst/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6D35"/>
                </a:solidFill>
                <a:latin typeface="Times New Roman"/>
                <a:ea typeface="Times New Roman"/>
              </a:rPr>
              <a:t>Submit</a:t>
            </a:r>
          </a:p>
          <a:p>
            <a:pPr algn="ctr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投稿与答辩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7E3934E-23A7-4515-932F-D3469716AD61}"/>
              </a:ext>
            </a:extLst>
          </p:cNvPr>
          <p:cNvSpPr txBox="1"/>
          <p:nvPr/>
        </p:nvSpPr>
        <p:spPr>
          <a:xfrm>
            <a:off x="304800" y="6096000"/>
            <a:ext cx="95250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适用对象：新入组硕士生 · 博士生 · 本科实习生　｜　正文内容取自组内培训手册，未作改写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AF7FC59-35EE-4C36-9DDA-12D40013CB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E713029-549D-4069-AF49-6287CA2534D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两条主线，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16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篇文档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AA51EAF-853A-413A-BBBD-77CAA1EA507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7692AE2D-F579-43A7-B227-DB30CB4F6BB0}"/>
              </a:ext>
            </a:extLst>
          </p:cNvPr>
          <p:cNvCxnSpPr/>
          <p:nvPr/>
        </p:nvCxnSpPr>
        <p:spPr>
          <a:xfrm>
            <a:off x="304800" y="685800"/>
            <a:ext cx="115824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7" name="TextBox 7">
            <a:extLst>
              <a:ext uri="{FF2B5EF4-FFF2-40B4-BE49-F238E27FC236}">
                <a16:creationId xmlns:a16="http://schemas.microsoft.com/office/drawing/2014/main" id="{C06EA913-B5FE-4AA2-B817-1AF287E9F563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全册地图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732596-0752-40E8-B1C0-F5DEA6DB4464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02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14B2C78-FD41-4550-9295-8D56D2990409}"/>
              </a:ext>
            </a:extLst>
          </p:cNvPr>
          <p:cNvSpPr/>
          <p:nvPr/>
        </p:nvSpPr>
        <p:spPr>
          <a:xfrm>
            <a:off x="304800" y="9144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华文中宋"/>
              </a:rPr>
              <a:t>第一部分 · 如何做科研？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5F81C52-16A0-4075-9798-A2FA782ADADE}"/>
              </a:ext>
            </a:extLst>
          </p:cNvPr>
          <p:cNvSpPr/>
          <p:nvPr/>
        </p:nvSpPr>
        <p:spPr>
          <a:xfrm>
            <a:off x="6553200" y="9144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华文中宋"/>
              </a:rPr>
              <a:t>第二部分 · 如何写论文？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BC5FDE6-8E5F-4C88-9590-AEFF6177CB3E}"/>
              </a:ext>
            </a:extLst>
          </p:cNvPr>
          <p:cNvSpPr/>
          <p:nvPr/>
        </p:nvSpPr>
        <p:spPr>
          <a:xfrm>
            <a:off x="381000" y="14478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BC31A7-E4A2-477B-861F-6289799DEE9C}"/>
              </a:ext>
            </a:extLst>
          </p:cNvPr>
          <p:cNvSpPr txBox="1"/>
          <p:nvPr/>
        </p:nvSpPr>
        <p:spPr>
          <a:xfrm>
            <a:off x="781050" y="14763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第一篇 总览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研究是什么，能力怎么长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1859751-4256-4120-A251-1F9813001249}"/>
              </a:ext>
            </a:extLst>
          </p:cNvPr>
          <p:cNvSpPr/>
          <p:nvPr/>
        </p:nvSpPr>
        <p:spPr>
          <a:xfrm>
            <a:off x="381000" y="19812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976DB42-8B09-498F-802B-8CADA40211B8}"/>
              </a:ext>
            </a:extLst>
          </p:cNvPr>
          <p:cNvSpPr txBox="1"/>
          <p:nvPr/>
        </p:nvSpPr>
        <p:spPr>
          <a:xfrm>
            <a:off x="781050" y="20097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第二篇 如何找论文？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六条检索路径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9369B8C-8F8F-468E-92A4-CFD08B4B0503}"/>
              </a:ext>
            </a:extLst>
          </p:cNvPr>
          <p:cNvSpPr/>
          <p:nvPr/>
        </p:nvSpPr>
        <p:spPr>
          <a:xfrm>
            <a:off x="381000" y="25146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5C4C223-ADB1-4830-921B-2FA39EC7CED3}"/>
              </a:ext>
            </a:extLst>
          </p:cNvPr>
          <p:cNvSpPr txBox="1"/>
          <p:nvPr/>
        </p:nvSpPr>
        <p:spPr>
          <a:xfrm>
            <a:off x="781050" y="25431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第三篇 如何读论文？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七步法与读后思考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433478C-E433-4C8D-A051-EB0614A58A38}"/>
              </a:ext>
            </a:extLst>
          </p:cNvPr>
          <p:cNvSpPr/>
          <p:nvPr/>
        </p:nvSpPr>
        <p:spPr>
          <a:xfrm>
            <a:off x="381000" y="30480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3E639EE-6329-4392-AAC7-7E343FECEF96}"/>
              </a:ext>
            </a:extLst>
          </p:cNvPr>
          <p:cNvSpPr txBox="1"/>
          <p:nvPr/>
        </p:nvSpPr>
        <p:spPr>
          <a:xfrm>
            <a:off x="781050" y="30765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第四篇 如何想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？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选问题再找解法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79EE732-5CB6-4166-979A-0B668D1BB2BF}"/>
              </a:ext>
            </a:extLst>
          </p:cNvPr>
          <p:cNvSpPr/>
          <p:nvPr/>
        </p:nvSpPr>
        <p:spPr>
          <a:xfrm>
            <a:off x="381000" y="35814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FB815A8-5ACF-4FC4-9FC2-A598754C5EFD}"/>
              </a:ext>
            </a:extLst>
          </p:cNvPr>
          <p:cNvSpPr txBox="1"/>
          <p:nvPr/>
        </p:nvSpPr>
        <p:spPr>
          <a:xfrm>
            <a:off x="781050" y="36099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第五篇 如何进行学术汇报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形式、内容与追问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B6570BA3-2009-4ACF-8A3D-EB7C289D4BF5}"/>
              </a:ext>
            </a:extLst>
          </p:cNvPr>
          <p:cNvSpPr/>
          <p:nvPr/>
        </p:nvSpPr>
        <p:spPr>
          <a:xfrm>
            <a:off x="381000" y="41148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6BC5638-F283-4E45-8E04-C2145568CD06}"/>
              </a:ext>
            </a:extLst>
          </p:cNvPr>
          <p:cNvSpPr txBox="1"/>
          <p:nvPr/>
        </p:nvSpPr>
        <p:spPr>
          <a:xfrm>
            <a:off x="781050" y="41433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第六篇 如何高效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Meeting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模版与讨论原则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A0FD597-119D-4DC8-B4A1-4F373BF96419}"/>
              </a:ext>
            </a:extLst>
          </p:cNvPr>
          <p:cNvSpPr/>
          <p:nvPr/>
        </p:nvSpPr>
        <p:spPr>
          <a:xfrm>
            <a:off x="381000" y="46482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270A1B1-2637-4A3F-9A60-953A864A42D7}"/>
              </a:ext>
            </a:extLst>
          </p:cNvPr>
          <p:cNvSpPr txBox="1"/>
          <p:nvPr/>
        </p:nvSpPr>
        <p:spPr>
          <a:xfrm>
            <a:off x="781050" y="46767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第七篇 一些好的习惯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八个科研日常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87B35E9-A258-4C85-B6FC-3D1E0C0B5BE2}"/>
              </a:ext>
            </a:extLst>
          </p:cNvPr>
          <p:cNvSpPr/>
          <p:nvPr/>
        </p:nvSpPr>
        <p:spPr>
          <a:xfrm>
            <a:off x="6629400" y="14478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8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CD810E1-8376-491E-8972-8C3151F515A6}"/>
              </a:ext>
            </a:extLst>
          </p:cNvPr>
          <p:cNvSpPr txBox="1"/>
          <p:nvPr/>
        </p:nvSpPr>
        <p:spPr>
          <a:xfrm>
            <a:off x="7029450" y="14763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第八篇 写论文之前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署名、目标与大纲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42D627C9-5DC0-41EE-90FA-AA7391565592}"/>
              </a:ext>
            </a:extLst>
          </p:cNvPr>
          <p:cNvSpPr/>
          <p:nvPr/>
        </p:nvSpPr>
        <p:spPr>
          <a:xfrm>
            <a:off x="6629400" y="19812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9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0223624-010E-45EB-86F7-259602F42D20}"/>
              </a:ext>
            </a:extLst>
          </p:cNvPr>
          <p:cNvSpPr txBox="1"/>
          <p:nvPr/>
        </p:nvSpPr>
        <p:spPr>
          <a:xfrm>
            <a:off x="7029450" y="20097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第九篇 论文画图指南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动机图、方法图、结果图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C4696836-CB01-4596-8FCE-1829AC0EB7C0}"/>
              </a:ext>
            </a:extLst>
          </p:cNvPr>
          <p:cNvSpPr/>
          <p:nvPr/>
        </p:nvSpPr>
        <p:spPr>
          <a:xfrm>
            <a:off x="6629400" y="25146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10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609BF19-30F1-4C6A-B593-7B3F0CEE89A4}"/>
              </a:ext>
            </a:extLst>
          </p:cNvPr>
          <p:cNvSpPr txBox="1"/>
          <p:nvPr/>
        </p:nvSpPr>
        <p:spPr>
          <a:xfrm>
            <a:off x="7029450" y="25431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第十篇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Abstract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五句话原则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07CE7586-C8D8-46D3-908C-DFD7278C9B06}"/>
              </a:ext>
            </a:extLst>
          </p:cNvPr>
          <p:cNvSpPr/>
          <p:nvPr/>
        </p:nvSpPr>
        <p:spPr>
          <a:xfrm>
            <a:off x="6629400" y="30480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11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C835064-E424-4597-B233-70446551FFB7}"/>
              </a:ext>
            </a:extLst>
          </p:cNvPr>
          <p:cNvSpPr txBox="1"/>
          <p:nvPr/>
        </p:nvSpPr>
        <p:spPr>
          <a:xfrm>
            <a:off x="7029450" y="30765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第十一篇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四段式骨架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C748F7A-9EC2-488F-AB13-4D1CA9E7396D}"/>
              </a:ext>
            </a:extLst>
          </p:cNvPr>
          <p:cNvSpPr/>
          <p:nvPr/>
        </p:nvSpPr>
        <p:spPr>
          <a:xfrm>
            <a:off x="6629400" y="35814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12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7C5124E-E8D4-45E4-BD7E-D9D78F85BFFB}"/>
              </a:ext>
            </a:extLst>
          </p:cNvPr>
          <p:cNvSpPr txBox="1"/>
          <p:nvPr/>
        </p:nvSpPr>
        <p:spPr>
          <a:xfrm>
            <a:off x="7029450" y="36099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第十二篇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Related Works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分类与定位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80D6CDDB-61E6-4413-A14C-0F4E8F9AC1E1}"/>
              </a:ext>
            </a:extLst>
          </p:cNvPr>
          <p:cNvSpPr/>
          <p:nvPr/>
        </p:nvSpPr>
        <p:spPr>
          <a:xfrm>
            <a:off x="6629400" y="41148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13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1726DDB-6EF3-46BE-B49E-3B27FE3CE650}"/>
              </a:ext>
            </a:extLst>
          </p:cNvPr>
          <p:cNvSpPr txBox="1"/>
          <p:nvPr/>
        </p:nvSpPr>
        <p:spPr>
          <a:xfrm>
            <a:off x="7029450" y="41433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第十三篇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Methods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总分结构与公式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EBBD83FD-FF5A-4DA2-8591-2FE9493EE318}"/>
              </a:ext>
            </a:extLst>
          </p:cNvPr>
          <p:cNvSpPr/>
          <p:nvPr/>
        </p:nvSpPr>
        <p:spPr>
          <a:xfrm>
            <a:off x="6629400" y="46482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14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9F3AD34F-A5D7-4116-8752-B62AE3F88AED}"/>
              </a:ext>
            </a:extLst>
          </p:cNvPr>
          <p:cNvSpPr txBox="1"/>
          <p:nvPr/>
        </p:nvSpPr>
        <p:spPr>
          <a:xfrm>
            <a:off x="7029450" y="46767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第十四篇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Experiments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七段结构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D09A744A-6AAF-41F6-86CF-5600BCA9BA68}"/>
              </a:ext>
            </a:extLst>
          </p:cNvPr>
          <p:cNvSpPr/>
          <p:nvPr/>
        </p:nvSpPr>
        <p:spPr>
          <a:xfrm>
            <a:off x="6629400" y="51816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15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274BE54-9482-4A8A-91F2-D9C5011934AA}"/>
              </a:ext>
            </a:extLst>
          </p:cNvPr>
          <p:cNvSpPr txBox="1"/>
          <p:nvPr/>
        </p:nvSpPr>
        <p:spPr>
          <a:xfrm>
            <a:off x="7029450" y="52101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第十五篇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Reference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逐条手动编辑</a:t>
            </a: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C05561B5-37F3-49EF-B231-E3AEC7FB1CA7}"/>
              </a:ext>
            </a:extLst>
          </p:cNvPr>
          <p:cNvSpPr/>
          <p:nvPr/>
        </p:nvSpPr>
        <p:spPr>
          <a:xfrm>
            <a:off x="6629400" y="5715000"/>
            <a:ext cx="285750" cy="285750"/>
          </a:xfrm>
          <a:prstGeom prst="ellipse">
            <a:avLst/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16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0B5AB210-AD0E-4B4E-A322-F77C62AD8D1D}"/>
              </a:ext>
            </a:extLst>
          </p:cNvPr>
          <p:cNvSpPr txBox="1"/>
          <p:nvPr/>
        </p:nvSpPr>
        <p:spPr>
          <a:xfrm>
            <a:off x="7029450" y="5743575"/>
            <a:ext cx="485775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第十六篇 如何 </a:t>
            </a:r>
            <a:r>
              <a:rPr sz="1300" b="1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原则与句式</a:t>
            </a: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2E935427-184E-4DE2-824B-343899ABEB30}"/>
              </a:ext>
            </a:extLst>
          </p:cNvPr>
          <p:cNvSpPr/>
          <p:nvPr/>
        </p:nvSpPr>
        <p:spPr>
          <a:xfrm>
            <a:off x="304800" y="5429250"/>
            <a:ext cx="5334000" cy="57150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全 86 页，覆盖手册全部 16 篇文档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　正文一字未改，只重排版式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6EFC5E6-23F8-4ED9-9275-BBF7863934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494548E-1EFE-480D-9498-271B675A6A81}"/>
              </a:ext>
            </a:extLst>
          </p:cNvPr>
          <p:cNvSpPr/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205BCD5-FC32-4F78-A42F-4D3D5B8D6B8A}"/>
              </a:ext>
            </a:extLst>
          </p:cNvPr>
          <p:cNvSpPr txBox="1"/>
          <p:nvPr/>
        </p:nvSpPr>
        <p:spPr>
          <a:xfrm>
            <a:off x="533400" y="1866900"/>
            <a:ext cx="28575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PART 01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028D3E5-5B32-43B8-97BA-55216551EC90}"/>
              </a:ext>
            </a:extLst>
          </p:cNvPr>
          <p:cNvSpPr txBox="1"/>
          <p:nvPr/>
        </p:nvSpPr>
        <p:spPr>
          <a:xfrm>
            <a:off x="533400" y="2171700"/>
            <a:ext cx="3619500" cy="609600"/>
          </a:xfrm>
        </p:spPr>
        <p:txBody>
          <a:bodyPr wrap="square" rtlCol="0" lIns="0" tIns="0" rIns="0" bIns="0" anchor="t"/>
          <a:lstStyle/>
          <a:p>
            <a:r>
              <a:rPr sz="4000" b="1">
                <a:solidFill>
                  <a:srgbClr val="FFFFFF"/>
                </a:solidFill>
                <a:latin typeface="Times New Roman"/>
                <a:ea typeface="华文中宋"/>
              </a:rPr>
              <a:t>如何做科研？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00CA7D7-D74B-4E11-B2D8-1D691DD3E846}"/>
              </a:ext>
            </a:extLst>
          </p:cNvPr>
          <p:cNvSpPr/>
          <p:nvPr/>
        </p:nvSpPr>
        <p:spPr>
          <a:xfrm>
            <a:off x="533400" y="28765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B288636-44B5-48EC-80DF-8B94CB8F5EA0}"/>
              </a:ext>
            </a:extLst>
          </p:cNvPr>
          <p:cNvSpPr txBox="1"/>
          <p:nvPr/>
        </p:nvSpPr>
        <p:spPr>
          <a:xfrm>
            <a:off x="533400" y="3105150"/>
            <a:ext cx="3429000" cy="18097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500">
                <a:solidFill>
                  <a:srgbClr val="EAD7F0"/>
                </a:solidFill>
                <a:latin typeface="Times New Roman"/>
                <a:ea typeface="华文中宋"/>
              </a:rPr>
              <a:t>研究的起点不是方法，而是问题。</a:t>
            </a:r>
          </a:p>
          <a:p>
            <a:pPr>
              <a:lnSpc>
                <a:spcPct val="145000"/>
              </a:lnSpc>
            </a:pPr>
            <a:r>
              <a:rPr sz="1500">
                <a:solidFill>
                  <a:srgbClr val="EAD7F0"/>
                </a:solidFill>
                <a:latin typeface="Times New Roman"/>
                <a:ea typeface="华文中宋"/>
              </a:rPr>
              <a:t>这一篇解决六件事：在一堆论文里找到属于你自己的那几篇，读懂它们，想出新东西，讲给别人听，并且把日常习惯养成能力。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F5305D3-C2EC-40B4-9D2C-88D44B6EB117}"/>
              </a:ext>
            </a:extLst>
          </p:cNvPr>
          <p:cNvSpPr/>
          <p:nvPr/>
        </p:nvSpPr>
        <p:spPr>
          <a:xfrm>
            <a:off x="4953000" y="9906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810E706-6F81-4253-9A23-F190872001A1}"/>
              </a:ext>
            </a:extLst>
          </p:cNvPr>
          <p:cNvSpPr txBox="1"/>
          <p:nvPr/>
        </p:nvSpPr>
        <p:spPr>
          <a:xfrm>
            <a:off x="5391150" y="10096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第一篇　总览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研究定义、创新性与影响力、七项关键能力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39491FD-912C-4D1F-B051-23F374BF78F0}"/>
              </a:ext>
            </a:extLst>
          </p:cNvPr>
          <p:cNvSpPr/>
          <p:nvPr/>
        </p:nvSpPr>
        <p:spPr>
          <a:xfrm>
            <a:off x="4953000" y="17145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D84C176-CBF9-4012-BE59-EC80CA6772D7}"/>
              </a:ext>
            </a:extLst>
          </p:cNvPr>
          <p:cNvSpPr txBox="1"/>
          <p:nvPr/>
        </p:nvSpPr>
        <p:spPr>
          <a:xfrm>
            <a:off x="5391150" y="17335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第二篇　如何找论文？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六条检索路径与论文管理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33B18D1-57DA-4DBE-87C1-A32347F5F3BC}"/>
              </a:ext>
            </a:extLst>
          </p:cNvPr>
          <p:cNvSpPr/>
          <p:nvPr/>
        </p:nvSpPr>
        <p:spPr>
          <a:xfrm>
            <a:off x="4953000" y="24384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D49F950-D2D9-4A17-9B7C-E88858CDE2E2}"/>
              </a:ext>
            </a:extLst>
          </p:cNvPr>
          <p:cNvSpPr txBox="1"/>
          <p:nvPr/>
        </p:nvSpPr>
        <p:spPr>
          <a:xfrm>
            <a:off x="5391150" y="24574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第三篇　如何读论文？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七步法与读后思考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C192923-5855-4C13-9F78-3C10428FA000}"/>
              </a:ext>
            </a:extLst>
          </p:cNvPr>
          <p:cNvSpPr/>
          <p:nvPr/>
        </p:nvSpPr>
        <p:spPr>
          <a:xfrm>
            <a:off x="4953000" y="31623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4DD01A-29A0-44DF-9A66-BA66C280F894}"/>
              </a:ext>
            </a:extLst>
          </p:cNvPr>
          <p:cNvSpPr txBox="1"/>
          <p:nvPr/>
        </p:nvSpPr>
        <p:spPr>
          <a:xfrm>
            <a:off x="5391150" y="31813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第四篇　如何想 </a:t>
            </a:r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？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选一个好的问题，再寻找解法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AD27002-0EDD-4DD3-9331-32B740F7B66B}"/>
              </a:ext>
            </a:extLst>
          </p:cNvPr>
          <p:cNvSpPr/>
          <p:nvPr/>
        </p:nvSpPr>
        <p:spPr>
          <a:xfrm>
            <a:off x="4953000" y="38862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349F24F-ED57-4E2A-8720-18464B962EC3}"/>
              </a:ext>
            </a:extLst>
          </p:cNvPr>
          <p:cNvSpPr txBox="1"/>
          <p:nvPr/>
        </p:nvSpPr>
        <p:spPr>
          <a:xfrm>
            <a:off x="5391150" y="39052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第五篇　如何进行学术汇报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形式规范、内容选择与五组追问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4005B9E-BEE7-49A3-9C0B-60D0ED627DE8}"/>
              </a:ext>
            </a:extLst>
          </p:cNvPr>
          <p:cNvSpPr/>
          <p:nvPr/>
        </p:nvSpPr>
        <p:spPr>
          <a:xfrm>
            <a:off x="4953000" y="46101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226E017-F4A0-4E7D-AE46-734170E684D5}"/>
              </a:ext>
            </a:extLst>
          </p:cNvPr>
          <p:cNvSpPr txBox="1"/>
          <p:nvPr/>
        </p:nvSpPr>
        <p:spPr>
          <a:xfrm>
            <a:off x="5391150" y="46291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第六篇　如何高效 </a:t>
            </a:r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Meeting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组织形式、汇报模版与讨论原则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C20142AE-E814-4AD8-9DBA-7EC789B71E75}"/>
              </a:ext>
            </a:extLst>
          </p:cNvPr>
          <p:cNvSpPr/>
          <p:nvPr/>
        </p:nvSpPr>
        <p:spPr>
          <a:xfrm>
            <a:off x="4953000" y="53340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7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98A1645-6BEF-4A94-886F-D53F0CEF1B38}"/>
              </a:ext>
            </a:extLst>
          </p:cNvPr>
          <p:cNvSpPr txBox="1"/>
          <p:nvPr/>
        </p:nvSpPr>
        <p:spPr>
          <a:xfrm>
            <a:off x="5391150" y="5353050"/>
            <a:ext cx="6477000" cy="533400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第七篇　一些好的习惯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八个可以长期复用的科研日常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D7C252F-1A48-429F-A6E5-ACEE2A42126A}"/>
              </a:ext>
            </a:extLst>
          </p:cNvPr>
          <p:cNvSpPr txBox="1"/>
          <p:nvPr/>
        </p:nvSpPr>
        <p:spPr>
          <a:xfrm>
            <a:off x="4953000" y="6515100"/>
            <a:ext cx="47625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第一部分 如何做科研？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76828F9-DE9C-4C70-B09E-6FD95485FE70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03 / 86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E81EF52A-3509-4893-9957-6075BD5894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647789EB-D5C7-4EF0-AB2B-284259377518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什么是研究（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Research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）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5B454D2-46FA-4038-8172-406DFB2CC10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0944B765-5263-4E7B-AE71-DC1D67718E44}"/>
              </a:ext>
            </a:extLst>
          </p:cNvPr>
          <p:cNvCxnSpPr/>
          <p:nvPr/>
        </p:nvCxnSpPr>
        <p:spPr>
          <a:xfrm>
            <a:off x="304800" y="685800"/>
            <a:ext cx="115824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7" name="TextBox 7">
            <a:extLst>
              <a:ext uri="{FF2B5EF4-FFF2-40B4-BE49-F238E27FC236}">
                <a16:creationId xmlns:a16="http://schemas.microsoft.com/office/drawing/2014/main" id="{5AB1E425-FDC1-4907-AEC6-2EC462304A8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第一篇 总览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28A6963-CFDD-4A44-BB16-D5E5A20AB70E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04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292AC54-6B00-4460-A3C2-572BC62A2695}"/>
              </a:ext>
            </a:extLst>
          </p:cNvPr>
          <p:cNvSpPr/>
          <p:nvPr/>
        </p:nvSpPr>
        <p:spPr>
          <a:xfrm>
            <a:off x="304800" y="1343025"/>
            <a:ext cx="5638800" cy="419100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FE0B183-6D07-4975-940A-B29B8E7C8279}"/>
              </a:ext>
            </a:extLst>
          </p:cNvPr>
          <p:cNvSpPr/>
          <p:nvPr/>
        </p:nvSpPr>
        <p:spPr>
          <a:xfrm>
            <a:off x="457200" y="1571625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华文中宋"/>
              </a:rPr>
              <a:t>研究的广义定义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670C0C1-B5B1-4EEF-ADD9-9A2F9ED7F855}"/>
              </a:ext>
            </a:extLst>
          </p:cNvPr>
          <p:cNvSpPr txBox="1"/>
          <p:nvPr/>
        </p:nvSpPr>
        <p:spPr>
          <a:xfrm>
            <a:off x="457200" y="2105025"/>
            <a:ext cx="5334000" cy="7239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研究广义上可以理解为，通过可重复性的观察和可验证性的结果，能够对人类认识世界做出独创性且具有影响力的贡献。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B5D1874-7ECA-45C1-8F3A-E9FBB1B317EF}"/>
              </a:ext>
            </a:extLst>
          </p:cNvPr>
          <p:cNvSpPr txBox="1"/>
          <p:nvPr/>
        </p:nvSpPr>
        <p:spPr>
          <a:xfrm>
            <a:off x="457200" y="2943225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400">
                <a:solidFill>
                  <a:srgbClr val="5B6B7C"/>
                </a:solidFill>
                <a:latin typeface="Times New Roman"/>
                <a:ea typeface="华文中宋"/>
              </a:rPr>
              <a:t>拆开来是三个关键词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C103FE7-2988-4BE8-876D-F876EAC4A74A}"/>
              </a:ext>
            </a:extLst>
          </p:cNvPr>
          <p:cNvSpPr/>
          <p:nvPr/>
        </p:nvSpPr>
        <p:spPr>
          <a:xfrm>
            <a:off x="457200" y="3267075"/>
            <a:ext cx="5334000" cy="57150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　　可重复性的观察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D1A24D3-5802-49A2-8FA1-8F683BFE8934}"/>
              </a:ext>
            </a:extLst>
          </p:cNvPr>
          <p:cNvSpPr/>
          <p:nvPr/>
        </p:nvSpPr>
        <p:spPr>
          <a:xfrm>
            <a:off x="457200" y="3914775"/>
            <a:ext cx="5334000" cy="57150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　　可验证性的结果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CA92CEE-C2C2-4DF2-84B6-6EA2455200F5}"/>
              </a:ext>
            </a:extLst>
          </p:cNvPr>
          <p:cNvSpPr/>
          <p:nvPr/>
        </p:nvSpPr>
        <p:spPr>
          <a:xfrm>
            <a:off x="457200" y="4562475"/>
            <a:ext cx="5334000" cy="57150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　　独创性且具有影响力的贡献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B64090A-544F-4040-B448-4FC8A8DA529E}"/>
              </a:ext>
            </a:extLst>
          </p:cNvPr>
          <p:cNvSpPr/>
          <p:nvPr/>
        </p:nvSpPr>
        <p:spPr>
          <a:xfrm>
            <a:off x="6248400" y="1343025"/>
            <a:ext cx="5638800" cy="419100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50B73BB-D239-437D-BE83-0881E5BD5FDC}"/>
              </a:ext>
            </a:extLst>
          </p:cNvPr>
          <p:cNvSpPr/>
          <p:nvPr/>
        </p:nvSpPr>
        <p:spPr>
          <a:xfrm>
            <a:off x="6400800" y="1571625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华文中宋"/>
              </a:rPr>
              <a:t>在人工智能领域，包括但不限于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F3A18FF-732B-4AAC-82D0-EBE985381F5D}"/>
              </a:ext>
            </a:extLst>
          </p:cNvPr>
          <p:cNvSpPr/>
          <p:nvPr/>
        </p:nvSpPr>
        <p:spPr>
          <a:xfrm>
            <a:off x="6515100" y="2124075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6A52033-CD97-44BD-BF56-D5763B781900}"/>
              </a:ext>
            </a:extLst>
          </p:cNvPr>
          <p:cNvSpPr txBox="1"/>
          <p:nvPr/>
        </p:nvSpPr>
        <p:spPr>
          <a:xfrm>
            <a:off x="6953250" y="2124075"/>
            <a:ext cx="4781550" cy="5715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发现新知识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比如新理论、新模型架构、新算法。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F37B734A-ABF3-40D9-8C02-4AA5FD55B768}"/>
              </a:ext>
            </a:extLst>
          </p:cNvPr>
          <p:cNvSpPr/>
          <p:nvPr/>
        </p:nvSpPr>
        <p:spPr>
          <a:xfrm>
            <a:off x="6515100" y="2905125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6FF9612-90BF-4CC9-90A5-5D697C16C6F6}"/>
              </a:ext>
            </a:extLst>
          </p:cNvPr>
          <p:cNvSpPr txBox="1"/>
          <p:nvPr/>
        </p:nvSpPr>
        <p:spPr>
          <a:xfrm>
            <a:off x="6953250" y="2905125"/>
            <a:ext cx="4781550" cy="5715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解决新问题</a:t>
            </a:r>
          </a:p>
          <a:p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使用新技术、新设计、新方法、新模型等解决实际问题。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86DFB30-8DE4-4CE2-9CFC-D6D219C47386}"/>
              </a:ext>
            </a:extLst>
          </p:cNvPr>
          <p:cNvSpPr/>
          <p:nvPr/>
        </p:nvSpPr>
        <p:spPr>
          <a:xfrm>
            <a:off x="6515100" y="3857625"/>
            <a:ext cx="5105400" cy="1428750"/>
          </a:xfrm>
          <a:prstGeom prst="roundRect">
            <a:avLst>
              <a:gd name="adj" fmla="val 6666"/>
            </a:avLst>
          </a:prstGeom>
          <a:solidFill>
            <a:srgbClr val="FDF8F0"/>
          </a:solidFill>
          <a:ln w="12700">
            <a:solidFill>
              <a:srgbClr val="E86D3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7252116-C1BC-4863-97CF-D7AD9A205CBC}"/>
              </a:ext>
            </a:extLst>
          </p:cNvPr>
          <p:cNvSpPr txBox="1"/>
          <p:nvPr/>
        </p:nvSpPr>
        <p:spPr>
          <a:xfrm>
            <a:off x="6781800" y="4048125"/>
            <a:ext cx="4572000" cy="1124712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E86D35"/>
                </a:solidFill>
                <a:latin typeface="Times New Roman"/>
                <a:ea typeface="华文中宋"/>
              </a:rPr>
              <a:t>提醒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如果所做研究只是在已有工作基础上的简单推导或改进（大部分同学的工作），其创新性和影响力一般会大打折扣。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27D7991-0720-4BE9-8348-4D6B365063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FECD976B-7635-4416-BBE4-87E2013FED10}"/>
              </a:ext>
            </a:extLst>
          </p:cNvPr>
          <p:cNvSpPr txBox="1"/>
          <p:nvPr/>
        </p:nvSpPr>
        <p:spPr>
          <a:xfrm>
            <a:off x="304800" y="152400"/>
            <a:ext cx="8572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如何评判研究工作的创新性与影响力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9576D14-BAA3-4942-828F-70769E8D916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185E078B-7C6D-4102-A298-B24AF07A5B4A}"/>
              </a:ext>
            </a:extLst>
          </p:cNvPr>
          <p:cNvCxnSpPr/>
          <p:nvPr/>
        </p:nvCxnSpPr>
        <p:spPr>
          <a:xfrm>
            <a:off x="304800" y="685800"/>
            <a:ext cx="115824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7" name="TextBox 7">
            <a:extLst>
              <a:ext uri="{FF2B5EF4-FFF2-40B4-BE49-F238E27FC236}">
                <a16:creationId xmlns:a16="http://schemas.microsoft.com/office/drawing/2014/main" id="{B08A0BA2-65AE-44E5-9203-9523FBE759F4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第一篇 总览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DABA778-71D8-42F5-9629-DAD6B1F68A1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05 / 86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70B8FD-1FB6-4CAC-9DB7-944436F7DBB2}"/>
              </a:ext>
            </a:extLst>
          </p:cNvPr>
          <p:cNvSpPr txBox="1"/>
          <p:nvPr/>
        </p:nvSpPr>
        <p:spPr>
          <a:xfrm>
            <a:off x="304800" y="857250"/>
            <a:ext cx="8572500" cy="247650"/>
          </a:xfrm>
        </p:spPr>
        <p:txBody>
          <a:bodyPr wrap="square" rtlCol="0" lIns="0" tIns="0" rIns="0" bIns="0" anchor="t"/>
          <a:lstStyle/>
          <a:p>
            <a:r>
              <a:rPr sz="1500">
                <a:solidFill>
                  <a:srgbClr val="5B6B7C"/>
                </a:solidFill>
                <a:latin typeface="Times New Roman"/>
                <a:ea typeface="华文中宋"/>
              </a:rPr>
              <a:t>一篇非常重要、影响力极大的文章，一般具备下面三个特点中的一个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EC93D32-4ED0-4043-8CD1-F90E04D1ED5F}"/>
              </a:ext>
            </a:extLst>
          </p:cNvPr>
          <p:cNvSpPr/>
          <p:nvPr/>
        </p:nvSpPr>
        <p:spPr>
          <a:xfrm>
            <a:off x="304800" y="1219200"/>
            <a:ext cx="3657600" cy="375285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CC86640-72A5-4479-A351-F47A5C74FF7C}"/>
              </a:ext>
            </a:extLst>
          </p:cNvPr>
          <p:cNvSpPr/>
          <p:nvPr/>
        </p:nvSpPr>
        <p:spPr>
          <a:xfrm>
            <a:off x="457200" y="1447800"/>
            <a:ext cx="33528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BA19E8-BA87-40AC-ADDB-3DE1DBFD94E1}"/>
              </a:ext>
            </a:extLst>
          </p:cNvPr>
          <p:cNvSpPr txBox="1"/>
          <p:nvPr/>
        </p:nvSpPr>
        <p:spPr>
          <a:xfrm>
            <a:off x="457200" y="2019300"/>
            <a:ext cx="335280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抓住领域发展的关键问题，提出了新的方法，相较现有方法有很大优势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6FFBE33A-F224-478F-8813-FCD7C0FA6F33}"/>
              </a:ext>
            </a:extLst>
          </p:cNvPr>
          <p:cNvCxnSpPr/>
          <p:nvPr/>
        </p:nvCxnSpPr>
        <p:spPr>
          <a:xfrm>
            <a:off x="571500" y="3543300"/>
            <a:ext cx="31242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14" name="TextBox 14">
            <a:extLst>
              <a:ext uri="{FF2B5EF4-FFF2-40B4-BE49-F238E27FC236}">
                <a16:creationId xmlns:a16="http://schemas.microsoft.com/office/drawing/2014/main" id="{94B1CCE0-7493-496D-BBF5-C57EDF30667C}"/>
              </a:ext>
            </a:extLst>
          </p:cNvPr>
          <p:cNvSpPr txBox="1"/>
          <p:nvPr/>
        </p:nvSpPr>
        <p:spPr>
          <a:xfrm>
            <a:off x="457200" y="3695700"/>
            <a:ext cx="33528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代表案例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45DD3C8-4210-4A7B-A401-C95FA0215EFB}"/>
              </a:ext>
            </a:extLst>
          </p:cNvPr>
          <p:cNvSpPr txBox="1"/>
          <p:nvPr/>
        </p:nvSpPr>
        <p:spPr>
          <a:xfrm>
            <a:off x="457200" y="3962400"/>
            <a:ext cx="335280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ResNet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：缓解深层神经网络梯度消失的问题</a:t>
            </a:r>
          </a:p>
          <a:p>
            <a:pPr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Transformer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：缓解 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RNN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长序列依赖和并行化难题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0644DF4-1736-4854-A698-30257F1A02F0}"/>
              </a:ext>
            </a:extLst>
          </p:cNvPr>
          <p:cNvSpPr/>
          <p:nvPr/>
        </p:nvSpPr>
        <p:spPr>
          <a:xfrm>
            <a:off x="4267200" y="1219200"/>
            <a:ext cx="3657600" cy="375285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8A694188-4D96-480F-A7DD-803E7A71D7DC}"/>
              </a:ext>
            </a:extLst>
          </p:cNvPr>
          <p:cNvSpPr/>
          <p:nvPr/>
        </p:nvSpPr>
        <p:spPr>
          <a:xfrm>
            <a:off x="4419600" y="1447800"/>
            <a:ext cx="33528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5F6A9E3-031F-4691-952C-8A193FF93A93}"/>
              </a:ext>
            </a:extLst>
          </p:cNvPr>
          <p:cNvSpPr txBox="1"/>
          <p:nvPr/>
        </p:nvSpPr>
        <p:spPr>
          <a:xfrm>
            <a:off x="4419600" y="2019300"/>
            <a:ext cx="335280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为以后的工作奠定了基础，或者开辟了一个新的方向</a:t>
            </a:r>
          </a:p>
        </p:txBody>
      </p: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A41F00E4-E836-43CF-AF74-52CC265E732C}"/>
              </a:ext>
            </a:extLst>
          </p:cNvPr>
          <p:cNvCxnSpPr/>
          <p:nvPr/>
        </p:nvCxnSpPr>
        <p:spPr>
          <a:xfrm>
            <a:off x="4533900" y="3543300"/>
            <a:ext cx="31242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20" name="TextBox 20">
            <a:extLst>
              <a:ext uri="{FF2B5EF4-FFF2-40B4-BE49-F238E27FC236}">
                <a16:creationId xmlns:a16="http://schemas.microsoft.com/office/drawing/2014/main" id="{5F150333-E916-4B69-8089-78D244B132D6}"/>
              </a:ext>
            </a:extLst>
          </p:cNvPr>
          <p:cNvSpPr txBox="1"/>
          <p:nvPr/>
        </p:nvSpPr>
        <p:spPr>
          <a:xfrm>
            <a:off x="4419600" y="3695700"/>
            <a:ext cx="33528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代表案例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90B2F82-E4B3-43AC-8D8B-8F36A8012A98}"/>
              </a:ext>
            </a:extLst>
          </p:cNvPr>
          <p:cNvSpPr txBox="1"/>
          <p:nvPr/>
        </p:nvSpPr>
        <p:spPr>
          <a:xfrm>
            <a:off x="4419600" y="3962400"/>
            <a:ext cx="335280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GAN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：提供了一种新的图像生成范式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130D8CE2-66A6-4077-A1A2-6886806458CB}"/>
              </a:ext>
            </a:extLst>
          </p:cNvPr>
          <p:cNvSpPr/>
          <p:nvPr/>
        </p:nvSpPr>
        <p:spPr>
          <a:xfrm>
            <a:off x="8229600" y="1219200"/>
            <a:ext cx="3657600" cy="375285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6456F6E-9E31-434B-B462-BF7CEEEF6927}"/>
              </a:ext>
            </a:extLst>
          </p:cNvPr>
          <p:cNvSpPr/>
          <p:nvPr/>
        </p:nvSpPr>
        <p:spPr>
          <a:xfrm>
            <a:off x="8382000" y="1447800"/>
            <a:ext cx="33528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0313A0B-40DC-4785-8A31-1C7B31748089}"/>
              </a:ext>
            </a:extLst>
          </p:cNvPr>
          <p:cNvSpPr txBox="1"/>
          <p:nvPr/>
        </p:nvSpPr>
        <p:spPr>
          <a:xfrm>
            <a:off x="8382000" y="2019300"/>
            <a:ext cx="335280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在某些公认的任务上，性能具有显著性优势</a:t>
            </a:r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478439EA-F1A5-4965-A019-46C55BF139C9}"/>
              </a:ext>
            </a:extLst>
          </p:cNvPr>
          <p:cNvCxnSpPr/>
          <p:nvPr/>
        </p:nvCxnSpPr>
        <p:spPr>
          <a:xfrm>
            <a:off x="8496300" y="3543300"/>
            <a:ext cx="31242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26" name="TextBox 26">
            <a:extLst>
              <a:ext uri="{FF2B5EF4-FFF2-40B4-BE49-F238E27FC236}">
                <a16:creationId xmlns:a16="http://schemas.microsoft.com/office/drawing/2014/main" id="{CD0A28D1-D9CC-4A2E-A91A-59AE3FF116BD}"/>
              </a:ext>
            </a:extLst>
          </p:cNvPr>
          <p:cNvSpPr txBox="1"/>
          <p:nvPr/>
        </p:nvSpPr>
        <p:spPr>
          <a:xfrm>
            <a:off x="8382000" y="3695700"/>
            <a:ext cx="335280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代表案例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0DF7C64-2079-497B-B2BC-7064E9A2C6C4}"/>
              </a:ext>
            </a:extLst>
          </p:cNvPr>
          <p:cNvSpPr txBox="1"/>
          <p:nvPr/>
        </p:nvSpPr>
        <p:spPr>
          <a:xfrm>
            <a:off x="8382000" y="3962400"/>
            <a:ext cx="335280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AlexNet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：获得 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ImageNet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竞赛冠军</a:t>
            </a:r>
          </a:p>
          <a:p>
            <a:pPr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AlphaGo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：战胜人类职业棋手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FA6F85E-84DC-42CA-B685-D011FFF736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96F5B709-B31F-4873-B9E7-4C660DAA014D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研究生的主要任务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A0EBCAE-E565-4C72-881C-7D521659B340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6B2289D-4DC5-4505-99C1-F83662E76774}"/>
              </a:ext>
            </a:extLst>
          </p:cNvPr>
          <p:cNvCxnSpPr/>
          <p:nvPr/>
        </p:nvCxnSpPr>
        <p:spPr>
          <a:xfrm>
            <a:off x="304800" y="685800"/>
            <a:ext cx="11582400" cy="9525"/>
          </a:xfrm>
          <a:prstGeom prst="line">
            <a:avLst/>
          </a:prstGeom>
          <a:ln w="12700" cap="flat">
            <a:solidFill>
              <a:srgbClr val="DCE4EE"/>
            </a:solidFill>
          </a:ln>
        </p:spPr>
      </p:cxnSp>
      <p:sp>
        <p:nvSpPr>
          <p:cNvPr id="7" name="TextBox 7">
            <a:extLst>
              <a:ext uri="{FF2B5EF4-FFF2-40B4-BE49-F238E27FC236}">
                <a16:creationId xmlns:a16="http://schemas.microsoft.com/office/drawing/2014/main" id="{158A093F-85BE-4643-AD3F-449A0812CD81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第一篇 总览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0503A4-6970-4FD0-8EF6-EFAF425A6BEA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06 / 86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0AB0FF1-9983-48A0-A214-E20A6598B163}"/>
              </a:ext>
            </a:extLst>
          </p:cNvPr>
          <p:cNvSpPr txBox="1"/>
          <p:nvPr/>
        </p:nvSpPr>
        <p:spPr>
          <a:xfrm>
            <a:off x="304800" y="838200"/>
            <a:ext cx="8572500" cy="247650"/>
          </a:xfrm>
        </p:spPr>
        <p:txBody>
          <a:bodyPr wrap="square" rtlCol="0" lIns="0" tIns="0" rIns="0" bIns="0" anchor="t"/>
          <a:lstStyle/>
          <a:p>
            <a:r>
              <a:rPr sz="1500">
                <a:solidFill>
                  <a:srgbClr val="5B6B7C"/>
                </a:solidFill>
                <a:latin typeface="Times New Roman"/>
                <a:ea typeface="华文中宋"/>
              </a:rPr>
              <a:t>研究生的主要任务当然是研究，其中对研究部分的主要任务包括八件事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E087D8D-172E-4213-8991-475E65EFB267}"/>
              </a:ext>
            </a:extLst>
          </p:cNvPr>
          <p:cNvSpPr/>
          <p:nvPr/>
        </p:nvSpPr>
        <p:spPr>
          <a:xfrm>
            <a:off x="304800" y="1181100"/>
            <a:ext cx="5638800" cy="85725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0F1CE97-C16E-40C9-BC28-A1C824B5EE1E}"/>
              </a:ext>
            </a:extLst>
          </p:cNvPr>
          <p:cNvSpPr/>
          <p:nvPr/>
        </p:nvSpPr>
        <p:spPr>
          <a:xfrm>
            <a:off x="495300" y="13525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8E9607E-937D-4C9C-A11F-B4AD4261A699}"/>
              </a:ext>
            </a:extLst>
          </p:cNvPr>
          <p:cNvSpPr txBox="1"/>
          <p:nvPr/>
        </p:nvSpPr>
        <p:spPr>
          <a:xfrm>
            <a:off x="895350" y="137160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探索与构思新的想法，确保研究创新性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CA6314A-2DF9-4B05-907C-CB4E81EB03DB}"/>
              </a:ext>
            </a:extLst>
          </p:cNvPr>
          <p:cNvSpPr txBox="1"/>
          <p:nvPr/>
        </p:nvSpPr>
        <p:spPr>
          <a:xfrm>
            <a:off x="895350" y="16383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充分了解相关领域的最新发展，做大量的文献检索与阅读工作。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7898B70-6752-43D8-9FA3-D663846D6826}"/>
              </a:ext>
            </a:extLst>
          </p:cNvPr>
          <p:cNvSpPr/>
          <p:nvPr/>
        </p:nvSpPr>
        <p:spPr>
          <a:xfrm>
            <a:off x="6248400" y="1181100"/>
            <a:ext cx="5638800" cy="85725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4254D1B-C947-45BA-AEB5-2DD4B17EA915}"/>
              </a:ext>
            </a:extLst>
          </p:cNvPr>
          <p:cNvSpPr/>
          <p:nvPr/>
        </p:nvSpPr>
        <p:spPr>
          <a:xfrm>
            <a:off x="6438900" y="13525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17D301F-90BC-4B96-A314-7B6110BD2B2D}"/>
              </a:ext>
            </a:extLst>
          </p:cNvPr>
          <p:cNvSpPr txBox="1"/>
          <p:nvPr/>
        </p:nvSpPr>
        <p:spPr>
          <a:xfrm>
            <a:off x="6838950" y="137160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参加会议、分享论文、学习新成果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8696341-04B5-4E71-BAB1-E90D046FD0D0}"/>
              </a:ext>
            </a:extLst>
          </p:cNvPr>
          <p:cNvSpPr txBox="1"/>
          <p:nvPr/>
        </p:nvSpPr>
        <p:spPr>
          <a:xfrm>
            <a:off x="6838950" y="16383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多和活跃的同行研究者学习交流，交换想法，寻求合作。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CACE22B-E286-4AFB-A4CC-951C052D1820}"/>
              </a:ext>
            </a:extLst>
          </p:cNvPr>
          <p:cNvSpPr/>
          <p:nvPr/>
        </p:nvSpPr>
        <p:spPr>
          <a:xfrm>
            <a:off x="304800" y="245745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E94BC37-3615-4A4C-92EB-935A0CFD582B}"/>
              </a:ext>
            </a:extLst>
          </p:cNvPr>
          <p:cNvSpPr/>
          <p:nvPr/>
        </p:nvSpPr>
        <p:spPr>
          <a:xfrm>
            <a:off x="495300" y="26289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C0F6ADF-56A8-455D-B8DC-F1DE287FE21E}"/>
              </a:ext>
            </a:extLst>
          </p:cNvPr>
          <p:cNvSpPr txBox="1"/>
          <p:nvPr/>
        </p:nvSpPr>
        <p:spPr>
          <a:xfrm>
            <a:off x="895350" y="264795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将新想法辅助实验，检验其可行性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B48EBC-7810-4854-B663-FF3C1C80BA68}"/>
              </a:ext>
            </a:extLst>
          </p:cNvPr>
          <p:cNvSpPr txBox="1"/>
          <p:nvPr/>
        </p:nvSpPr>
        <p:spPr>
          <a:xfrm>
            <a:off x="895350" y="29146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要证明想法可行需要做深入严谨的实验分析，要求学生有快速的代码实现能力。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A692E856-9917-4FB5-A7C8-60B155DFCF45}"/>
              </a:ext>
            </a:extLst>
          </p:cNvPr>
          <p:cNvSpPr/>
          <p:nvPr/>
        </p:nvSpPr>
        <p:spPr>
          <a:xfrm>
            <a:off x="6248400" y="245745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B02FED51-8493-48C2-B52F-D19B48231D98}"/>
              </a:ext>
            </a:extLst>
          </p:cNvPr>
          <p:cNvSpPr/>
          <p:nvPr/>
        </p:nvSpPr>
        <p:spPr>
          <a:xfrm>
            <a:off x="6438900" y="26289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B2A8866-BC5A-4E0E-8DB3-B0F3600D2CD0}"/>
              </a:ext>
            </a:extLst>
          </p:cNvPr>
          <p:cNvSpPr txBox="1"/>
          <p:nvPr/>
        </p:nvSpPr>
        <p:spPr>
          <a:xfrm>
            <a:off x="6838950" y="264795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申请奖学金、项目经费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F1D950D-DF2D-4FFA-AC05-ED213E27445C}"/>
              </a:ext>
            </a:extLst>
          </p:cNvPr>
          <p:cNvSpPr txBox="1"/>
          <p:nvPr/>
        </p:nvSpPr>
        <p:spPr>
          <a:xfrm>
            <a:off x="6838950" y="29146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现在有很多面向研究生甚至本科生的研究经费，对认识更多人、提高影响力和改善生活很有帮助。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98B78963-5207-494F-B5E7-2915BCF6523B}"/>
              </a:ext>
            </a:extLst>
          </p:cNvPr>
          <p:cNvSpPr/>
          <p:nvPr/>
        </p:nvSpPr>
        <p:spPr>
          <a:xfrm>
            <a:off x="304800" y="373380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804BCFE-686B-44B5-847B-509AEAE712E9}"/>
              </a:ext>
            </a:extLst>
          </p:cNvPr>
          <p:cNvSpPr/>
          <p:nvPr/>
        </p:nvSpPr>
        <p:spPr>
          <a:xfrm>
            <a:off x="495300" y="39052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FE85DCA-D6B4-4E5A-9068-846C028ADAEC}"/>
              </a:ext>
            </a:extLst>
          </p:cNvPr>
          <p:cNvSpPr txBox="1"/>
          <p:nvPr/>
        </p:nvSpPr>
        <p:spPr>
          <a:xfrm>
            <a:off x="895350" y="392430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将研究结果撰写成文并投稿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F5D6C666-F03F-4255-B715-A186F76A5F83}"/>
              </a:ext>
            </a:extLst>
          </p:cNvPr>
          <p:cNvSpPr txBox="1"/>
          <p:nvPr/>
        </p:nvSpPr>
        <p:spPr>
          <a:xfrm>
            <a:off x="895350" y="41910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AI 领域多投学术会议，经过同行评审与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阶段才决定录用，需不断提高写作与表达能力。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60C53B1D-F3EB-4ACB-9534-0ECB99B9AEB9}"/>
              </a:ext>
            </a:extLst>
          </p:cNvPr>
          <p:cNvSpPr/>
          <p:nvPr/>
        </p:nvSpPr>
        <p:spPr>
          <a:xfrm>
            <a:off x="6248400" y="373380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6C44E89-9732-40A7-91E5-D08F26879BAA}"/>
              </a:ext>
            </a:extLst>
          </p:cNvPr>
          <p:cNvSpPr/>
          <p:nvPr/>
        </p:nvSpPr>
        <p:spPr>
          <a:xfrm>
            <a:off x="6438900" y="39052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07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6EF30CF-5138-49AA-9357-BC08FD8B2B9A}"/>
              </a:ext>
            </a:extLst>
          </p:cNvPr>
          <p:cNvSpPr txBox="1"/>
          <p:nvPr/>
        </p:nvSpPr>
        <p:spPr>
          <a:xfrm>
            <a:off x="6838950" y="392430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协助指导低年级学生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FDF2A63-0F5A-49BB-88A3-35BB3C84B3FF}"/>
              </a:ext>
            </a:extLst>
          </p:cNvPr>
          <p:cNvSpPr txBox="1"/>
          <p:nvPr/>
        </p:nvSpPr>
        <p:spPr>
          <a:xfrm>
            <a:off x="6838950" y="41910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高年级博士通常会与导师一起协作，帮助低年级学生的研究工作，这是额外的必修课。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A81D9F16-4C1D-44B3-BC23-F641FA51F737}"/>
              </a:ext>
            </a:extLst>
          </p:cNvPr>
          <p:cNvSpPr/>
          <p:nvPr/>
        </p:nvSpPr>
        <p:spPr>
          <a:xfrm>
            <a:off x="304800" y="501015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A78DC6AD-75AB-4D86-B3E6-1301E1765872}"/>
              </a:ext>
            </a:extLst>
          </p:cNvPr>
          <p:cNvSpPr/>
          <p:nvPr/>
        </p:nvSpPr>
        <p:spPr>
          <a:xfrm>
            <a:off x="495300" y="51816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9017316-6874-4079-BC30-05E381C98B4D}"/>
              </a:ext>
            </a:extLst>
          </p:cNvPr>
          <p:cNvSpPr txBox="1"/>
          <p:nvPr/>
        </p:nvSpPr>
        <p:spPr>
          <a:xfrm>
            <a:off x="895350" y="520065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评审来自其他研究者的论文投稿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88005FF-45E8-42B6-912A-3CDFD1D123B1}"/>
              </a:ext>
            </a:extLst>
          </p:cNvPr>
          <p:cNvSpPr txBox="1"/>
          <p:nvPr/>
        </p:nvSpPr>
        <p:spPr>
          <a:xfrm>
            <a:off x="895350" y="54673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会议要求作者也必须是审稿人，身份发生转变，需要评判他人工作的创新性与影响力。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04CE82C7-3EFA-49B1-B3C3-046584360902}"/>
              </a:ext>
            </a:extLst>
          </p:cNvPr>
          <p:cNvSpPr/>
          <p:nvPr/>
        </p:nvSpPr>
        <p:spPr>
          <a:xfrm>
            <a:off x="6248400" y="501015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905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E325337-1F08-4E2C-AADB-ABF3A01E9D23}"/>
              </a:ext>
            </a:extLst>
          </p:cNvPr>
          <p:cNvSpPr/>
          <p:nvPr/>
        </p:nvSpPr>
        <p:spPr>
          <a:xfrm>
            <a:off x="6438900" y="51816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08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CF6062D-58D8-4AC6-AF43-1C05874025DC}"/>
              </a:ext>
            </a:extLst>
          </p:cNvPr>
          <p:cNvSpPr txBox="1"/>
          <p:nvPr/>
        </p:nvSpPr>
        <p:spPr>
          <a:xfrm>
            <a:off x="6838950" y="5200650"/>
            <a:ext cx="4953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参与项目研发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14D734CF-ACED-466B-A64D-DB24D46B706B}"/>
              </a:ext>
            </a:extLst>
          </p:cNvPr>
          <p:cNvSpPr txBox="1"/>
          <p:nvPr/>
        </p:nvSpPr>
        <p:spPr>
          <a:xfrm>
            <a:off x="6838950" y="54673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参与课题组的科研项目，包括纵向项目与横向项目，把研究成果应用于真实的场景需求。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30265E60-1B29-4FF2-BEAC-C8976E3B30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20FCF6BA-5C7F-4BA6-AADD-F10C06D108E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B3A634A-5811-4169-83CE-7804195F585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3D9226F-F4D5-46FA-A0AC-9CA6FBA32B80}"/>
              </a:ext>
            </a:extLst>
          </p:cNvPr>
          <p:cNvSpPr/>
          <p:nvPr/>
        </p:nvSpPr>
        <p:spPr>
          <a:xfrm>
            <a:off x="304800" y="91440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245B901-92DE-4066-AB99-C4AE09FA890E}"/>
              </a:ext>
            </a:extLst>
          </p:cNvPr>
          <p:cNvSpPr/>
          <p:nvPr/>
        </p:nvSpPr>
        <p:spPr>
          <a:xfrm>
            <a:off x="495300" y="10858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11D401C-9AFB-467A-8269-CE8B49B1338D}"/>
              </a:ext>
            </a:extLst>
          </p:cNvPr>
          <p:cNvSpPr/>
          <p:nvPr/>
        </p:nvSpPr>
        <p:spPr>
          <a:xfrm>
            <a:off x="304800" y="222885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EAC19C7-05CF-469E-AB79-5FF851AB80C4}"/>
              </a:ext>
            </a:extLst>
          </p:cNvPr>
          <p:cNvSpPr/>
          <p:nvPr/>
        </p:nvSpPr>
        <p:spPr>
          <a:xfrm>
            <a:off x="495300" y="24003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1CA3B53-03CD-455C-92C4-07573F6626B4}"/>
              </a:ext>
            </a:extLst>
          </p:cNvPr>
          <p:cNvSpPr/>
          <p:nvPr/>
        </p:nvSpPr>
        <p:spPr>
          <a:xfrm>
            <a:off x="304800" y="354330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040AEA1-A127-4351-8AEC-B052C608FA73}"/>
              </a:ext>
            </a:extLst>
          </p:cNvPr>
          <p:cNvSpPr/>
          <p:nvPr/>
        </p:nvSpPr>
        <p:spPr>
          <a:xfrm>
            <a:off x="495300" y="37147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412D90C-1900-43FD-92AF-54591E063661}"/>
              </a:ext>
            </a:extLst>
          </p:cNvPr>
          <p:cNvSpPr/>
          <p:nvPr/>
        </p:nvSpPr>
        <p:spPr>
          <a:xfrm>
            <a:off x="304800" y="4857750"/>
            <a:ext cx="5638800" cy="85725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C0C3212-1917-40B5-815B-1E12FD9BD62A}"/>
              </a:ext>
            </a:extLst>
          </p:cNvPr>
          <p:cNvSpPr/>
          <p:nvPr/>
        </p:nvSpPr>
        <p:spPr>
          <a:xfrm>
            <a:off x="495300" y="50292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11C81A1-1114-466F-87E9-2B5086AEC3FB}"/>
              </a:ext>
            </a:extLst>
          </p:cNvPr>
          <p:cNvSpPr/>
          <p:nvPr/>
        </p:nvSpPr>
        <p:spPr>
          <a:xfrm>
            <a:off x="6248400" y="91440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C5BE319-AD2C-465A-A74A-A4725F06308A}"/>
              </a:ext>
            </a:extLst>
          </p:cNvPr>
          <p:cNvSpPr/>
          <p:nvPr/>
        </p:nvSpPr>
        <p:spPr>
          <a:xfrm>
            <a:off x="6438900" y="10858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4A36A9D-2BBF-4413-A496-88BEA97A0E78}"/>
              </a:ext>
            </a:extLst>
          </p:cNvPr>
          <p:cNvSpPr/>
          <p:nvPr/>
        </p:nvSpPr>
        <p:spPr>
          <a:xfrm>
            <a:off x="6248400" y="2228850"/>
            <a:ext cx="5638800" cy="1181100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97E4243-6C1E-4C7E-AD5E-5ED8C48F800F}"/>
              </a:ext>
            </a:extLst>
          </p:cNvPr>
          <p:cNvSpPr/>
          <p:nvPr/>
        </p:nvSpPr>
        <p:spPr>
          <a:xfrm>
            <a:off x="6438900" y="24003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F8784C0-88A2-4034-ABBD-4A0B7A3C0D36}"/>
              </a:ext>
            </a:extLst>
          </p:cNvPr>
          <p:cNvSpPr/>
          <p:nvPr/>
        </p:nvSpPr>
        <p:spPr>
          <a:xfrm>
            <a:off x="6248400" y="3543300"/>
            <a:ext cx="5638800" cy="2495550"/>
          </a:xfrm>
          <a:prstGeom prst="roundRect">
            <a:avLst>
              <a:gd name="adj" fmla="val 38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874119C-F732-496C-9EB0-F83458C6014D}"/>
              </a:ext>
            </a:extLst>
          </p:cNvPr>
          <p:cNvSpPr/>
          <p:nvPr/>
        </p:nvSpPr>
        <p:spPr>
          <a:xfrm>
            <a:off x="6438900" y="3714750"/>
            <a:ext cx="285750" cy="285750"/>
          </a:xfrm>
          <a:prstGeom prst="ellipse">
            <a:avLst/>
          </a:prstGeom>
          <a:solidFill>
            <a:srgbClr val="FFC845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07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5E0A515-9FC0-4BB6-BF7D-5EC522154782}"/>
              </a:ext>
            </a:extLst>
          </p:cNvPr>
          <p:cNvSpPr/>
          <p:nvPr/>
        </p:nvSpPr>
        <p:spPr>
          <a:xfrm>
            <a:off x="6515100" y="4133850"/>
            <a:ext cx="5105400" cy="857250"/>
          </a:xfrm>
          <a:prstGeom prst="roundRect">
            <a:avLst>
              <a:gd name="adj" fmla="val 11111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547901E-8662-4E64-80B8-6C54C6C91A30}"/>
              </a:ext>
            </a:extLst>
          </p:cNvPr>
          <p:cNvSpPr/>
          <p:nvPr/>
        </p:nvSpPr>
        <p:spPr>
          <a:xfrm>
            <a:off x="6515100" y="5086350"/>
            <a:ext cx="5105400" cy="857250"/>
          </a:xfrm>
          <a:prstGeom prst="roundRect">
            <a:avLst>
              <a:gd name="adj" fmla="val 11111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E4C2522-2527-4A02-84E1-CE8E97A39533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做好的研究需要的七项关键能力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92075A5-4ED1-48AC-97D2-B599A3AE2FBA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第一篇 总览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801C84-E13F-425E-95BB-18FF407420CD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07 / 86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09A8408-FCA4-446C-A43F-4CCC8CA9FA1E}"/>
              </a:ext>
            </a:extLst>
          </p:cNvPr>
          <p:cNvSpPr txBox="1"/>
          <p:nvPr/>
        </p:nvSpPr>
        <p:spPr>
          <a:xfrm>
            <a:off x="895350" y="110490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激情、专注、热情和兴趣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604B83A-CE5F-46B4-B039-42A8ABF76488}"/>
              </a:ext>
            </a:extLst>
          </p:cNvPr>
          <p:cNvSpPr txBox="1"/>
          <p:nvPr/>
        </p:nvSpPr>
        <p:spPr>
          <a:xfrm>
            <a:off x="895350" y="13716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“我别的什么都不关心，只想着这件事”——只有对研究抱有兴趣和热情，才能日复一日地推动研究。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9050E18-1CE9-4C3B-8226-038D09651CF8}"/>
              </a:ext>
            </a:extLst>
          </p:cNvPr>
          <p:cNvSpPr txBox="1"/>
          <p:nvPr/>
        </p:nvSpPr>
        <p:spPr>
          <a:xfrm>
            <a:off x="895350" y="241935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好奇心和创造性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7C04B60-1341-4DF7-A5E5-C59C6F366C58}"/>
              </a:ext>
            </a:extLst>
          </p:cNvPr>
          <p:cNvSpPr txBox="1"/>
          <p:nvPr/>
        </p:nvSpPr>
        <p:spPr>
          <a:xfrm>
            <a:off x="895350" y="26860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不管工作还是生活都要好奇，探究问题本质与实验观察成因，把精力投入前人未曾涉足的世界。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0494F10-6FE7-452E-9929-E46D6BDD5A63}"/>
              </a:ext>
            </a:extLst>
          </p:cNvPr>
          <p:cNvSpPr txBox="1"/>
          <p:nvPr/>
        </p:nvSpPr>
        <p:spPr>
          <a:xfrm>
            <a:off x="895350" y="373380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批判性与独立性思考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740BC8A-97CF-40D6-8A18-77B436DBB3C2}"/>
              </a:ext>
            </a:extLst>
          </p:cNvPr>
          <p:cNvSpPr txBox="1"/>
          <p:nvPr/>
        </p:nvSpPr>
        <p:spPr>
          <a:xfrm>
            <a:off x="895350" y="40005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不盲从过去的知识：这篇论文有什么不合理的地方？如何做得更好？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8FED90A-5C53-41C2-B44B-89F0AA022530}"/>
              </a:ext>
            </a:extLst>
          </p:cNvPr>
          <p:cNvSpPr txBox="1"/>
          <p:nvPr/>
        </p:nvSpPr>
        <p:spPr>
          <a:xfrm>
            <a:off x="895350" y="504825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冒险精神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27E1B27-6B4C-41FA-8959-BDE3092C5B03}"/>
              </a:ext>
            </a:extLst>
          </p:cNvPr>
          <p:cNvSpPr txBox="1"/>
          <p:nvPr/>
        </p:nvSpPr>
        <p:spPr>
          <a:xfrm>
            <a:off x="895350" y="53149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不可能所有想法都能成功，不要轻言放弃，要敢于尝试、敢于冒险。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CF921D4-C7B3-4B71-8A32-EA0A0EE8E673}"/>
              </a:ext>
            </a:extLst>
          </p:cNvPr>
          <p:cNvSpPr txBox="1"/>
          <p:nvPr/>
        </p:nvSpPr>
        <p:spPr>
          <a:xfrm>
            <a:off x="6838950" y="110490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学习能力与分析、解决问题的能力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FBC19AC-3F2A-4925-B2ED-E05BCBFBAF80}"/>
              </a:ext>
            </a:extLst>
          </p:cNvPr>
          <p:cNvSpPr txBox="1"/>
          <p:nvPr/>
        </p:nvSpPr>
        <p:spPr>
          <a:xfrm>
            <a:off x="6838950" y="137160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保持每天阅读论文，时刻学习新知识和新技术。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E8B0278D-A548-4981-B5A4-D2636A1124B2}"/>
              </a:ext>
            </a:extLst>
          </p:cNvPr>
          <p:cNvSpPr txBox="1"/>
          <p:nvPr/>
        </p:nvSpPr>
        <p:spPr>
          <a:xfrm>
            <a:off x="6838950" y="241935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勤奋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61EF74F-29A2-4B73-AD9F-C2E4041578E8}"/>
              </a:ext>
            </a:extLst>
          </p:cNvPr>
          <p:cNvSpPr txBox="1"/>
          <p:nvPr/>
        </p:nvSpPr>
        <p:spPr>
          <a:xfrm>
            <a:off x="6838950" y="2686050"/>
            <a:ext cx="4953000" cy="6858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想要做出好的科研工作，必须有一定的时间投入。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340C8BA4-000D-4F78-9976-75D1F664638C}"/>
              </a:ext>
            </a:extLst>
          </p:cNvPr>
          <p:cNvSpPr txBox="1"/>
          <p:nvPr/>
        </p:nvSpPr>
        <p:spPr>
          <a:xfrm>
            <a:off x="6838950" y="3733800"/>
            <a:ext cx="4953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表达与沟通能力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870EB6D-CF28-4707-B128-E35F36A59102}"/>
              </a:ext>
            </a:extLst>
          </p:cNvPr>
          <p:cNvSpPr txBox="1"/>
          <p:nvPr/>
        </p:nvSpPr>
        <p:spPr>
          <a:xfrm>
            <a:off x="6705600" y="4229100"/>
            <a:ext cx="4724400" cy="6667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讲故事的能力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论文写作、学术报告、项目申请、成果答辩。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4DD9BF2-32F1-4C86-B991-41131346E135}"/>
              </a:ext>
            </a:extLst>
          </p:cNvPr>
          <p:cNvSpPr txBox="1"/>
          <p:nvPr/>
        </p:nvSpPr>
        <p:spPr>
          <a:xfrm>
            <a:off x="6705600" y="5181600"/>
            <a:ext cx="4724400" cy="6667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沟通能力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与导师沟通、与同学沟通、与同行沟通。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66D0A8F-BDB2-46E5-B774-163DCA080D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E1A55617-001C-469A-8FDF-74C43220256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B189542-D939-4513-8599-31FDC659AEF7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6F5A9E3-23EA-4EAB-8706-F124F17B18E3}"/>
              </a:ext>
            </a:extLst>
          </p:cNvPr>
          <p:cNvSpPr/>
          <p:nvPr/>
        </p:nvSpPr>
        <p:spPr>
          <a:xfrm>
            <a:off x="304800" y="1181100"/>
            <a:ext cx="1809750" cy="495300"/>
          </a:xfrm>
          <a:prstGeom prst="roundRect">
            <a:avLst>
              <a:gd name="adj" fmla="val 1923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Topic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8292B8D-41A0-4779-ABB2-7864FA8FD0D4}"/>
              </a:ext>
            </a:extLst>
          </p:cNvPr>
          <p:cNvSpPr/>
          <p:nvPr/>
        </p:nvSpPr>
        <p:spPr>
          <a:xfrm>
            <a:off x="2247900" y="1181100"/>
            <a:ext cx="1809750" cy="495300"/>
          </a:xfrm>
          <a:prstGeom prst="roundRect">
            <a:avLst>
              <a:gd name="adj" fmla="val 1923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Problem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F2286E8-545E-4082-ACA2-7EE1F7198B0B}"/>
              </a:ext>
            </a:extLst>
          </p:cNvPr>
          <p:cNvSpPr/>
          <p:nvPr/>
        </p:nvSpPr>
        <p:spPr>
          <a:xfrm>
            <a:off x="4191000" y="1181100"/>
            <a:ext cx="1809750" cy="495300"/>
          </a:xfrm>
          <a:prstGeom prst="roundRect">
            <a:avLst>
              <a:gd name="adj" fmla="val 1923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Idea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6D86EB2-B9E5-4514-B4D2-73D235B175DA}"/>
              </a:ext>
            </a:extLst>
          </p:cNvPr>
          <p:cNvSpPr/>
          <p:nvPr/>
        </p:nvSpPr>
        <p:spPr>
          <a:xfrm>
            <a:off x="6134100" y="1181100"/>
            <a:ext cx="1809750" cy="495300"/>
          </a:xfrm>
          <a:prstGeom prst="roundRect">
            <a:avLst>
              <a:gd name="adj" fmla="val 1923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Concrete Work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0908035-4547-41BA-BCBB-4D9F1F56644D}"/>
              </a:ext>
            </a:extLst>
          </p:cNvPr>
          <p:cNvSpPr/>
          <p:nvPr/>
        </p:nvSpPr>
        <p:spPr>
          <a:xfrm>
            <a:off x="8077200" y="1181100"/>
            <a:ext cx="1809750" cy="4953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7B248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Paper writing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EF137AC-6843-4F06-BFF1-9B85D3846805}"/>
              </a:ext>
            </a:extLst>
          </p:cNvPr>
          <p:cNvSpPr/>
          <p:nvPr/>
        </p:nvSpPr>
        <p:spPr>
          <a:xfrm>
            <a:off x="10020300" y="1181100"/>
            <a:ext cx="1809750" cy="4953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7B248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Submit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3E7F7A3-C8E4-4F04-908D-5040173F3D96}"/>
              </a:ext>
            </a:extLst>
          </p:cNvPr>
          <p:cNvSpPr/>
          <p:nvPr/>
        </p:nvSpPr>
        <p:spPr>
          <a:xfrm>
            <a:off x="304800" y="2438400"/>
            <a:ext cx="11582400" cy="2409825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FECCD36-4704-472A-890B-BC876A2595C3}"/>
              </a:ext>
            </a:extLst>
          </p:cNvPr>
          <p:cNvSpPr/>
          <p:nvPr/>
        </p:nvSpPr>
        <p:spPr>
          <a:xfrm>
            <a:off x="533400" y="2667000"/>
            <a:ext cx="1714500" cy="381000"/>
          </a:xfrm>
          <a:prstGeom prst="roundRect">
            <a:avLst>
              <a:gd name="adj" fmla="val 25000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第一步 · Topic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81FAE46-2B92-47E6-A71D-5D746B1E8BED}"/>
              </a:ext>
            </a:extLst>
          </p:cNvPr>
          <p:cNvSpPr/>
          <p:nvPr/>
        </p:nvSpPr>
        <p:spPr>
          <a:xfrm>
            <a:off x="533400" y="3333750"/>
            <a:ext cx="3429000" cy="1514475"/>
          </a:xfrm>
          <a:prstGeom prst="roundRect">
            <a:avLst>
              <a:gd name="adj" fmla="val 3703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8B75D64-4AC3-4A85-9EF3-FC810B42CD0A}"/>
              </a:ext>
            </a:extLst>
          </p:cNvPr>
          <p:cNvSpPr/>
          <p:nvPr/>
        </p:nvSpPr>
        <p:spPr>
          <a:xfrm>
            <a:off x="4229100" y="3333750"/>
            <a:ext cx="3429000" cy="1514475"/>
          </a:xfrm>
          <a:prstGeom prst="roundRect">
            <a:avLst>
              <a:gd name="adj" fmla="val 3703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EB0639A-FD78-407F-A51D-4383520C608E}"/>
              </a:ext>
            </a:extLst>
          </p:cNvPr>
          <p:cNvSpPr/>
          <p:nvPr/>
        </p:nvSpPr>
        <p:spPr>
          <a:xfrm>
            <a:off x="7924800" y="3333750"/>
            <a:ext cx="3429000" cy="1514475"/>
          </a:xfrm>
          <a:prstGeom prst="roundRect">
            <a:avLst>
              <a:gd name="adj" fmla="val 3703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3D1D75E-E95F-4134-B115-C0F89C8A1EED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做研究的基本过程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2DF166F-1188-4DF8-902D-67183DECBDDD}"/>
              </a:ext>
            </a:extLst>
          </p:cNvPr>
          <p:cNvSpPr txBox="1"/>
          <p:nvPr/>
        </p:nvSpPr>
        <p:spPr>
          <a:xfrm>
            <a:off x="304800" y="838200"/>
            <a:ext cx="952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B6B7C"/>
                </a:solidFill>
                <a:latin typeface="Times New Roman"/>
                <a:ea typeface="Times New Roman"/>
              </a:rPr>
              <a:t>Topic → Problem → Idea → Concrete work → Paper writing → Submit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AB6A323-B6BB-4A51-B317-D13C7FD314EC}"/>
              </a:ext>
            </a:extLst>
          </p:cNvPr>
          <p:cNvSpPr txBox="1"/>
          <p:nvPr/>
        </p:nvSpPr>
        <p:spPr>
          <a:xfrm>
            <a:off x="304800" y="1809750"/>
            <a:ext cx="1809750" cy="4572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导师给方向与代表作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7CA4A5E-F9F0-4B1B-8380-B539A98F1892}"/>
              </a:ext>
            </a:extLst>
          </p:cNvPr>
          <p:cNvSpPr txBox="1"/>
          <p:nvPr/>
        </p:nvSpPr>
        <p:spPr>
          <a:xfrm>
            <a:off x="2247900" y="1809750"/>
            <a:ext cx="1809750" cy="4572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找到值得做的具体问题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7768CDA-049E-4359-8F70-463E1B6333B4}"/>
              </a:ext>
            </a:extLst>
          </p:cNvPr>
          <p:cNvSpPr txBox="1"/>
          <p:nvPr/>
        </p:nvSpPr>
        <p:spPr>
          <a:xfrm>
            <a:off x="4191000" y="1809750"/>
            <a:ext cx="1809750" cy="4572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提出解决方案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7E2101E-A61A-4038-BD03-446D4F2C8EDE}"/>
              </a:ext>
            </a:extLst>
          </p:cNvPr>
          <p:cNvSpPr txBox="1"/>
          <p:nvPr/>
        </p:nvSpPr>
        <p:spPr>
          <a:xfrm>
            <a:off x="6134100" y="1809750"/>
            <a:ext cx="1809750" cy="4572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理论分析与实验验证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AA68771-D484-4410-9E47-2172289ED39C}"/>
              </a:ext>
            </a:extLst>
          </p:cNvPr>
          <p:cNvSpPr txBox="1"/>
          <p:nvPr/>
        </p:nvSpPr>
        <p:spPr>
          <a:xfrm>
            <a:off x="8077200" y="1809750"/>
            <a:ext cx="1809750" cy="4572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把成果撰写成文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2455366-0698-4421-A57B-207AAB9F9B95}"/>
              </a:ext>
            </a:extLst>
          </p:cNvPr>
          <p:cNvSpPr txBox="1"/>
          <p:nvPr/>
        </p:nvSpPr>
        <p:spPr>
          <a:xfrm>
            <a:off x="10020300" y="1809750"/>
            <a:ext cx="1809750" cy="4572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同行评审与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51489D9-290E-45C4-814D-FFEB6ADAEE8D}"/>
              </a:ext>
            </a:extLst>
          </p:cNvPr>
          <p:cNvSpPr txBox="1"/>
          <p:nvPr/>
        </p:nvSpPr>
        <p:spPr>
          <a:xfrm>
            <a:off x="2438400" y="2743200"/>
            <a:ext cx="857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导师通常会给你一个方向和几篇代表性论文，这个阶段要做三件事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9638AC6-8A14-4852-B91A-26A441C51662}"/>
              </a:ext>
            </a:extLst>
          </p:cNvPr>
          <p:cNvSpPr txBox="1"/>
          <p:nvPr/>
        </p:nvSpPr>
        <p:spPr>
          <a:xfrm>
            <a:off x="723900" y="3562350"/>
            <a:ext cx="304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1  </a:t>
            </a:r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建立认知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27A225C-1A88-43D2-A8C0-E171EB855BA2}"/>
              </a:ext>
            </a:extLst>
          </p:cNvPr>
          <p:cNvSpPr txBox="1"/>
          <p:nvPr/>
        </p:nvSpPr>
        <p:spPr>
          <a:xfrm>
            <a:off x="723900" y="3924300"/>
            <a:ext cx="3048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先读导师推荐的论文，建立起对领域的基本认知。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374B4EF-069A-4661-912E-2E77232A1379}"/>
              </a:ext>
            </a:extLst>
          </p:cNvPr>
          <p:cNvSpPr txBox="1"/>
          <p:nvPr/>
        </p:nvSpPr>
        <p:spPr>
          <a:xfrm>
            <a:off x="4419600" y="3562350"/>
            <a:ext cx="304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2  </a:t>
            </a:r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顺藤摸瓜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A3C3A57-D34A-4665-B6CF-205F107894EE}"/>
              </a:ext>
            </a:extLst>
          </p:cNvPr>
          <p:cNvSpPr txBox="1"/>
          <p:nvPr/>
        </p:nvSpPr>
        <p:spPr>
          <a:xfrm>
            <a:off x="4419600" y="3924300"/>
            <a:ext cx="3048000" cy="19050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基于这些论文找相关文献（参考文献、相关工作、对比方法、让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推荐），找到该领域尽可能多的重要文献。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678ADC6-FF0B-4884-9BEB-8CD56B7FEE29}"/>
              </a:ext>
            </a:extLst>
          </p:cNvPr>
          <p:cNvSpPr txBox="1"/>
          <p:nvPr/>
        </p:nvSpPr>
        <p:spPr>
          <a:xfrm>
            <a:off x="8115300" y="3562350"/>
            <a:ext cx="304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3  </a:t>
            </a:r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复现代码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8500785-7F4A-4A48-8808-81CCC8794C0A}"/>
              </a:ext>
            </a:extLst>
          </p:cNvPr>
          <p:cNvSpPr txBox="1"/>
          <p:nvPr/>
        </p:nvSpPr>
        <p:spPr>
          <a:xfrm>
            <a:off x="8115300" y="3924300"/>
            <a:ext cx="3048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对代表性论文尝试代码复现，为后续的科研打好实验基础。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4252228-A044-4D51-8045-987C3A4C7B31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第一篇 总览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27E7EA-31B8-44BA-BB8A-32F776C8CA5D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08 / 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5063E00-5DDB-4D45-9050-4D7561FAFD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9DD1A79-7849-4415-82B2-3C0DD337AA8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BDB05B6-980D-4693-81AB-958D686232E7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8B94F54-559F-42FB-BC8A-58ECA0225AB0}"/>
              </a:ext>
            </a:extLst>
          </p:cNvPr>
          <p:cNvSpPr/>
          <p:nvPr/>
        </p:nvSpPr>
        <p:spPr>
          <a:xfrm>
            <a:off x="304800" y="914400"/>
            <a:ext cx="3657600" cy="413385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3AACF17-C5E8-40C0-AB03-5C08317874AD}"/>
              </a:ext>
            </a:extLst>
          </p:cNvPr>
          <p:cNvSpPr/>
          <p:nvPr/>
        </p:nvSpPr>
        <p:spPr>
          <a:xfrm>
            <a:off x="4267200" y="914400"/>
            <a:ext cx="3657600" cy="413385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F5543B3-342A-407D-BF67-EA19E564F4A6}"/>
              </a:ext>
            </a:extLst>
          </p:cNvPr>
          <p:cNvSpPr/>
          <p:nvPr/>
        </p:nvSpPr>
        <p:spPr>
          <a:xfrm>
            <a:off x="8229600" y="914400"/>
            <a:ext cx="3657600" cy="413385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7927293-B2F0-4CBA-838A-2902007A89A4}"/>
              </a:ext>
            </a:extLst>
          </p:cNvPr>
          <p:cNvSpPr/>
          <p:nvPr/>
        </p:nvSpPr>
        <p:spPr>
          <a:xfrm>
            <a:off x="457200" y="1104900"/>
            <a:ext cx="33528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</a:rPr>
              <a:t>Problem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F1AF50F-4C3C-4EE5-8A71-48D17E61BA8F}"/>
              </a:ext>
            </a:extLst>
          </p:cNvPr>
          <p:cNvSpPr/>
          <p:nvPr/>
        </p:nvSpPr>
        <p:spPr>
          <a:xfrm>
            <a:off x="4419600" y="1104900"/>
            <a:ext cx="33528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Times New Roman"/>
              </a:rPr>
              <a:t>Idea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C468365-7680-4B5E-91FE-D267CEF65A59}"/>
              </a:ext>
            </a:extLst>
          </p:cNvPr>
          <p:cNvSpPr/>
          <p:nvPr/>
        </p:nvSpPr>
        <p:spPr>
          <a:xfrm>
            <a:off x="8382000" y="1104900"/>
            <a:ext cx="33528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Concrete Work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2C686D1-54F3-4385-AB7C-9541B65EDCA1}"/>
              </a:ext>
            </a:extLst>
          </p:cNvPr>
          <p:cNvSpPr/>
          <p:nvPr/>
        </p:nvSpPr>
        <p:spPr>
          <a:xfrm>
            <a:off x="8420100" y="4076700"/>
            <a:ext cx="3276600" cy="971550"/>
          </a:xfrm>
          <a:prstGeom prst="roundRect">
            <a:avLst>
              <a:gd name="adj" fmla="val 8333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E63C20F-E853-417A-8350-A3F113E1B2B8}"/>
              </a:ext>
            </a:extLst>
          </p:cNvPr>
          <p:cNvSpPr/>
          <p:nvPr/>
        </p:nvSpPr>
        <p:spPr>
          <a:xfrm>
            <a:off x="304800" y="5581650"/>
            <a:ext cx="11582400" cy="628650"/>
          </a:xfrm>
          <a:prstGeom prst="roundRect">
            <a:avLst>
              <a:gd name="adj" fmla="val 1515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D5E97B9-6BD4-49DD-8AFD-1BCCEECEF3DB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四个阶段各自要做什么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F0405CC-59B9-4A1A-8465-7492C40C955A}"/>
              </a:ext>
            </a:extLst>
          </p:cNvPr>
          <p:cNvSpPr txBox="1"/>
          <p:nvPr/>
        </p:nvSpPr>
        <p:spPr>
          <a:xfrm>
            <a:off x="457200" y="1657350"/>
            <a:ext cx="33528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问题是科学研究的心脏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CBE44C0-4BF4-41DE-8EF5-87FDAA455B0E}"/>
              </a:ext>
            </a:extLst>
          </p:cNvPr>
          <p:cNvSpPr txBox="1"/>
          <p:nvPr/>
        </p:nvSpPr>
        <p:spPr>
          <a:xfrm>
            <a:off x="457200" y="1981200"/>
            <a:ext cx="3467100" cy="30480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提出一个好的问题，已经成功了一半；会找问题是具有独立研究能力的标志。</a:t>
            </a:r>
          </a:p>
          <a:p>
            <a:pPr>
              <a:lnSpc>
                <a:spcPct val="145000"/>
              </a:lnSpc>
              <a:spcBef>
                <a:spcPts val="21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少部分情况导师直接给问题，这时候赶紧去尝试做。</a:t>
            </a:r>
          </a:p>
          <a:p>
            <a:pPr>
              <a:lnSpc>
                <a:spcPct val="145000"/>
              </a:lnSpc>
              <a:spcBef>
                <a:spcPts val="21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大部分要自己产生问题：靠大量的文献阅读和实验复现，找现存研究的空白、现有方法的局限。</a:t>
            </a:r>
          </a:p>
          <a:p>
            <a:pPr>
              <a:lnSpc>
                <a:spcPct val="145000"/>
              </a:lnSpc>
              <a:spcBef>
                <a:spcPts val="21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宜“小题大做”、忌“大题小做”：把一个问题尽可能做全面。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CE697AE-223F-4579-802C-2F4330D6F650}"/>
              </a:ext>
            </a:extLst>
          </p:cNvPr>
          <p:cNvSpPr txBox="1"/>
          <p:nvPr/>
        </p:nvSpPr>
        <p:spPr>
          <a:xfrm>
            <a:off x="4419600" y="1981200"/>
            <a:ext cx="3352800" cy="29146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没有统一的标准思路，这是真正考验聪明才智的时候。</a:t>
            </a:r>
          </a:p>
          <a:p>
            <a:pPr>
              <a:lnSpc>
                <a:spcPct val="145000"/>
              </a:lnSpc>
              <a:spcBef>
                <a:spcPts val="208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同样要在大量文献阅读和代码复现的基础上，才能有好的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  <a:p>
            <a:pPr>
              <a:lnSpc>
                <a:spcPct val="145000"/>
              </a:lnSpc>
              <a:spcBef>
                <a:spcPts val="208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不要指望导师给你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，但导师可以帮你判断和改善它。</a:t>
            </a:r>
          </a:p>
          <a:p>
            <a:pPr>
              <a:lnSpc>
                <a:spcPct val="145000"/>
              </a:lnSpc>
              <a:spcBef>
                <a:spcPts val="208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找到有价值的问题后，想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并不是特别难；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时代还可借助大量工具辅助科研。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834B4C-D8C2-4EDA-95E6-F0B2C9662E8D}"/>
              </a:ext>
            </a:extLst>
          </p:cNvPr>
          <p:cNvSpPr txBox="1"/>
          <p:nvPr/>
        </p:nvSpPr>
        <p:spPr>
          <a:xfrm>
            <a:off x="8382000" y="1981200"/>
            <a:ext cx="346710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是否有效需要结果的支持，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里通常是理论分析与实验验证。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日常要熟悉常用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、典型对比方法的代码，多复现、善用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vibe coding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工具。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要设计周全的实验方案，并给出必要的分析与解释。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8EBDEF4-B828-4172-9D47-08AEA90FE980}"/>
              </a:ext>
            </a:extLst>
          </p:cNvPr>
          <p:cNvSpPr txBox="1"/>
          <p:nvPr/>
        </p:nvSpPr>
        <p:spPr>
          <a:xfrm>
            <a:off x="8534400" y="421005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要回答的五个问题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47D2C85-40E0-47A1-A9FB-F3C17DF08D83}"/>
              </a:ext>
            </a:extLst>
          </p:cNvPr>
          <p:cNvSpPr txBox="1"/>
          <p:nvPr/>
        </p:nvSpPr>
        <p:spPr>
          <a:xfrm>
            <a:off x="8534400" y="4476750"/>
            <a:ext cx="3048000" cy="800100"/>
          </a:xfrm>
        </p:spPr>
        <p:txBody>
          <a:bodyPr wrap="square" rtlCol="0" lIns="0" tIns="0" rIns="0" bIns="0" anchor="t"/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Strength · Weakness · How / When Strong? · Why Strong? · How / When Weak? · Why Weak?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975086D-3283-4499-A5D0-303E89EDC649}"/>
              </a:ext>
            </a:extLst>
          </p:cNvPr>
          <p:cNvSpPr txBox="1"/>
          <p:nvPr/>
        </p:nvSpPr>
        <p:spPr>
          <a:xfrm>
            <a:off x="457200" y="5791200"/>
            <a:ext cx="1127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小结   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找到好的问题是关键；有了好的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idea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，问题就解决了一大半；还需要具体、坚实的实验验证。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6A7D9FA-9A1E-44B6-9DF0-83DE0A7EA3F0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第一篇 总览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1150888-115B-4149-BBBB-90E58F4781A4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09 / 86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B543FDD-6296-472F-B9AB-150207D6D7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1719255-B6E6-4A5B-B433-2EC74504E9C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4544C8D-4693-4063-A5DA-20A50EEB2B8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D823040-8F30-4B46-BFCB-A3A262477783}"/>
              </a:ext>
            </a:extLst>
          </p:cNvPr>
          <p:cNvSpPr/>
          <p:nvPr/>
        </p:nvSpPr>
        <p:spPr>
          <a:xfrm>
            <a:off x="304800" y="914400"/>
            <a:ext cx="5638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0321F6E-F871-4C59-8F9F-EC8C071260A2}"/>
              </a:ext>
            </a:extLst>
          </p:cNvPr>
          <p:cNvSpPr/>
          <p:nvPr/>
        </p:nvSpPr>
        <p:spPr>
          <a:xfrm>
            <a:off x="6248400" y="914400"/>
            <a:ext cx="5638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960AB25-05A5-419F-A283-C7493C8E6804}"/>
              </a:ext>
            </a:extLst>
          </p:cNvPr>
          <p:cNvSpPr/>
          <p:nvPr/>
        </p:nvSpPr>
        <p:spPr>
          <a:xfrm>
            <a:off x="304800" y="2743200"/>
            <a:ext cx="5638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EF09138-D1BD-4CCD-9651-788A918C2618}"/>
              </a:ext>
            </a:extLst>
          </p:cNvPr>
          <p:cNvSpPr/>
          <p:nvPr/>
        </p:nvSpPr>
        <p:spPr>
          <a:xfrm>
            <a:off x="6248400" y="2743200"/>
            <a:ext cx="5638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6AC36A3-9854-4BBF-BFB9-B06ABECCADC5}"/>
              </a:ext>
            </a:extLst>
          </p:cNvPr>
          <p:cNvSpPr/>
          <p:nvPr/>
        </p:nvSpPr>
        <p:spPr>
          <a:xfrm>
            <a:off x="304800" y="4572000"/>
            <a:ext cx="5638800" cy="1609725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2E2C898-66A2-4E14-B546-94DC0590504C}"/>
              </a:ext>
            </a:extLst>
          </p:cNvPr>
          <p:cNvSpPr/>
          <p:nvPr/>
        </p:nvSpPr>
        <p:spPr>
          <a:xfrm>
            <a:off x="6248400" y="4572000"/>
            <a:ext cx="5638800" cy="1609725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AE8B671-B094-4D3E-93C1-0DF1081B2C87}"/>
              </a:ext>
            </a:extLst>
          </p:cNvPr>
          <p:cNvSpPr/>
          <p:nvPr/>
        </p:nvSpPr>
        <p:spPr>
          <a:xfrm>
            <a:off x="495300" y="10858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CAB7E8C-CFA7-4062-B10E-D6783966AAFC}"/>
              </a:ext>
            </a:extLst>
          </p:cNvPr>
          <p:cNvSpPr/>
          <p:nvPr/>
        </p:nvSpPr>
        <p:spPr>
          <a:xfrm>
            <a:off x="6438900" y="10858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A358AF7-81F0-497F-881C-88F092B144E0}"/>
              </a:ext>
            </a:extLst>
          </p:cNvPr>
          <p:cNvSpPr/>
          <p:nvPr/>
        </p:nvSpPr>
        <p:spPr>
          <a:xfrm>
            <a:off x="495300" y="29146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45B7D5C-6BE7-4F0D-B9BC-85642E40B121}"/>
              </a:ext>
            </a:extLst>
          </p:cNvPr>
          <p:cNvSpPr/>
          <p:nvPr/>
        </p:nvSpPr>
        <p:spPr>
          <a:xfrm>
            <a:off x="6438900" y="29146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3DDC159-BD03-4119-A3B2-87BFBB1641BE}"/>
              </a:ext>
            </a:extLst>
          </p:cNvPr>
          <p:cNvSpPr/>
          <p:nvPr/>
        </p:nvSpPr>
        <p:spPr>
          <a:xfrm>
            <a:off x="495300" y="47434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CE9A7E7-E721-4D48-8873-2FC87BBF9D9D}"/>
              </a:ext>
            </a:extLst>
          </p:cNvPr>
          <p:cNvSpPr/>
          <p:nvPr/>
        </p:nvSpPr>
        <p:spPr>
          <a:xfrm>
            <a:off x="6438900" y="474345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2ADED37-A7B0-4F80-8A70-E64C4E2DFBB1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找论文的六条路径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528343F-7796-4D96-868F-4A68D31A3CED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第二篇 如何找论文？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971721E-DDBB-41C5-814A-0CBA04B48CEC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10 / 86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84F0545-C5E2-4811-84A8-5F4BA151EA58}"/>
              </a:ext>
            </a:extLst>
          </p:cNvPr>
          <p:cNvSpPr txBox="1"/>
          <p:nvPr/>
        </p:nvSpPr>
        <p:spPr>
          <a:xfrm>
            <a:off x="895350" y="1104900"/>
            <a:ext cx="489585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从重要会议和期刊中寻找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820D8CE-269B-4C6A-91EE-5F35280A438C}"/>
              </a:ext>
            </a:extLst>
          </p:cNvPr>
          <p:cNvSpPr txBox="1"/>
          <p:nvPr/>
        </p:nvSpPr>
        <p:spPr>
          <a:xfrm>
            <a:off x="457200" y="1409700"/>
            <a:ext cx="5334000" cy="11620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方向以会议论文为主，每次放榜后都能看到所有文章列表；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openreview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的会议还能看到全部投稿。每次投稿截止和放榜之后，都应基于关键词、论文题目做一次筛选和阅读。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8A38D15-724A-4A06-9FB5-49BD643E16BA}"/>
              </a:ext>
            </a:extLst>
          </p:cNvPr>
          <p:cNvSpPr txBox="1"/>
          <p:nvPr/>
        </p:nvSpPr>
        <p:spPr>
          <a:xfrm>
            <a:off x="6838950" y="1104900"/>
            <a:ext cx="489585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从“种子论文”开始扩展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C1DF656-98F1-4F31-BFA5-32224D504E2A}"/>
              </a:ext>
            </a:extLst>
          </p:cNvPr>
          <p:cNvSpPr txBox="1"/>
          <p:nvPr/>
        </p:nvSpPr>
        <p:spPr>
          <a:xfrm>
            <a:off x="6400800" y="1409700"/>
            <a:ext cx="5334000" cy="11620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刚进入一个方向时，先找几篇种子论文再向外扩展：近几年的高质量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Survey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、公认的代表性工作、与研究问题最接近的论文、被广泛使用的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、最近两年顶会论文、导师或同学推荐的论文。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91B8237-DC58-4497-8C3C-13EC70E82059}"/>
              </a:ext>
            </a:extLst>
          </p:cNvPr>
          <p:cNvSpPr txBox="1"/>
          <p:nvPr/>
        </p:nvSpPr>
        <p:spPr>
          <a:xfrm>
            <a:off x="895350" y="2933700"/>
            <a:ext cx="489585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沿文献网络“顺藤摸瓜”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B832109-F818-4BA4-9D06-86D4E96CDAE5}"/>
              </a:ext>
            </a:extLst>
          </p:cNvPr>
          <p:cNvSpPr txBox="1"/>
          <p:nvPr/>
        </p:nvSpPr>
        <p:spPr>
          <a:xfrm>
            <a:off x="457200" y="3238500"/>
            <a:ext cx="5334000" cy="11620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以一篇文章为引子，通过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Related Works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References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找更多文章：向后跟踪它引用了哪些早期工作，向前跟踪有哪些工作引用、改进、质疑或扩展了它。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62EF244-3292-49B4-A606-1E4DE13F63EB}"/>
              </a:ext>
            </a:extLst>
          </p:cNvPr>
          <p:cNvSpPr txBox="1"/>
          <p:nvPr/>
        </p:nvSpPr>
        <p:spPr>
          <a:xfrm>
            <a:off x="6838950" y="2933700"/>
            <a:ext cx="489585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关注作者、课题组和研究团队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545A51E-0B35-4466-A06C-DFF6E441049A}"/>
              </a:ext>
            </a:extLst>
          </p:cNvPr>
          <p:cNvSpPr txBox="1"/>
          <p:nvPr/>
        </p:nvSpPr>
        <p:spPr>
          <a:xfrm>
            <a:off x="6400800" y="3238500"/>
            <a:ext cx="5334000" cy="11620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方向一致的课题组往往有一连串相关文章。可进一步查看：作者个人主页、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Google Scholar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DBLP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Semantic Scholar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、实验室主页、近期论文与正在指导的学生、论文对应的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GitHub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组织、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Project Page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Hugging Face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主页。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29FDE88-FCA7-432A-B1D4-FB4D722A8F1A}"/>
              </a:ext>
            </a:extLst>
          </p:cNvPr>
          <p:cNvSpPr txBox="1"/>
          <p:nvPr/>
        </p:nvSpPr>
        <p:spPr>
          <a:xfrm>
            <a:off x="895350" y="4762500"/>
            <a:ext cx="489585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从代码、数据集和生态反向找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287692D-667E-471C-87F9-0C2B7EE7CBE6}"/>
              </a:ext>
            </a:extLst>
          </p:cNvPr>
          <p:cNvSpPr txBox="1"/>
          <p:nvPr/>
        </p:nvSpPr>
        <p:spPr>
          <a:xfrm>
            <a:off x="457200" y="5067300"/>
            <a:ext cx="5334000" cy="11620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不要只搜论文标题，还可以反向搜索：数据集与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官网、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Leaderboard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上的方法及对应论文、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Hugging Face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Models / Datasets / Papers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页面、代码仓库的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Issues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Pull Requests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、新论文实验表中的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Compared Methods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D5A10EE-59EE-44CE-AAF2-EA856BBD5706}"/>
              </a:ext>
            </a:extLst>
          </p:cNvPr>
          <p:cNvSpPr txBox="1"/>
          <p:nvPr/>
        </p:nvSpPr>
        <p:spPr>
          <a:xfrm>
            <a:off x="6838950" y="4762500"/>
            <a:ext cx="489585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关注平台与论文推荐网站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06665451-E953-4C1A-9B1A-6D82ED0DA39E}"/>
              </a:ext>
            </a:extLst>
          </p:cNvPr>
          <p:cNvSpPr txBox="1"/>
          <p:nvPr/>
        </p:nvSpPr>
        <p:spPr>
          <a:xfrm>
            <a:off x="6400800" y="5067300"/>
            <a:ext cx="5334000" cy="11620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形成稳定的日常论文获取渠道：每天早晨刷一下今天的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arXiv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、订阅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Hugging Face Daily Papers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Google Scholar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订阅关注的研究者、关注相关公众号与小红书论文分享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up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主，以及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AMiner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Bohrium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ChatPaper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等基于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的论文分享平台。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D5AA12A-2C2A-4D83-875E-958D40C0EC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2302BBBF-4235-4D54-9799-1CD79E5A1BD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8FF913F-613B-49AA-9C7B-E3D4F94869C1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3581ECB-0DA8-4BCA-B52A-3999E427CEB7}"/>
              </a:ext>
            </a:extLst>
          </p:cNvPr>
          <p:cNvSpPr/>
          <p:nvPr/>
        </p:nvSpPr>
        <p:spPr>
          <a:xfrm>
            <a:off x="304800" y="914400"/>
            <a:ext cx="6934200" cy="5372100"/>
          </a:xfrm>
          <a:prstGeom prst="roundRect">
            <a:avLst>
              <a:gd name="adj" fmla="val 177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C016699-2407-4798-A041-13C150F7B1DE}"/>
              </a:ext>
            </a:extLst>
          </p:cNvPr>
          <p:cNvSpPr/>
          <p:nvPr/>
        </p:nvSpPr>
        <p:spPr>
          <a:xfrm>
            <a:off x="533400" y="1524000"/>
            <a:ext cx="60960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73C6CE1-4AB6-4414-B820-4FC0CFD978F4}"/>
              </a:ext>
            </a:extLst>
          </p:cNvPr>
          <p:cNvSpPr/>
          <p:nvPr/>
        </p:nvSpPr>
        <p:spPr>
          <a:xfrm>
            <a:off x="533400" y="2209800"/>
            <a:ext cx="60960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E7B2598-84AA-45D0-B07D-657769371724}"/>
              </a:ext>
            </a:extLst>
          </p:cNvPr>
          <p:cNvSpPr/>
          <p:nvPr/>
        </p:nvSpPr>
        <p:spPr>
          <a:xfrm>
            <a:off x="533400" y="2895600"/>
            <a:ext cx="60960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1ECD7CB-D941-47CE-9EF2-346EF658FB22}"/>
              </a:ext>
            </a:extLst>
          </p:cNvPr>
          <p:cNvSpPr/>
          <p:nvPr/>
        </p:nvSpPr>
        <p:spPr>
          <a:xfrm>
            <a:off x="533400" y="3581400"/>
            <a:ext cx="60960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14F9654-587C-497D-AC7F-0E1CBE4BF99C}"/>
              </a:ext>
            </a:extLst>
          </p:cNvPr>
          <p:cNvSpPr/>
          <p:nvPr/>
        </p:nvSpPr>
        <p:spPr>
          <a:xfrm>
            <a:off x="533400" y="4267200"/>
            <a:ext cx="60960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26B5018-17EA-453A-9BC1-DCE280170591}"/>
              </a:ext>
            </a:extLst>
          </p:cNvPr>
          <p:cNvSpPr/>
          <p:nvPr/>
        </p:nvSpPr>
        <p:spPr>
          <a:xfrm>
            <a:off x="533400" y="4953000"/>
            <a:ext cx="60960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0F5DDBE-C821-4D74-9BD5-AFB095AE6ED2}"/>
              </a:ext>
            </a:extLst>
          </p:cNvPr>
          <p:cNvSpPr/>
          <p:nvPr/>
        </p:nvSpPr>
        <p:spPr>
          <a:xfrm>
            <a:off x="7391400" y="914400"/>
            <a:ext cx="4495800" cy="2552700"/>
          </a:xfrm>
          <a:prstGeom prst="roundRect">
            <a:avLst>
              <a:gd name="adj" fmla="val 373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91B8A36-125D-4B31-9487-7A71971D479B}"/>
              </a:ext>
            </a:extLst>
          </p:cNvPr>
          <p:cNvSpPr/>
          <p:nvPr/>
        </p:nvSpPr>
        <p:spPr>
          <a:xfrm>
            <a:off x="7391400" y="3695700"/>
            <a:ext cx="4495800" cy="211455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45FE592-B597-4A39-B6B8-8CC305401981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重点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venue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、日常渠道与论文管理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2AA5931-0805-4FED-B0B2-F3380DAAA25D}"/>
              </a:ext>
            </a:extLst>
          </p:cNvPr>
          <p:cNvSpPr txBox="1"/>
          <p:nvPr/>
        </p:nvSpPr>
        <p:spPr>
          <a:xfrm>
            <a:off x="457200" y="1123950"/>
            <a:ext cx="66294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不同方向关注的会议和期刊有所区别，常见的包括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6FCB922-D088-40F4-86B7-5819036D09C5}"/>
              </a:ext>
            </a:extLst>
          </p:cNvPr>
          <p:cNvSpPr txBox="1"/>
          <p:nvPr/>
        </p:nvSpPr>
        <p:spPr>
          <a:xfrm>
            <a:off x="723900" y="1724025"/>
            <a:ext cx="16192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机器学习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CC6E5DA-C998-45A9-9444-310D3FAB1C9D}"/>
              </a:ext>
            </a:extLst>
          </p:cNvPr>
          <p:cNvSpPr txBox="1"/>
          <p:nvPr/>
        </p:nvSpPr>
        <p:spPr>
          <a:xfrm>
            <a:off x="2438400" y="1724025"/>
            <a:ext cx="40005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ICML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NeurIPS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ICLR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3A828F5-F81D-42EC-8893-EFC7F6844448}"/>
              </a:ext>
            </a:extLst>
          </p:cNvPr>
          <p:cNvSpPr txBox="1"/>
          <p:nvPr/>
        </p:nvSpPr>
        <p:spPr>
          <a:xfrm>
            <a:off x="723900" y="2409825"/>
            <a:ext cx="16192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自然语言处理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DDD39A6-8B94-4897-A380-CED478296983}"/>
              </a:ext>
            </a:extLst>
          </p:cNvPr>
          <p:cNvSpPr txBox="1"/>
          <p:nvPr/>
        </p:nvSpPr>
        <p:spPr>
          <a:xfrm>
            <a:off x="2438400" y="2409825"/>
            <a:ext cx="40005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ACL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EMNLP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COLM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76A1858-7C27-48CB-9B6C-46AD3D9B2513}"/>
              </a:ext>
            </a:extLst>
          </p:cNvPr>
          <p:cNvSpPr txBox="1"/>
          <p:nvPr/>
        </p:nvSpPr>
        <p:spPr>
          <a:xfrm>
            <a:off x="723900" y="3095625"/>
            <a:ext cx="16192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计算机视觉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C42F943-6137-4914-88CA-7187295C8798}"/>
              </a:ext>
            </a:extLst>
          </p:cNvPr>
          <p:cNvSpPr txBox="1"/>
          <p:nvPr/>
        </p:nvSpPr>
        <p:spPr>
          <a:xfrm>
            <a:off x="2438400" y="3095625"/>
            <a:ext cx="40005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CVPR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ICCV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ECCV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6ED6E20-329D-4E63-8DC6-5E11572D5E8B}"/>
              </a:ext>
            </a:extLst>
          </p:cNvPr>
          <p:cNvSpPr txBox="1"/>
          <p:nvPr/>
        </p:nvSpPr>
        <p:spPr>
          <a:xfrm>
            <a:off x="723900" y="3781425"/>
            <a:ext cx="16192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人工智能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C12912C-9824-485B-8C48-394753C88508}"/>
              </a:ext>
            </a:extLst>
          </p:cNvPr>
          <p:cNvSpPr txBox="1"/>
          <p:nvPr/>
        </p:nvSpPr>
        <p:spPr>
          <a:xfrm>
            <a:off x="2438400" y="3781425"/>
            <a:ext cx="40005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AAAI</a:t>
            </a:r>
            <a:r>
              <a:rPr sz="14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IJCAI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EC92453-9B40-40A8-9F37-E94117C3D532}"/>
              </a:ext>
            </a:extLst>
          </p:cNvPr>
          <p:cNvSpPr txBox="1"/>
          <p:nvPr/>
        </p:nvSpPr>
        <p:spPr>
          <a:xfrm>
            <a:off x="723900" y="4467225"/>
            <a:ext cx="16192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数据挖掘与信息检索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3408746-6CBA-4A96-B718-934E34C069F3}"/>
              </a:ext>
            </a:extLst>
          </p:cNvPr>
          <p:cNvSpPr txBox="1"/>
          <p:nvPr/>
        </p:nvSpPr>
        <p:spPr>
          <a:xfrm>
            <a:off x="2438400" y="4467225"/>
            <a:ext cx="40005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KDD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02E8D5D-8355-492E-BC6A-10A09112273A}"/>
              </a:ext>
            </a:extLst>
          </p:cNvPr>
          <p:cNvSpPr txBox="1"/>
          <p:nvPr/>
        </p:nvSpPr>
        <p:spPr>
          <a:xfrm>
            <a:off x="723900" y="5153025"/>
            <a:ext cx="1619250" cy="2095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综合性高影响力期刊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7A371A7-0E49-4310-A35D-B7827F432285}"/>
              </a:ext>
            </a:extLst>
          </p:cNvPr>
          <p:cNvSpPr txBox="1"/>
          <p:nvPr/>
        </p:nvSpPr>
        <p:spPr>
          <a:xfrm>
            <a:off x="2438400" y="5029200"/>
            <a:ext cx="4000500" cy="534924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TPAMI</a:t>
            </a: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JMLR</a:t>
            </a: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TMLR</a:t>
            </a: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TKDE</a:t>
            </a: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、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Nature Machine Intelligence</a:t>
            </a: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 等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CD290DD-C77D-4905-A44E-DC07087FC7AE}"/>
              </a:ext>
            </a:extLst>
          </p:cNvPr>
          <p:cNvSpPr txBox="1"/>
          <p:nvPr/>
        </p:nvSpPr>
        <p:spPr>
          <a:xfrm>
            <a:off x="7543800" y="1143000"/>
            <a:ext cx="41910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FFFF"/>
                </a:solidFill>
                <a:latin typeface="Times New Roman"/>
                <a:ea typeface="华文中宋"/>
              </a:rPr>
              <a:t>两点提醒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3729167-11DA-4637-9F2A-526A091CEAA3}"/>
              </a:ext>
            </a:extLst>
          </p:cNvPr>
          <p:cNvSpPr txBox="1"/>
          <p:nvPr/>
        </p:nvSpPr>
        <p:spPr>
          <a:xfrm>
            <a:off x="7543800" y="1485900"/>
            <a:ext cx="4191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EAD7F0"/>
                </a:solidFill>
                <a:latin typeface="Times New Roman"/>
                <a:ea typeface="华文中宋"/>
              </a:rPr>
              <a:t>以上名单不是固定的，也不是评价论文价值的唯一标准。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300">
                <a:solidFill>
                  <a:srgbClr val="EAD7F0"/>
                </a:solidFill>
                <a:latin typeface="Times New Roman"/>
                <a:ea typeface="华文中宋"/>
              </a:rPr>
              <a:t>进入具体方向后，应根据导师建议和该领域的引用习惯，建立自己的重点 </a:t>
            </a:r>
            <a:r>
              <a:rPr sz="1300">
                <a:solidFill>
                  <a:srgbClr val="EAD7F0"/>
                </a:solidFill>
                <a:latin typeface="Times New Roman"/>
                <a:ea typeface="Times New Roman"/>
              </a:rPr>
              <a:t>venue</a:t>
            </a:r>
            <a:r>
              <a:rPr sz="1300">
                <a:solidFill>
                  <a:srgbClr val="EAD7F0"/>
                </a:solidFill>
                <a:latin typeface="Times New Roman"/>
                <a:ea typeface="华文中宋"/>
              </a:rPr>
              <a:t> 列表。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859850F-18F9-450F-A318-1F60478B195C}"/>
              </a:ext>
            </a:extLst>
          </p:cNvPr>
          <p:cNvSpPr txBox="1"/>
          <p:nvPr/>
        </p:nvSpPr>
        <p:spPr>
          <a:xfrm>
            <a:off x="7543800" y="3924300"/>
            <a:ext cx="41910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7B2484"/>
                </a:solidFill>
                <a:latin typeface="Times New Roman"/>
                <a:ea typeface="华文中宋"/>
              </a:rPr>
              <a:t>论文管理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A2049A1-DBF6-43CB-B5DD-74222630BDD9}"/>
              </a:ext>
            </a:extLst>
          </p:cNvPr>
          <p:cNvSpPr txBox="1"/>
          <p:nvPr/>
        </p:nvSpPr>
        <p:spPr>
          <a:xfrm>
            <a:off x="7543800" y="4267200"/>
            <a:ext cx="4191000" cy="19050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阅读过的有价值的文章（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很有启发性、实验效果很好、文章写作很好等）应当存储管理起来，后续有需要方便翻阅。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可以使用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Zotero + Codex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管理论文，可自行查找相关教程；也可以用飞书、多维表格或其他工具。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EB490B7-79D0-422D-9082-07A47F331ACB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第二篇 如何找论文？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1D3B7E7-19BF-4913-A6C7-C1949BABEE2E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11 / 86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ACEBEB0-4E45-42A0-95A3-D48909D859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00F4A077-4ED0-4AB9-9965-C85142574F4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FED758E-91CF-43A2-96B6-CA2BCD667BFF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F714DDE-C563-45B1-B52B-840AB858DB9B}"/>
              </a:ext>
            </a:extLst>
          </p:cNvPr>
          <p:cNvSpPr/>
          <p:nvPr/>
        </p:nvSpPr>
        <p:spPr>
          <a:xfrm>
            <a:off x="304800" y="914400"/>
            <a:ext cx="5638800" cy="16002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A260887-DBA1-4525-A544-6131AAC53DD9}"/>
              </a:ext>
            </a:extLst>
          </p:cNvPr>
          <p:cNvSpPr/>
          <p:nvPr/>
        </p:nvSpPr>
        <p:spPr>
          <a:xfrm>
            <a:off x="6248400" y="914400"/>
            <a:ext cx="5638800" cy="160020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A5C67B6-4D5B-4F11-881A-B8622B3BA9B8}"/>
              </a:ext>
            </a:extLst>
          </p:cNvPr>
          <p:cNvSpPr/>
          <p:nvPr/>
        </p:nvSpPr>
        <p:spPr>
          <a:xfrm>
            <a:off x="304800" y="3676650"/>
            <a:ext cx="5638800" cy="230505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40A8AAC-2F4D-4E34-9F2F-9D2B398CF7B8}"/>
              </a:ext>
            </a:extLst>
          </p:cNvPr>
          <p:cNvSpPr/>
          <p:nvPr/>
        </p:nvSpPr>
        <p:spPr>
          <a:xfrm>
            <a:off x="6248400" y="3676650"/>
            <a:ext cx="5638800" cy="230505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D9B9DA9-F567-455B-A633-758016A9AC8A}"/>
              </a:ext>
            </a:extLst>
          </p:cNvPr>
          <p:cNvSpPr/>
          <p:nvPr/>
        </p:nvSpPr>
        <p:spPr>
          <a:xfrm>
            <a:off x="533400" y="110490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1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62E3051-5153-486B-9916-4841C380EF84}"/>
              </a:ext>
            </a:extLst>
          </p:cNvPr>
          <p:cNvSpPr/>
          <p:nvPr/>
        </p:nvSpPr>
        <p:spPr>
          <a:xfrm>
            <a:off x="6477000" y="110490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2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3BD597D-7524-411F-81A9-749EFDDC25F8}"/>
              </a:ext>
            </a:extLst>
          </p:cNvPr>
          <p:cNvSpPr/>
          <p:nvPr/>
        </p:nvSpPr>
        <p:spPr>
          <a:xfrm>
            <a:off x="533400" y="386715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3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8957330-BB8D-40BA-9FD5-F6C019892450}"/>
              </a:ext>
            </a:extLst>
          </p:cNvPr>
          <p:cNvSpPr/>
          <p:nvPr/>
        </p:nvSpPr>
        <p:spPr>
          <a:xfrm>
            <a:off x="6477000" y="386715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8C2C186-0FB7-4427-AB4C-1CAB3468AA91}"/>
              </a:ext>
            </a:extLst>
          </p:cNvPr>
          <p:cNvSpPr txBox="1"/>
          <p:nvPr/>
        </p:nvSpPr>
        <p:spPr>
          <a:xfrm>
            <a:off x="304800" y="152400"/>
            <a:ext cx="819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七步法（上）：先看全貌，再盯问题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E95A4A-3968-4747-8CC6-BE2D623C515D}"/>
              </a:ext>
            </a:extLst>
          </p:cNvPr>
          <p:cNvSpPr txBox="1"/>
          <p:nvPr/>
        </p:nvSpPr>
        <p:spPr>
          <a:xfrm>
            <a:off x="1524000" y="114300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宏观概览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9F7010F-7F9D-4420-BEA9-1B9193F688F1}"/>
              </a:ext>
            </a:extLst>
          </p:cNvPr>
          <p:cNvSpPr txBox="1"/>
          <p:nvPr/>
        </p:nvSpPr>
        <p:spPr>
          <a:xfrm>
            <a:off x="457200" y="1638300"/>
            <a:ext cx="5334000" cy="18097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拿到论文不要上来就一字一句从头读到尾。先浏览摘要、翻一遍图表，建立基本认识：这是什么单位发表的工作？发表在什么地点？是一个什么类型的工作？要解决什么样的问题？大概取得了什么样的效果？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BA150C3-F958-4363-8DA0-54F74B967E18}"/>
              </a:ext>
            </a:extLst>
          </p:cNvPr>
          <p:cNvSpPr txBox="1"/>
          <p:nvPr/>
        </p:nvSpPr>
        <p:spPr>
          <a:xfrm>
            <a:off x="7467600" y="114300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锁定核心研究问题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580327B-17D2-49CC-A9E9-E6E4B54DB65F}"/>
              </a:ext>
            </a:extLst>
          </p:cNvPr>
          <p:cNvSpPr txBox="1"/>
          <p:nvPr/>
        </p:nvSpPr>
        <p:spPr>
          <a:xfrm>
            <a:off x="6400800" y="1638300"/>
            <a:ext cx="5334000" cy="18097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学术论文的核心是其要解决的研究问题。每一篇好的论文都应该围绕一个清晰、具体的研究问题展开。这个问题可能在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abstract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中，可能在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转折的某一段中，首先要找到这个问题。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EBA8007-14F6-4F42-9E0D-DB2AE8FB26E8}"/>
              </a:ext>
            </a:extLst>
          </p:cNvPr>
          <p:cNvSpPr txBox="1"/>
          <p:nvPr/>
        </p:nvSpPr>
        <p:spPr>
          <a:xfrm>
            <a:off x="1524000" y="390525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梳理已有工作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5C5C48C-9FA9-4148-8513-5E7928ABDD22}"/>
              </a:ext>
            </a:extLst>
          </p:cNvPr>
          <p:cNvSpPr txBox="1"/>
          <p:nvPr/>
        </p:nvSpPr>
        <p:spPr>
          <a:xfrm>
            <a:off x="533400" y="4400550"/>
            <a:ext cx="5181600" cy="20002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一个问题往往不是凭空出现的，而是建立在前人研究之上。找到问题后，应当主动思考：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这是一个真实存在的问题吗？哪些人也研究过它？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目前有哪些可以采用的解决办法？已有方法还存在什么挑战？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如果让我来做这个问题，我可能会怎么做？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C31A04E-B839-4225-B80C-8CA95544F491}"/>
              </a:ext>
            </a:extLst>
          </p:cNvPr>
          <p:cNvSpPr txBox="1"/>
          <p:nvPr/>
        </p:nvSpPr>
        <p:spPr>
          <a:xfrm>
            <a:off x="7467600" y="3905250"/>
            <a:ext cx="381000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阅读文章所提方法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8AB3280-1219-4DEF-A4A2-08EF83FD742F}"/>
              </a:ext>
            </a:extLst>
          </p:cNvPr>
          <p:cNvSpPr txBox="1"/>
          <p:nvPr/>
        </p:nvSpPr>
        <p:spPr>
          <a:xfrm>
            <a:off x="6477000" y="4400550"/>
            <a:ext cx="5181600" cy="20002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在对问题进行过初步思考之后，再去仔细推敲论文所提出的方法，同时思考和评判作者的解法与你所想解法之间的优劣。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尝试以批判的眼光去阅读，找到作者方法的局限性，从中挖掘新的想法，再尝试深入思考如何改进和超越该论文。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470F9D2-A650-44F2-82D9-3657E86379F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第三篇 如何读论文？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5DB5EAD-636B-4964-A4B9-EA513EF4D95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12 / 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3DA135FD-6FB1-4795-8E69-CC2ADC36E4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73F76D55-2FB5-4415-88D9-8B988B6F381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C59B291-0AEB-4A6E-8CFB-13A1D8092490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22FEB1B-E09C-41D4-8F23-71ED32B37971}"/>
              </a:ext>
            </a:extLst>
          </p:cNvPr>
          <p:cNvSpPr/>
          <p:nvPr/>
        </p:nvSpPr>
        <p:spPr>
          <a:xfrm>
            <a:off x="304800" y="914400"/>
            <a:ext cx="3657600" cy="2886075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78BFEC8-8692-444F-9952-68208C6006AA}"/>
              </a:ext>
            </a:extLst>
          </p:cNvPr>
          <p:cNvSpPr/>
          <p:nvPr/>
        </p:nvSpPr>
        <p:spPr>
          <a:xfrm>
            <a:off x="4267200" y="914400"/>
            <a:ext cx="3657600" cy="2886075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249D343-82CD-4B0A-8595-AB81575E2BA3}"/>
              </a:ext>
            </a:extLst>
          </p:cNvPr>
          <p:cNvSpPr/>
          <p:nvPr/>
        </p:nvSpPr>
        <p:spPr>
          <a:xfrm>
            <a:off x="8229600" y="914400"/>
            <a:ext cx="3657600" cy="2886075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844FD1D-2AE8-4171-B6EA-659C524395FA}"/>
              </a:ext>
            </a:extLst>
          </p:cNvPr>
          <p:cNvSpPr/>
          <p:nvPr/>
        </p:nvSpPr>
        <p:spPr>
          <a:xfrm>
            <a:off x="495300" y="110490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5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7BE3850-6494-4213-BCF2-C180078A1C82}"/>
              </a:ext>
            </a:extLst>
          </p:cNvPr>
          <p:cNvSpPr/>
          <p:nvPr/>
        </p:nvSpPr>
        <p:spPr>
          <a:xfrm>
            <a:off x="4457700" y="110490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6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8C91DCC-3A1B-4A0A-BAAC-B8F6B7A90C43}"/>
              </a:ext>
            </a:extLst>
          </p:cNvPr>
          <p:cNvSpPr/>
          <p:nvPr/>
        </p:nvSpPr>
        <p:spPr>
          <a:xfrm>
            <a:off x="8420100" y="1104900"/>
            <a:ext cx="85725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STEP 7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BEFC00B-42FC-4508-9A53-DA2DC922C2FF}"/>
              </a:ext>
            </a:extLst>
          </p:cNvPr>
          <p:cNvSpPr/>
          <p:nvPr/>
        </p:nvSpPr>
        <p:spPr>
          <a:xfrm>
            <a:off x="304800" y="5334000"/>
            <a:ext cx="11582400" cy="914400"/>
          </a:xfrm>
          <a:prstGeom prst="roundRect">
            <a:avLst>
              <a:gd name="adj" fmla="val 104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D00899F-39BE-4F45-A318-D4966936EFBD}"/>
              </a:ext>
            </a:extLst>
          </p:cNvPr>
          <p:cNvSpPr txBox="1"/>
          <p:nvPr/>
        </p:nvSpPr>
        <p:spPr>
          <a:xfrm>
            <a:off x="304800" y="152400"/>
            <a:ext cx="819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七步法（下）：从复现到思考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9F2214-961F-4148-BD48-382B1FE119D2}"/>
              </a:ext>
            </a:extLst>
          </p:cNvPr>
          <p:cNvSpPr txBox="1"/>
          <p:nvPr/>
        </p:nvSpPr>
        <p:spPr>
          <a:xfrm>
            <a:off x="1447800" y="1143000"/>
            <a:ext cx="222885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分析与复现实验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C8DEB65-24F6-460C-A616-83649AE45DDB}"/>
              </a:ext>
            </a:extLst>
          </p:cNvPr>
          <p:cNvSpPr txBox="1"/>
          <p:nvPr/>
        </p:nvSpPr>
        <p:spPr>
          <a:xfrm>
            <a:off x="457200" y="1638300"/>
            <a:ext cx="3352800" cy="3143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用了什么样的数据集？和什么方法做了对比？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为什么采用这些数据集和对比方法？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实验设置是否全面？结论是否合理？有没有漏洞？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有没有开源代码？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如果是自己方向内比较关键的文章，要去阅读代码和尝试复现实验。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1DE1F5-7586-481A-8CC0-E264C42059C0}"/>
              </a:ext>
            </a:extLst>
          </p:cNvPr>
          <p:cNvSpPr txBox="1"/>
          <p:nvPr/>
        </p:nvSpPr>
        <p:spPr>
          <a:xfrm>
            <a:off x="5410200" y="1143000"/>
            <a:ext cx="222885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顺藤摸瓜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E46560E-CE4D-4CD5-8E1A-E8051AE5BC57}"/>
              </a:ext>
            </a:extLst>
          </p:cNvPr>
          <p:cNvSpPr txBox="1"/>
          <p:nvPr/>
        </p:nvSpPr>
        <p:spPr>
          <a:xfrm>
            <a:off x="4419600" y="1638300"/>
            <a:ext cx="3352800" cy="3143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读文章不仅仅是读这一篇，而是以一篇文章为引子，结合论文的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Related Works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Compared Methods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去了解整个研究的背景，顺藤摸瓜地去学习自己尚未掌握的技术、方法、概念。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8B92688-1EEF-496A-ACED-A64020D5D79E}"/>
              </a:ext>
            </a:extLst>
          </p:cNvPr>
          <p:cNvSpPr txBox="1"/>
          <p:nvPr/>
        </p:nvSpPr>
        <p:spPr>
          <a:xfrm>
            <a:off x="9372600" y="1143000"/>
            <a:ext cx="2228850" cy="26670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读后思考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1DC1345-447B-4E15-9A43-49898FD073AF}"/>
              </a:ext>
            </a:extLst>
          </p:cNvPr>
          <p:cNvSpPr txBox="1"/>
          <p:nvPr/>
        </p:nvSpPr>
        <p:spPr>
          <a:xfrm>
            <a:off x="8382000" y="1638300"/>
            <a:ext cx="3352800" cy="31432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阅读论文既包括对论文本身的阅读，又包括阅读后的思考。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最好是分配 </a:t>
            </a: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40%</a:t>
            </a: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 的精力读论文，</a:t>
            </a: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60%</a:t>
            </a: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 以上的精力去思考。</a:t>
            </a:r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用带有批判性的眼光去思考论文中的问题，用带有创造性的头脑思考针对这一问题的解决方法（下一页展开）。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E1F5B55-6E49-4429-9C3C-789711B03642}"/>
              </a:ext>
            </a:extLst>
          </p:cNvPr>
          <p:cNvSpPr txBox="1"/>
          <p:nvPr/>
        </p:nvSpPr>
        <p:spPr>
          <a:xfrm>
            <a:off x="457200" y="5505450"/>
            <a:ext cx="11277600" cy="5760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写在前面   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每个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Topic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发展的历程都是无数聪明人智慧和汗水铺就的，这里面会有一条前后衔接的线索。某一天当你突然把头脑中杂乱的东西串成一线，你就会顿时觉得豁然开朗：“啊，原来是这样！”，这时你就开始尝到研究带来的乐趣了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28ED536-422A-4D0C-932D-83DBB3E6E11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第三篇 如何读论文？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ADAF7D6-7021-4720-BD5D-89A968E48C7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13 / 86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6E765BE-1D60-495A-B59D-A00DBBA2FE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EFC095B6-6148-4D56-8757-43693E9314E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77654BE-6518-4CD8-9404-A14CF1ADC8EF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95D2C14-4A95-44FC-9862-E5787355C539}"/>
              </a:ext>
            </a:extLst>
          </p:cNvPr>
          <p:cNvSpPr/>
          <p:nvPr/>
        </p:nvSpPr>
        <p:spPr>
          <a:xfrm>
            <a:off x="304800" y="876300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B0A647A-167A-4201-89DE-A2CA87567C59}"/>
              </a:ext>
            </a:extLst>
          </p:cNvPr>
          <p:cNvSpPr/>
          <p:nvPr/>
        </p:nvSpPr>
        <p:spPr>
          <a:xfrm>
            <a:off x="6248400" y="876300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6DAE626-CCC4-46C1-8135-99D811592645}"/>
              </a:ext>
            </a:extLst>
          </p:cNvPr>
          <p:cNvSpPr/>
          <p:nvPr/>
        </p:nvSpPr>
        <p:spPr>
          <a:xfrm>
            <a:off x="304800" y="2247900"/>
            <a:ext cx="5638800" cy="37814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2367E80-D316-4444-BDC7-728040E59586}"/>
              </a:ext>
            </a:extLst>
          </p:cNvPr>
          <p:cNvSpPr/>
          <p:nvPr/>
        </p:nvSpPr>
        <p:spPr>
          <a:xfrm>
            <a:off x="6248400" y="2247900"/>
            <a:ext cx="5638800" cy="3781425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A8A7437-0C01-4632-8380-53A6351D7529}"/>
              </a:ext>
            </a:extLst>
          </p:cNvPr>
          <p:cNvSpPr/>
          <p:nvPr/>
        </p:nvSpPr>
        <p:spPr>
          <a:xfrm>
            <a:off x="457200" y="24765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华文中宋"/>
              </a:rPr>
              <a:t>批判性思考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8AD5ED3-4FF7-4A5B-953D-3870EDE54767}"/>
              </a:ext>
            </a:extLst>
          </p:cNvPr>
          <p:cNvSpPr/>
          <p:nvPr/>
        </p:nvSpPr>
        <p:spPr>
          <a:xfrm>
            <a:off x="6400800" y="24765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华文中宋"/>
              </a:rPr>
              <a:t>创造性思考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A342DA-750B-46C3-8D7C-D5034F46F7AF}"/>
              </a:ext>
            </a:extLst>
          </p:cNvPr>
          <p:cNvSpPr txBox="1"/>
          <p:nvPr/>
        </p:nvSpPr>
        <p:spPr>
          <a:xfrm>
            <a:off x="304800" y="152400"/>
            <a:ext cx="819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四成精力阅读，六成以上精力思考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37B0E4-CE26-4E4A-B2ED-6A55A338D623}"/>
              </a:ext>
            </a:extLst>
          </p:cNvPr>
          <p:cNvSpPr txBox="1"/>
          <p:nvPr/>
        </p:nvSpPr>
        <p:spPr>
          <a:xfrm>
            <a:off x="533400" y="1028700"/>
            <a:ext cx="2095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0B56A8"/>
                </a:solidFill>
                <a:latin typeface="Times New Roman"/>
                <a:ea typeface="Times New Roman"/>
              </a:rPr>
              <a:t>40%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95C0ADE-A8C9-4EEE-893B-1B56F27D584B}"/>
              </a:ext>
            </a:extLst>
          </p:cNvPr>
          <p:cNvSpPr txBox="1"/>
          <p:nvPr/>
        </p:nvSpPr>
        <p:spPr>
          <a:xfrm>
            <a:off x="2724150" y="123825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的精力用来读论文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D10421A-2E46-4C29-A193-478424FD244F}"/>
              </a:ext>
            </a:extLst>
          </p:cNvPr>
          <p:cNvSpPr txBox="1"/>
          <p:nvPr/>
        </p:nvSpPr>
        <p:spPr>
          <a:xfrm>
            <a:off x="6477000" y="1028700"/>
            <a:ext cx="2095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86D35"/>
                </a:solidFill>
                <a:latin typeface="Times New Roman"/>
                <a:ea typeface="Times New Roman"/>
              </a:rPr>
              <a:t>60%+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C0A7CB6-74FD-464D-BB58-D71E1FD3265A}"/>
              </a:ext>
            </a:extLst>
          </p:cNvPr>
          <p:cNvSpPr txBox="1"/>
          <p:nvPr/>
        </p:nvSpPr>
        <p:spPr>
          <a:xfrm>
            <a:off x="8667750" y="123825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的精力用来思考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52B6742-4998-4967-986B-9275B4C5726E}"/>
              </a:ext>
            </a:extLst>
          </p:cNvPr>
          <p:cNvSpPr txBox="1"/>
          <p:nvPr/>
        </p:nvSpPr>
        <p:spPr>
          <a:xfrm>
            <a:off x="8667750" y="1485900"/>
            <a:ext cx="30670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阅读后的思考与阅读本身同样重要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EF732D7-59D3-477E-85BC-916140E24363}"/>
              </a:ext>
            </a:extLst>
          </p:cNvPr>
          <p:cNvSpPr txBox="1"/>
          <p:nvPr/>
        </p:nvSpPr>
        <p:spPr>
          <a:xfrm>
            <a:off x="457200" y="3124200"/>
            <a:ext cx="5334000" cy="30480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阅读论文时，不要让作者牵着自己的思路走。每当作者提出假设、给出解决方案时，都要尝试思考：</a:t>
            </a:r>
          </a:p>
          <a:p>
            <a:pPr>
              <a:lnSpc>
                <a:spcPct val="145000"/>
              </a:lnSpc>
              <a:spcBef>
                <a:spcPts val="1660"/>
              </a:spcBef>
            </a:pP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假设条件是否成立？</a:t>
            </a:r>
          </a:p>
          <a:p>
            <a:pPr>
              <a:lnSpc>
                <a:spcPct val="145000"/>
              </a:lnSpc>
              <a:spcBef>
                <a:spcPts val="1260"/>
              </a:spcBef>
            </a:pP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提出的问题是否合理？</a:t>
            </a:r>
          </a:p>
          <a:p>
            <a:pPr>
              <a:lnSpc>
                <a:spcPct val="145000"/>
              </a:lnSpc>
              <a:spcBef>
                <a:spcPts val="1260"/>
              </a:spcBef>
            </a:pP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解决方法有没有缺陷？</a:t>
            </a:r>
          </a:p>
          <a:p>
            <a:pPr>
              <a:lnSpc>
                <a:spcPct val="145000"/>
              </a:lnSpc>
              <a:spcBef>
                <a:spcPts val="1660"/>
              </a:spcBef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敢于怀疑与挑战，不放过一切疑问，说不定你就能找到一些新的问题，进而提出新的方法。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BF67452-F748-40C5-8383-F3A0F86D5278}"/>
              </a:ext>
            </a:extLst>
          </p:cNvPr>
          <p:cNvSpPr txBox="1"/>
          <p:nvPr/>
        </p:nvSpPr>
        <p:spPr>
          <a:xfrm>
            <a:off x="6400800" y="3124200"/>
            <a:ext cx="5448300" cy="30480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理解论文的研究问题，假设这个问题交给你来做，你会采用什么方法去做？</a:t>
            </a:r>
          </a:p>
          <a:p>
            <a:pPr>
              <a:lnSpc>
                <a:spcPct val="145000"/>
              </a:lnSpc>
              <a:spcBef>
                <a:spcPts val="3379"/>
              </a:spcBef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你的解决方案和作者提出的解决方案各有什么优劣？</a:t>
            </a:r>
          </a:p>
          <a:p>
            <a:pPr>
              <a:lnSpc>
                <a:spcPct val="145000"/>
              </a:lnSpc>
              <a:spcBef>
                <a:spcPts val="3379"/>
              </a:spcBef>
            </a:pPr>
            <a:r>
              <a:rPr sz="1300" b="1">
                <a:solidFill>
                  <a:srgbClr val="E86D35"/>
                </a:solidFill>
                <a:latin typeface="Times New Roman"/>
                <a:ea typeface="华文中宋"/>
              </a:rPr>
              <a:t>这就是创造性思考。</a:t>
            </a:r>
          </a:p>
          <a:p>
            <a:pPr>
              <a:lnSpc>
                <a:spcPct val="145000"/>
              </a:lnSpc>
              <a:spcBef>
                <a:spcPts val="3379"/>
              </a:spcBef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两种思考不是读完之后再做的事，而是从读第一篇就开始的习惯（参见《如何想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？》中“批判性论文阅读”一节）。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26F3B62-FB11-4B43-8C10-99B8F79C773D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第三篇 如何读论文？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86ACFED-9107-43F3-AE29-1274AB1FA7DB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14 / 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B83EECD-FC2C-4A9E-998C-D85BB32993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1C2EACB-A9A1-4650-9B53-42B1F00FCA9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D2C28D8-70D4-4D0A-B20B-240B8FC20C2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E3CF95B-A54F-41E4-A72A-ED6FDA8194AA}"/>
              </a:ext>
            </a:extLst>
          </p:cNvPr>
          <p:cNvSpPr/>
          <p:nvPr/>
        </p:nvSpPr>
        <p:spPr>
          <a:xfrm>
            <a:off x="304800" y="1219200"/>
            <a:ext cx="5638800" cy="365760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6753169-8246-474D-B7FB-695CA4CD3B7F}"/>
              </a:ext>
            </a:extLst>
          </p:cNvPr>
          <p:cNvSpPr/>
          <p:nvPr/>
        </p:nvSpPr>
        <p:spPr>
          <a:xfrm>
            <a:off x="6248400" y="1219200"/>
            <a:ext cx="5638800" cy="3657600"/>
          </a:xfrm>
          <a:prstGeom prst="roundRect">
            <a:avLst>
              <a:gd name="adj" fmla="val 225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BDF4F66-E8A5-4117-9047-B314DBA9D6FA}"/>
              </a:ext>
            </a:extLst>
          </p:cNvPr>
          <p:cNvSpPr/>
          <p:nvPr/>
        </p:nvSpPr>
        <p:spPr>
          <a:xfrm>
            <a:off x="457200" y="14478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Problem-driven Research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074696D-DD68-41AB-B976-16BAA7C8C59E}"/>
              </a:ext>
            </a:extLst>
          </p:cNvPr>
          <p:cNvSpPr/>
          <p:nvPr/>
        </p:nvSpPr>
        <p:spPr>
          <a:xfrm>
            <a:off x="6400800" y="14478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Method-driven Research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1AA5C5D-AC90-49FC-BBA8-49206293BF49}"/>
              </a:ext>
            </a:extLst>
          </p:cNvPr>
          <p:cNvSpPr/>
          <p:nvPr/>
        </p:nvSpPr>
        <p:spPr>
          <a:xfrm>
            <a:off x="304800" y="5676900"/>
            <a:ext cx="11582400" cy="647700"/>
          </a:xfrm>
          <a:prstGeom prst="roundRect">
            <a:avLst>
              <a:gd name="adj" fmla="val 14705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B4AA44-2B7E-493E-A948-16674C36A50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Problem-driven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与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Method-driven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8D7FB08-FB95-43F3-A988-70F41834A8BE}"/>
              </a:ext>
            </a:extLst>
          </p:cNvPr>
          <p:cNvSpPr txBox="1"/>
          <p:nvPr/>
        </p:nvSpPr>
        <p:spPr>
          <a:xfrm>
            <a:off x="304800" y="857250"/>
            <a:ext cx="7620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5B6B7C"/>
                </a:solidFill>
                <a:latin typeface="Times New Roman"/>
                <a:ea typeface="华文中宋"/>
              </a:rPr>
              <a:t>想 </a:t>
            </a:r>
            <a:r>
              <a:rPr sz="1400">
                <a:solidFill>
                  <a:srgbClr val="5B6B7C"/>
                </a:solidFill>
                <a:latin typeface="Times New Roman"/>
                <a:ea typeface="Times New Roman"/>
              </a:rPr>
              <a:t>Idea</a:t>
            </a:r>
            <a:r>
              <a:rPr sz="1400">
                <a:solidFill>
                  <a:srgbClr val="5B6B7C"/>
                </a:solidFill>
                <a:latin typeface="Times New Roman"/>
                <a:ea typeface="华文中宋"/>
              </a:rPr>
              <a:t> 主要分成两步：选择一个好的研究问题，寻求问题的解决方案。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FC2499-6EA1-4B2F-96F1-A43FCF091368}"/>
              </a:ext>
            </a:extLst>
          </p:cNvPr>
          <p:cNvSpPr txBox="1"/>
          <p:nvPr/>
        </p:nvSpPr>
        <p:spPr>
          <a:xfrm>
            <a:off x="457200" y="203835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找到一个重要的问题或者目标，想办法把它做好。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37676D3-36FA-4258-AADC-592FC6B3A9ED}"/>
              </a:ext>
            </a:extLst>
          </p:cNvPr>
          <p:cNvSpPr txBox="1"/>
          <p:nvPr/>
        </p:nvSpPr>
        <p:spPr>
          <a:xfrm>
            <a:off x="457200" y="2400300"/>
            <a:ext cx="5334000" cy="2857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a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大模型在某个任务上性能不好，如何把性能提上去？可以先确定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1-2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个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，再尝试探索各种相关的技术，目标就是把任务做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work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b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也可以尝试去构建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，把一个问题定义清楚。比如游戏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Agent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方向，希望探究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LLM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在某任务上的性能，但还没有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支持类似评估，就可以去定义一个新的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c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或者在领域通用的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上，对已有的技术方案进行问题分析，找到其中存在的关键挑战和问题，比如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GRPO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的效率问题、信用分配问题等等，然后去尝试改进和优化。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FE07627-02D2-4613-BA23-693B88B2512C}"/>
              </a:ext>
            </a:extLst>
          </p:cNvPr>
          <p:cNvSpPr txBox="1"/>
          <p:nvPr/>
        </p:nvSpPr>
        <p:spPr>
          <a:xfrm>
            <a:off x="6400800" y="203835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拿着锤子找钉子：基于已有技术方案，不断解决新问题。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7D5DC60-05C8-4366-8D25-CC989E382683}"/>
              </a:ext>
            </a:extLst>
          </p:cNvPr>
          <p:cNvSpPr txBox="1"/>
          <p:nvPr/>
        </p:nvSpPr>
        <p:spPr>
          <a:xfrm>
            <a:off x="6400800" y="2400300"/>
            <a:ext cx="5448300" cy="2857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比如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GRPO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刚出来的时候，拿来做多模态推理、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Agentic RL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；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Skill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火的时候，去解决各种数学、医疗、司法垂域问题。</a:t>
            </a: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这类路径的起点是技术本身：先掌握一个方法，再去寻找它能解决的场景。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DB56BF6-9F62-4174-B726-DFAC8716F48E}"/>
              </a:ext>
            </a:extLst>
          </p:cNvPr>
          <p:cNvSpPr txBox="1"/>
          <p:nvPr/>
        </p:nvSpPr>
        <p:spPr>
          <a:xfrm>
            <a:off x="533400" y="5810250"/>
            <a:ext cx="10820400" cy="5867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两种路径很多时候都是要融合的。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大部分情况下我们更偏好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Problem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或者说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Goal-driven research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，在这个过程中去对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method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进行适配和优化。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9FA4FCB-8428-40F7-8969-B2970AAA3F8B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第四篇 如何想 Idea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EEABE34-B3A1-4CAA-94D7-A4CE20A788E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15 /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7960781-49B3-4B27-ABAF-26A791E37E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6DE3EEDE-577A-4064-96F5-D0293E1ED6C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07AAAF7-BD72-486E-976E-8A04AF0884AD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15BDD42-67FE-48D3-A85B-DCDF568F8640}"/>
              </a:ext>
            </a:extLst>
          </p:cNvPr>
          <p:cNvSpPr/>
          <p:nvPr/>
        </p:nvSpPr>
        <p:spPr>
          <a:xfrm>
            <a:off x="304800" y="876300"/>
            <a:ext cx="5638800" cy="200025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A6F9B21-A59E-4099-80CC-E55492289817}"/>
              </a:ext>
            </a:extLst>
          </p:cNvPr>
          <p:cNvSpPr/>
          <p:nvPr/>
        </p:nvSpPr>
        <p:spPr>
          <a:xfrm>
            <a:off x="304800" y="2971800"/>
            <a:ext cx="5638800" cy="11334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78A2F4-9D79-4358-BEF9-DD889A9B4EBC}"/>
              </a:ext>
            </a:extLst>
          </p:cNvPr>
          <p:cNvSpPr/>
          <p:nvPr/>
        </p:nvSpPr>
        <p:spPr>
          <a:xfrm>
            <a:off x="304800" y="4495800"/>
            <a:ext cx="5638800" cy="16478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8B93C76-5F7B-4DD7-BA4D-C0776A5D93D4}"/>
              </a:ext>
            </a:extLst>
          </p:cNvPr>
          <p:cNvSpPr/>
          <p:nvPr/>
        </p:nvSpPr>
        <p:spPr>
          <a:xfrm>
            <a:off x="6248400" y="876300"/>
            <a:ext cx="5638800" cy="14287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054FB7E-90AE-4B4A-AA4D-085743A6B49B}"/>
              </a:ext>
            </a:extLst>
          </p:cNvPr>
          <p:cNvSpPr/>
          <p:nvPr/>
        </p:nvSpPr>
        <p:spPr>
          <a:xfrm>
            <a:off x="6248400" y="2400300"/>
            <a:ext cx="5638800" cy="14287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DBFD8DB-139E-4788-B94A-185A460C8945}"/>
              </a:ext>
            </a:extLst>
          </p:cNvPr>
          <p:cNvSpPr/>
          <p:nvPr/>
        </p:nvSpPr>
        <p:spPr>
          <a:xfrm>
            <a:off x="6248400" y="3924300"/>
            <a:ext cx="5638800" cy="1447800"/>
          </a:xfrm>
          <a:prstGeom prst="roundRect">
            <a:avLst>
              <a:gd name="adj" fmla="val 4761"/>
            </a:avLst>
          </a:prstGeom>
          <a:solidFill>
            <a:srgbClr val="FDF8F0"/>
          </a:solidFill>
          <a:ln w="12700">
            <a:solidFill>
              <a:srgbClr val="E86D3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F55963F-4BF7-4F08-8098-0CDB92CC20D2}"/>
              </a:ext>
            </a:extLst>
          </p:cNvPr>
          <p:cNvSpPr/>
          <p:nvPr/>
        </p:nvSpPr>
        <p:spPr>
          <a:xfrm>
            <a:off x="495300" y="10477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349CFF0-8A34-4057-BA42-B9770C07EFDD}"/>
              </a:ext>
            </a:extLst>
          </p:cNvPr>
          <p:cNvSpPr/>
          <p:nvPr/>
        </p:nvSpPr>
        <p:spPr>
          <a:xfrm>
            <a:off x="495300" y="31432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9B416E3-4465-45A8-8122-88B57F270670}"/>
              </a:ext>
            </a:extLst>
          </p:cNvPr>
          <p:cNvSpPr/>
          <p:nvPr/>
        </p:nvSpPr>
        <p:spPr>
          <a:xfrm>
            <a:off x="495300" y="46672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74ECC1D-3729-4F54-86B5-9A15FD216012}"/>
              </a:ext>
            </a:extLst>
          </p:cNvPr>
          <p:cNvSpPr/>
          <p:nvPr/>
        </p:nvSpPr>
        <p:spPr>
          <a:xfrm>
            <a:off x="6438900" y="10477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AF082C3-632A-4D78-9127-14EAA8C0756E}"/>
              </a:ext>
            </a:extLst>
          </p:cNvPr>
          <p:cNvSpPr/>
          <p:nvPr/>
        </p:nvSpPr>
        <p:spPr>
          <a:xfrm>
            <a:off x="6438900" y="25717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56E6FDD-5DA8-42F0-A41C-C93110574167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如何找到研究问题：五个入口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7737850-5C85-49E0-A7E8-5117F625D965}"/>
              </a:ext>
            </a:extLst>
          </p:cNvPr>
          <p:cNvSpPr txBox="1"/>
          <p:nvPr/>
        </p:nvSpPr>
        <p:spPr>
          <a:xfrm>
            <a:off x="952500" y="1104900"/>
            <a:ext cx="4838700" cy="23622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批判性论文阅读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A93231D-3935-43D5-9DB2-2B48610EE9DF}"/>
              </a:ext>
            </a:extLst>
          </p:cNvPr>
          <p:cNvSpPr txBox="1"/>
          <p:nvPr/>
        </p:nvSpPr>
        <p:spPr>
          <a:xfrm>
            <a:off x="952500" y="1409700"/>
            <a:ext cx="4762500" cy="15240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阅读时要尝试“鸡蛋里面挑骨头”，多去思考论文存在的不足和问题，从而提出新的问题。把“读文献”和“提问题”绑在一起，而不是分成两个阶段，要主动思考“如果这个论文换个数据／换个假设会怎样”。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很多研究生前一两年读了大量文献却提不出问题，就是因为读的时候只在“理解”，没有在“批判性质疑”。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6DD1B65-ECA9-472D-BDE8-40BACBCAA998}"/>
              </a:ext>
            </a:extLst>
          </p:cNvPr>
          <p:cNvSpPr txBox="1"/>
          <p:nvPr/>
        </p:nvSpPr>
        <p:spPr>
          <a:xfrm>
            <a:off x="952500" y="3200400"/>
            <a:ext cx="4838700" cy="23622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从失败中寻找机会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0D3C972-66C7-4B95-9504-8F44E9ECAEF1}"/>
              </a:ext>
            </a:extLst>
          </p:cNvPr>
          <p:cNvSpPr txBox="1"/>
          <p:nvPr/>
        </p:nvSpPr>
        <p:spPr>
          <a:xfrm>
            <a:off x="952500" y="3505200"/>
            <a:ext cx="4762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要思考当前的主流方案有哪些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failure case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，主动寻找和复现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failure case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，深入分析为什么会出现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failure case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，探究其背后的原因，尝试提出解决方案。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0A521A7-66AC-4810-97B8-6D523B2B41B6}"/>
              </a:ext>
            </a:extLst>
          </p:cNvPr>
          <p:cNvSpPr txBox="1"/>
          <p:nvPr/>
        </p:nvSpPr>
        <p:spPr>
          <a:xfrm>
            <a:off x="952500" y="4724400"/>
            <a:ext cx="4838700" cy="23622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从“是否有效、为什么有效”反推机制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E10D301-94D8-4086-95F0-D9CB6C14F1F5}"/>
              </a:ext>
            </a:extLst>
          </p:cNvPr>
          <p:cNvSpPr txBox="1"/>
          <p:nvPr/>
        </p:nvSpPr>
        <p:spPr>
          <a:xfrm>
            <a:off x="952500" y="5029200"/>
            <a:ext cx="4762500" cy="14287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对一个效果很好、但缺乏解释的方法主动追问“它内部到底在做什么、为什么能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work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”，通过设计实验去进行算法分析。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reverse-engineering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式的问题往往比“设计一个新方法”更容易找到明确的切入口：有一个已经确定有效的现象作为锚点，只需要设计实验或理论工具去拆解它。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12C004-27CB-4F9C-BCB3-F1D5FDB2A64B}"/>
              </a:ext>
            </a:extLst>
          </p:cNvPr>
          <p:cNvSpPr txBox="1"/>
          <p:nvPr/>
        </p:nvSpPr>
        <p:spPr>
          <a:xfrm>
            <a:off x="6896100" y="1104900"/>
            <a:ext cx="4838700" cy="23622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矛盾与不一致驱动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2074766-4EAD-43A5-B473-FD9ADE45B6EC}"/>
              </a:ext>
            </a:extLst>
          </p:cNvPr>
          <p:cNvSpPr txBox="1"/>
          <p:nvPr/>
        </p:nvSpPr>
        <p:spPr>
          <a:xfrm>
            <a:off x="6896100" y="1409700"/>
            <a:ext cx="4762500" cy="981456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留意文献里彼此矛盾的结论：两篇论文用相似的设定，却得出不一样甚至相反的结果。矛盾本身就是一个现成的研究问题：为什么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A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和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B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不一致？是数据、假设、评测方式，还是某个隐藏变量的差异导致的？这类问题已经被“半定义”好了。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8ED069F-A026-4F7D-BFA2-9C3E217E26E7}"/>
              </a:ext>
            </a:extLst>
          </p:cNvPr>
          <p:cNvSpPr txBox="1"/>
          <p:nvPr/>
        </p:nvSpPr>
        <p:spPr>
          <a:xfrm>
            <a:off x="6896100" y="2628900"/>
            <a:ext cx="4838700" cy="23622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从真实应用场景中倒推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D003446-F14F-43C8-80E6-77CDB391F171}"/>
              </a:ext>
            </a:extLst>
          </p:cNvPr>
          <p:cNvSpPr txBox="1"/>
          <p:nvPr/>
        </p:nvSpPr>
        <p:spPr>
          <a:xfrm>
            <a:off x="6896100" y="2933700"/>
            <a:ext cx="47625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从企业真实的需求和痛点出发：如果有企业实习的机会，期间要多去了解企业的真实难点，看看哪些可以抽象成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Research Problem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；也可以查看企业发布的各种项目指南。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1D7684E-003A-44FF-9401-5A83BDD38505}"/>
              </a:ext>
            </a:extLst>
          </p:cNvPr>
          <p:cNvSpPr txBox="1"/>
          <p:nvPr/>
        </p:nvSpPr>
        <p:spPr>
          <a:xfrm>
            <a:off x="6400800" y="415290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代表性案例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37872BC-3FCE-463C-9EE3-B94048888D35}"/>
              </a:ext>
            </a:extLst>
          </p:cNvPr>
          <p:cNvSpPr txBox="1"/>
          <p:nvPr/>
        </p:nvSpPr>
        <p:spPr>
          <a:xfrm>
            <a:off x="6400800" y="443865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清华大学黄高老师团队的 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NeurIPS 2025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8F03EEC-93E6-430B-8B65-600E1B4FB354}"/>
              </a:ext>
            </a:extLst>
          </p:cNvPr>
          <p:cNvSpPr txBox="1"/>
          <p:nvPr/>
        </p:nvSpPr>
        <p:spPr>
          <a:xfrm>
            <a:off x="6400800" y="4762500"/>
            <a:ext cx="5334000" cy="10477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 i="1">
                <a:solidFill>
                  <a:srgbClr val="E86D35"/>
                </a:solidFill>
                <a:latin typeface="Times New Roman"/>
                <a:ea typeface="Times New Roman"/>
              </a:rPr>
              <a:t>Does Reinforcement Learning Really Incentivize Reasoning Capacity in LLMs Beyond the Base Model?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E2DFCBC-5323-4D20-88ED-2858E5E6E4EC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第四篇 如何想 Idea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896EE52-F19E-4777-885E-9BD845DD46C9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16 / 86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00803CE-DA55-4917-B97B-4A3B877450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A1AE8705-7B31-4384-B835-59DDBD6A667E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6C1955F-2666-47E4-82EE-08804B9D3B0D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CED5157-B750-4604-837A-14AAF0717B53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判断价值，与四类解决方案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E908608-1297-449B-A36F-DAAB2246660B}"/>
              </a:ext>
            </a:extLst>
          </p:cNvPr>
          <p:cNvSpPr/>
          <p:nvPr/>
        </p:nvSpPr>
        <p:spPr>
          <a:xfrm>
            <a:off x="304800" y="838200"/>
            <a:ext cx="11582400" cy="857250"/>
          </a:xfrm>
          <a:prstGeom prst="roundRect">
            <a:avLst>
              <a:gd name="adj" fmla="val 1111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9B3E58-2256-4847-B3A5-07FB15B0771E}"/>
              </a:ext>
            </a:extLst>
          </p:cNvPr>
          <p:cNvSpPr txBox="1"/>
          <p:nvPr/>
        </p:nvSpPr>
        <p:spPr>
          <a:xfrm>
            <a:off x="457200" y="952500"/>
            <a:ext cx="112776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如何判断一个问题值不值得做　</a:t>
            </a: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通常情况下，需要和导师沟通讨论来判断该问题是不是值得做。等成为高年级博士生之后，就需要有独立的价值判断能力。一个很简单的标准：这个问题是不是让你感到兴奋？是不是该方向的瓶颈问题？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7E0E89-B8E5-41C8-BFA8-9A7DA0679CFA}"/>
              </a:ext>
            </a:extLst>
          </p:cNvPr>
          <p:cNvSpPr txBox="1"/>
          <p:nvPr/>
        </p:nvSpPr>
        <p:spPr>
          <a:xfrm>
            <a:off x="304800" y="184785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如何解决问题？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FCCD814-8176-4E78-96AE-4FE1CD9F3593}"/>
              </a:ext>
            </a:extLst>
          </p:cNvPr>
          <p:cNvSpPr/>
          <p:nvPr/>
        </p:nvSpPr>
        <p:spPr>
          <a:xfrm>
            <a:off x="304800" y="2343150"/>
            <a:ext cx="5638800" cy="17430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6D5EBAE-7A7D-45DC-B3D7-74B408B5B8BF}"/>
              </a:ext>
            </a:extLst>
          </p:cNvPr>
          <p:cNvSpPr/>
          <p:nvPr/>
        </p:nvSpPr>
        <p:spPr>
          <a:xfrm>
            <a:off x="457200" y="247650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迁移型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BD0AC31-FD77-4AFF-AE9C-17DFCFC3178A}"/>
              </a:ext>
            </a:extLst>
          </p:cNvPr>
          <p:cNvSpPr txBox="1"/>
          <p:nvPr/>
        </p:nvSpPr>
        <p:spPr>
          <a:xfrm>
            <a:off x="457200" y="28956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从其他领域借鉴成熟的方法、技术或理论，以解决当前领域尚未被解决的问题；需要广泛阅读文献，寻找问题内核相同的技术。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例：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ViT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将注意力机制从文本领域迁移到图像领域。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CB222E9-94A8-407B-B8EA-13A164BAD0F0}"/>
              </a:ext>
            </a:extLst>
          </p:cNvPr>
          <p:cNvSpPr/>
          <p:nvPr/>
        </p:nvSpPr>
        <p:spPr>
          <a:xfrm>
            <a:off x="6248400" y="2343150"/>
            <a:ext cx="5638800" cy="17430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2061A52-CF8E-4EA9-9D5E-FBB46FBF1602}"/>
              </a:ext>
            </a:extLst>
          </p:cNvPr>
          <p:cNvSpPr/>
          <p:nvPr/>
        </p:nvSpPr>
        <p:spPr>
          <a:xfrm>
            <a:off x="6400800" y="247650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结合型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FC03937-5486-41BA-800D-002F998AC1F7}"/>
              </a:ext>
            </a:extLst>
          </p:cNvPr>
          <p:cNvSpPr txBox="1"/>
          <p:nvPr/>
        </p:nvSpPr>
        <p:spPr>
          <a:xfrm>
            <a:off x="6400800" y="28956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能不能把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和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拼接起来？这里指的不是简单的拼接，而是具有创新性的组合。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例：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DQN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把深度学习和强化学习结合起来，可以解决传统强化学习难以感知图像画面的问题。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15D677F-1402-4EB5-A0BA-9A622D3FE449}"/>
              </a:ext>
            </a:extLst>
          </p:cNvPr>
          <p:cNvSpPr/>
          <p:nvPr/>
        </p:nvSpPr>
        <p:spPr>
          <a:xfrm>
            <a:off x="304800" y="4343400"/>
            <a:ext cx="5638800" cy="17430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108ED4F-BA96-4B3B-AD59-5909B2B92EAC}"/>
              </a:ext>
            </a:extLst>
          </p:cNvPr>
          <p:cNvSpPr/>
          <p:nvPr/>
        </p:nvSpPr>
        <p:spPr>
          <a:xfrm>
            <a:off x="457200" y="447675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开创型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1A3FDF1-0AF4-4C46-9C22-DD07024AAA46}"/>
              </a:ext>
            </a:extLst>
          </p:cNvPr>
          <p:cNvSpPr txBox="1"/>
          <p:nvPr/>
        </p:nvSpPr>
        <p:spPr>
          <a:xfrm>
            <a:off x="457200" y="489585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改变游戏规则。它不是优化已有的思路，而是重新定义问题本身；这个比较难，需要一些智慧与灵感。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例：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AlphaFold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面对蛋白质结构这一世纪难题，没有沿用传统的物理建模思路，而是重构了问题，基于深度学习从蛋白质序列中预测结果。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16A71D1-25A8-487C-A286-F13050440013}"/>
              </a:ext>
            </a:extLst>
          </p:cNvPr>
          <p:cNvSpPr/>
          <p:nvPr/>
        </p:nvSpPr>
        <p:spPr>
          <a:xfrm>
            <a:off x="6248400" y="4343400"/>
            <a:ext cx="5638800" cy="1743075"/>
          </a:xfrm>
          <a:prstGeom prst="roundRect">
            <a:avLst>
              <a:gd name="adj" fmla="val 5000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F4BEEE01-D41C-411D-B2AE-7A2C319338A1}"/>
              </a:ext>
            </a:extLst>
          </p:cNvPr>
          <p:cNvSpPr/>
          <p:nvPr/>
        </p:nvSpPr>
        <p:spPr>
          <a:xfrm>
            <a:off x="6400800" y="447675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AI 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辅助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1426F57-9DCB-4E3A-A2A7-183B810471AC}"/>
              </a:ext>
            </a:extLst>
          </p:cNvPr>
          <p:cNvSpPr txBox="1"/>
          <p:nvPr/>
        </p:nvSpPr>
        <p:spPr>
          <a:xfrm>
            <a:off x="6400800" y="489585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2026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年，与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的讨论可以帮助你提出不少解决问题的方法。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把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当作一个随时可以讨论的同行者：完整描述问题、约束和已有尝试，让它帮你穷举候选方案，再由你取舍和验证。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9A8E117-D745-4E8D-99A3-524D4CAFF64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第四篇 如何想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Idea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F1D96EB-C5EF-4360-ABE0-F36A30331133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17 / 86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4607AC-3552-4022-B4E5-1B6AD33E66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F7085D30-6D38-4E64-9BC5-33518ECADE63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A4D4EAE-9C8A-4B36-970E-5CF3782CDB57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25494A1-C329-4B6D-A2B2-8DB8FA2FB17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学术汇报的形式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956156-E4CE-48EB-9196-DD9C5362E4DE}"/>
              </a:ext>
            </a:extLst>
          </p:cNvPr>
          <p:cNvSpPr txBox="1"/>
          <p:nvPr/>
        </p:nvSpPr>
        <p:spPr>
          <a:xfrm>
            <a:off x="304800" y="838200"/>
            <a:ext cx="115824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汇报 </a:t>
            </a:r>
            <a:r>
              <a:rPr sz="1400">
                <a:solidFill>
                  <a:srgbClr val="1A2430"/>
                </a:solidFill>
                <a:latin typeface="Times New Roman"/>
                <a:ea typeface="Times New Roman"/>
              </a:rPr>
              <a:t>PPT</a:t>
            </a:r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 不需要炫酷的动画，但要做到基本的美观；字号、行间距和字体统一是最基本的要求。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4E03DA2-758C-46B5-B4FF-8E471A982CF6}"/>
              </a:ext>
            </a:extLst>
          </p:cNvPr>
          <p:cNvSpPr/>
          <p:nvPr/>
        </p:nvSpPr>
        <p:spPr>
          <a:xfrm>
            <a:off x="304800" y="1219200"/>
            <a:ext cx="3733800" cy="914400"/>
          </a:xfrm>
          <a:prstGeom prst="roundRect">
            <a:avLst>
              <a:gd name="adj" fmla="val 10416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B127FB-2C73-4371-A30E-160DD6A155B5}"/>
              </a:ext>
            </a:extLst>
          </p:cNvPr>
          <p:cNvSpPr txBox="1"/>
          <p:nvPr/>
        </p:nvSpPr>
        <p:spPr>
          <a:xfrm>
            <a:off x="304800" y="1333500"/>
            <a:ext cx="3733800" cy="45720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0B56A8"/>
                </a:solidFill>
                <a:latin typeface="Times New Roman"/>
                <a:ea typeface="Times New Roman"/>
              </a:rPr>
              <a:t>32~36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4A0EA4-F940-4181-A43D-E523A630F09D}"/>
              </a:ext>
            </a:extLst>
          </p:cNvPr>
          <p:cNvSpPr txBox="1"/>
          <p:nvPr/>
        </p:nvSpPr>
        <p:spPr>
          <a:xfrm>
            <a:off x="304800" y="1809750"/>
            <a:ext cx="37338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标题字号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58AE6A7-CE61-40EE-B65D-D91D2F3FBC74}"/>
              </a:ext>
            </a:extLst>
          </p:cNvPr>
          <p:cNvSpPr/>
          <p:nvPr/>
        </p:nvSpPr>
        <p:spPr>
          <a:xfrm>
            <a:off x="4229100" y="1219200"/>
            <a:ext cx="3733800" cy="914400"/>
          </a:xfrm>
          <a:prstGeom prst="roundRect">
            <a:avLst>
              <a:gd name="adj" fmla="val 10416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CBF9B1B-79B6-4591-BA2A-BBBEAD8327E4}"/>
              </a:ext>
            </a:extLst>
          </p:cNvPr>
          <p:cNvSpPr txBox="1"/>
          <p:nvPr/>
        </p:nvSpPr>
        <p:spPr>
          <a:xfrm>
            <a:off x="4229100" y="1333500"/>
            <a:ext cx="3733800" cy="45720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0B56A8"/>
                </a:solidFill>
                <a:latin typeface="Times New Roman"/>
                <a:ea typeface="Times New Roman"/>
              </a:rPr>
              <a:t>18~24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0A1EBC-1DCF-48F3-811E-E0937B6E1DF9}"/>
              </a:ext>
            </a:extLst>
          </p:cNvPr>
          <p:cNvSpPr txBox="1"/>
          <p:nvPr/>
        </p:nvSpPr>
        <p:spPr>
          <a:xfrm>
            <a:off x="4229100" y="1809750"/>
            <a:ext cx="37338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正文字号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D9D642F-2B39-44DB-916F-022743F9C851}"/>
              </a:ext>
            </a:extLst>
          </p:cNvPr>
          <p:cNvSpPr/>
          <p:nvPr/>
        </p:nvSpPr>
        <p:spPr>
          <a:xfrm>
            <a:off x="8153400" y="1219200"/>
            <a:ext cx="3733800" cy="914400"/>
          </a:xfrm>
          <a:prstGeom prst="roundRect">
            <a:avLst>
              <a:gd name="adj" fmla="val 10416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DBD1BDB-3110-4887-8664-AF1355662DE9}"/>
              </a:ext>
            </a:extLst>
          </p:cNvPr>
          <p:cNvSpPr txBox="1"/>
          <p:nvPr/>
        </p:nvSpPr>
        <p:spPr>
          <a:xfrm>
            <a:off x="8153400" y="1333500"/>
            <a:ext cx="3733800" cy="45720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0B56A8"/>
                </a:solidFill>
                <a:latin typeface="Times New Roman"/>
                <a:ea typeface="Times New Roman"/>
              </a:rPr>
              <a:t>1.2~1.5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454FD8B-2189-4D3E-A89F-9F264676D4D6}"/>
              </a:ext>
            </a:extLst>
          </p:cNvPr>
          <p:cNvSpPr txBox="1"/>
          <p:nvPr/>
        </p:nvSpPr>
        <p:spPr>
          <a:xfrm>
            <a:off x="8153400" y="1809750"/>
            <a:ext cx="37338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行间距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11EA2A4-D20E-41F3-A189-6354C7ECDC68}"/>
              </a:ext>
            </a:extLst>
          </p:cNvPr>
          <p:cNvSpPr/>
          <p:nvPr/>
        </p:nvSpPr>
        <p:spPr>
          <a:xfrm>
            <a:off x="304800" y="2324100"/>
            <a:ext cx="5638800" cy="2171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B4EAA96-3F8E-4B06-B058-744BA9C1927C}"/>
              </a:ext>
            </a:extLst>
          </p:cNvPr>
          <p:cNvSpPr/>
          <p:nvPr/>
        </p:nvSpPr>
        <p:spPr>
          <a:xfrm>
            <a:off x="457200" y="245745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版面与字体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C0B96BF-60BB-4DD9-A62A-59F501D8C2CC}"/>
              </a:ext>
            </a:extLst>
          </p:cNvPr>
          <p:cNvSpPr txBox="1"/>
          <p:nvPr/>
        </p:nvSpPr>
        <p:spPr>
          <a:xfrm>
            <a:off x="457200" y="2914650"/>
            <a:ext cx="5334000" cy="2571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不需要炫酷的动画，但要做到基本的美观。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中英文字体设置合理、是否统一：例如中文可以用雅黑、幼圆，英文可以用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Calibri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Times New Roman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等。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字号、行间距设置合理：一般标题字号在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32~36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之间，正文字号在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18~24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之间，行间距在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1.2~1.5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之间。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DEE1D0A-1D7C-47DC-BDA6-241A3ED6364A}"/>
              </a:ext>
            </a:extLst>
          </p:cNvPr>
          <p:cNvSpPr/>
          <p:nvPr/>
        </p:nvSpPr>
        <p:spPr>
          <a:xfrm>
            <a:off x="6248400" y="2324100"/>
            <a:ext cx="5638800" cy="2171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619D0FD-04E2-4188-A2B8-8429AF7E5DA4}"/>
              </a:ext>
            </a:extLst>
          </p:cNvPr>
          <p:cNvSpPr/>
          <p:nvPr/>
        </p:nvSpPr>
        <p:spPr>
          <a:xfrm>
            <a:off x="6400800" y="245745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讲述与吸引注意力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B83604D-F354-4E2C-A96A-8F1DBF25E5B8}"/>
              </a:ext>
            </a:extLst>
          </p:cNvPr>
          <p:cNvSpPr txBox="1"/>
          <p:nvPr/>
        </p:nvSpPr>
        <p:spPr>
          <a:xfrm>
            <a:off x="6400800" y="2914650"/>
            <a:ext cx="5334000" cy="2571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每页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PPT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不要出现大段的文字，每部分文字应该少于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3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行，除非重要引用；讲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PPT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的时候不要逐字读文字。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重要的部分可以添加高亮颜色、底色框吸引听众注意力。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设置关键的目录页、导航页来分解、吸引听众注意力。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有一些图片可以让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来生成，但是要确保内容和逻辑是正确的。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3E79590-BA14-4302-BCE7-3F8BB84E94B5}"/>
              </a:ext>
            </a:extLst>
          </p:cNvPr>
          <p:cNvSpPr/>
          <p:nvPr/>
        </p:nvSpPr>
        <p:spPr>
          <a:xfrm>
            <a:off x="304800" y="5657850"/>
            <a:ext cx="11582400" cy="609600"/>
          </a:xfrm>
          <a:prstGeom prst="roundRect">
            <a:avLst>
              <a:gd name="adj" fmla="val 15625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9F3B16E-3FC3-488B-A59F-417553FA3E2B}"/>
              </a:ext>
            </a:extLst>
          </p:cNvPr>
          <p:cNvSpPr txBox="1"/>
          <p:nvPr/>
        </p:nvSpPr>
        <p:spPr>
          <a:xfrm>
            <a:off x="457200" y="5772150"/>
            <a:ext cx="112776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C845"/>
                </a:solidFill>
                <a:latin typeface="Times New Roman"/>
                <a:ea typeface="华文中宋"/>
              </a:rPr>
              <a:t>延伸阅读　　</a:t>
            </a: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更多制作 </a:t>
            </a:r>
            <a:r>
              <a:rPr sz="1200">
                <a:solidFill>
                  <a:srgbClr val="FFFFFF"/>
                </a:solidFill>
                <a:latin typeface="Times New Roman"/>
                <a:ea typeface="Times New Roman"/>
              </a:rPr>
              <a:t>PPT</a:t>
            </a: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 的基本技巧可参考斯坦福的报告《如何做好学术报告》；大部分内容可参考《如何找论文、读论文》的思考逻辑去进行整理和汇报。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B15F41E-6B81-45A4-B854-4058864424F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第五篇 如何进行学术汇报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F4F4F55-95C4-4D8C-AE28-68DD75F83769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18 / 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EEDCC76-8FB8-4413-9611-0CE1172F80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96B23A20-E266-4D6E-B4CA-13A838E2B63E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39F2191-6D1A-470A-820B-04667473CDF4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CBFB2B7-BB43-4754-9CCA-48FDB05EFC3B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汇报内容的选择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5ED9733-925B-4371-BBF6-232E8AB44363}"/>
              </a:ext>
            </a:extLst>
          </p:cNvPr>
          <p:cNvSpPr/>
          <p:nvPr/>
        </p:nvSpPr>
        <p:spPr>
          <a:xfrm>
            <a:off x="304800" y="838200"/>
            <a:ext cx="11582400" cy="173355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C763413-192A-48AC-B5D5-808FB610E5FC}"/>
              </a:ext>
            </a:extLst>
          </p:cNvPr>
          <p:cNvSpPr/>
          <p:nvPr/>
        </p:nvSpPr>
        <p:spPr>
          <a:xfrm>
            <a:off x="533400" y="102870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EA96F71-2E1C-4D2B-9C1E-A9420FC76A53}"/>
              </a:ext>
            </a:extLst>
          </p:cNvPr>
          <p:cNvSpPr txBox="1"/>
          <p:nvPr/>
        </p:nvSpPr>
        <p:spPr>
          <a:xfrm>
            <a:off x="1066800" y="1047750"/>
            <a:ext cx="952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论文汇报应当选择比较高质量的文章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41B8764-B89A-4D29-BCDC-C1E75C4E50E5}"/>
              </a:ext>
            </a:extLst>
          </p:cNvPr>
          <p:cNvSpPr txBox="1"/>
          <p:nvPr/>
        </p:nvSpPr>
        <p:spPr>
          <a:xfrm>
            <a:off x="1066800" y="1838325"/>
            <a:ext cx="10382250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领域论文非常多，但是很多论文都很水，需要自己做一些价值判断：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① 你有没有从这篇文章中学到一些新东西？ ② 你分享这篇文章希望大家从这篇文章中学到什么？ ③ 你后续是否打算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follow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这篇文章继续往下做？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7151305-A847-447F-ABD4-6A8E1E2704B7}"/>
              </a:ext>
            </a:extLst>
          </p:cNvPr>
          <p:cNvSpPr/>
          <p:nvPr/>
        </p:nvSpPr>
        <p:spPr>
          <a:xfrm>
            <a:off x="304800" y="3095625"/>
            <a:ext cx="11582400" cy="10477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B3E8CC2-E07B-473B-A320-EF1C604AEE81}"/>
              </a:ext>
            </a:extLst>
          </p:cNvPr>
          <p:cNvSpPr/>
          <p:nvPr/>
        </p:nvSpPr>
        <p:spPr>
          <a:xfrm>
            <a:off x="533400" y="32670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B03C480-850A-4A10-B44D-138D27789F02}"/>
              </a:ext>
            </a:extLst>
          </p:cNvPr>
          <p:cNvSpPr txBox="1"/>
          <p:nvPr/>
        </p:nvSpPr>
        <p:spPr>
          <a:xfrm>
            <a:off x="1066800" y="3286125"/>
            <a:ext cx="952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也可以做一个方向的 </a:t>
            </a:r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Tutorial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7EEFBAB-AF55-407E-ABD3-7180491476F2}"/>
              </a:ext>
            </a:extLst>
          </p:cNvPr>
          <p:cNvSpPr txBox="1"/>
          <p:nvPr/>
        </p:nvSpPr>
        <p:spPr>
          <a:xfrm>
            <a:off x="1066800" y="3648075"/>
            <a:ext cx="103822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比如最近出现了一个与我们研究方向相关、比较火热的词，可以介绍一下相关的工作与发展脉络。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F64369A-0621-4E61-909D-D5FAAD3FC9E3}"/>
              </a:ext>
            </a:extLst>
          </p:cNvPr>
          <p:cNvSpPr/>
          <p:nvPr/>
        </p:nvSpPr>
        <p:spPr>
          <a:xfrm>
            <a:off x="304800" y="4238625"/>
            <a:ext cx="11582400" cy="1543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1722E57-969B-49BB-9FFB-754F4356D50D}"/>
              </a:ext>
            </a:extLst>
          </p:cNvPr>
          <p:cNvSpPr/>
          <p:nvPr/>
        </p:nvSpPr>
        <p:spPr>
          <a:xfrm>
            <a:off x="533400" y="44481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4765443-E2BB-4096-950D-C1604F9602F1}"/>
              </a:ext>
            </a:extLst>
          </p:cNvPr>
          <p:cNvSpPr txBox="1"/>
          <p:nvPr/>
        </p:nvSpPr>
        <p:spPr>
          <a:xfrm>
            <a:off x="1066800" y="4467225"/>
            <a:ext cx="7620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多站在听众的角度考虑问题，学会换位思考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7F96172-5481-4B47-BCB6-2CE2A18B2DED}"/>
              </a:ext>
            </a:extLst>
          </p:cNvPr>
          <p:cNvSpPr txBox="1"/>
          <p:nvPr/>
        </p:nvSpPr>
        <p:spPr>
          <a:xfrm>
            <a:off x="1066800" y="4867275"/>
            <a:ext cx="7620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尤其是组会的论文分享，要做到讲的内容能让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80%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以上的人听懂。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因此，需要根据受众的范围、知识水平，来决定是否需要添加额外的前置知识。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7BF83CC-B0D3-464F-AEDA-1A1B3FA4A90B}"/>
              </a:ext>
            </a:extLst>
          </p:cNvPr>
          <p:cNvSpPr/>
          <p:nvPr/>
        </p:nvSpPr>
        <p:spPr>
          <a:xfrm>
            <a:off x="9067800" y="4467225"/>
            <a:ext cx="2819400" cy="1314450"/>
          </a:xfrm>
          <a:prstGeom prst="roundRect">
            <a:avLst>
              <a:gd name="adj" fmla="val 6578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C87B73F-B5A3-4AA8-810E-E159CDD91C2F}"/>
              </a:ext>
            </a:extLst>
          </p:cNvPr>
          <p:cNvSpPr txBox="1"/>
          <p:nvPr/>
        </p:nvSpPr>
        <p:spPr>
          <a:xfrm>
            <a:off x="9067800" y="4752975"/>
            <a:ext cx="2819400" cy="609600"/>
          </a:xfrm>
        </p:spPr>
        <p:txBody>
          <a:bodyPr wrap="square" rtlCol="0" lIns="0" tIns="0" rIns="0" bIns="0" anchor="t"/>
          <a:lstStyle/>
          <a:p>
            <a:pPr algn="ctr"/>
            <a:r>
              <a:rPr sz="4000" b="1">
                <a:solidFill>
                  <a:srgbClr val="E86D35"/>
                </a:solidFill>
                <a:latin typeface="Times New Roman"/>
                <a:ea typeface="Times New Roman"/>
              </a:rPr>
              <a:t>80%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1C7D19A-F8D7-455C-B5E9-96A24CE8B0BB}"/>
              </a:ext>
            </a:extLst>
          </p:cNvPr>
          <p:cNvSpPr txBox="1"/>
          <p:nvPr/>
        </p:nvSpPr>
        <p:spPr>
          <a:xfrm>
            <a:off x="9067800" y="5419725"/>
            <a:ext cx="28194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能听懂的人占比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65319D1-4570-4C83-8D23-765C7C18F02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第五篇 如何进行学术汇报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1570E44-311A-4FAD-A9D6-ECB77899F55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19 / 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C7D303-8A57-4C7A-B2D0-D167A74D6C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41E1ADBB-B496-4FB6-945E-ADD7A9944A5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3F1BD20-C16D-4B73-97EB-59903F0DB8F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4CC1A67-6063-4C78-BB9B-374B6867AF67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汇报时的追问：总体贡献与论文动机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5474CFA-A7F6-42F1-91D3-2DF408D9E967}"/>
              </a:ext>
            </a:extLst>
          </p:cNvPr>
          <p:cNvSpPr/>
          <p:nvPr/>
        </p:nvSpPr>
        <p:spPr>
          <a:xfrm>
            <a:off x="304800" y="838200"/>
            <a:ext cx="11582400" cy="158115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D55FD2-7F1E-4261-812F-C3DA2EE4B340}"/>
              </a:ext>
            </a:extLst>
          </p:cNvPr>
          <p:cNvSpPr txBox="1"/>
          <p:nvPr/>
        </p:nvSpPr>
        <p:spPr>
          <a:xfrm>
            <a:off x="457200" y="990600"/>
            <a:ext cx="1127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针对总体贡献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A0C099B-AA51-405A-AA24-6E39862E6952}"/>
              </a:ext>
            </a:extLst>
          </p:cNvPr>
          <p:cNvSpPr txBox="1"/>
          <p:nvPr/>
        </p:nvSpPr>
        <p:spPr>
          <a:xfrm>
            <a:off x="457200" y="1276350"/>
            <a:ext cx="11277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能否用 </a:t>
            </a:r>
            <a:r>
              <a:rPr sz="1600" b="1">
                <a:solidFill>
                  <a:srgbClr val="1A2430"/>
                </a:solidFill>
                <a:latin typeface="Times New Roman"/>
                <a:ea typeface="Times New Roman"/>
              </a:rPr>
              <a:t>2-3</a:t>
            </a: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 句话总结这篇文章做了什么事情？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BF69141-CB3A-4548-93DF-CC2C3352DA3B}"/>
              </a:ext>
            </a:extLst>
          </p:cNvPr>
          <p:cNvSpPr/>
          <p:nvPr/>
        </p:nvSpPr>
        <p:spPr>
          <a:xfrm>
            <a:off x="533400" y="1695450"/>
            <a:ext cx="10668000" cy="590550"/>
          </a:xfrm>
          <a:prstGeom prst="roundRect">
            <a:avLst>
              <a:gd name="adj" fmla="val 16129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37289F8-6EFF-48BA-ADE1-CE5817837BC8}"/>
              </a:ext>
            </a:extLst>
          </p:cNvPr>
          <p:cNvSpPr txBox="1"/>
          <p:nvPr/>
        </p:nvSpPr>
        <p:spPr>
          <a:xfrm>
            <a:off x="723900" y="1809750"/>
            <a:ext cx="10287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例如：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针对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xxx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问题，提出了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xxx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方法，在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xxx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任务上取得了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xxx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性能。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66FC93C-55E7-4A71-8140-FB3756E669C5}"/>
              </a:ext>
            </a:extLst>
          </p:cNvPr>
          <p:cNvSpPr/>
          <p:nvPr/>
        </p:nvSpPr>
        <p:spPr>
          <a:xfrm>
            <a:off x="304800" y="2552700"/>
            <a:ext cx="11582400" cy="320040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A5B7F92-DF19-496D-B327-6E9034CFF2F8}"/>
              </a:ext>
            </a:extLst>
          </p:cNvPr>
          <p:cNvSpPr txBox="1"/>
          <p:nvPr/>
        </p:nvSpPr>
        <p:spPr>
          <a:xfrm>
            <a:off x="457200" y="2705100"/>
            <a:ext cx="1127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对于论文动机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7867040-72C0-48AB-9175-05B30EB8350B}"/>
              </a:ext>
            </a:extLst>
          </p:cNvPr>
          <p:cNvSpPr txBox="1"/>
          <p:nvPr/>
        </p:nvSpPr>
        <p:spPr>
          <a:xfrm>
            <a:off x="457200" y="3028950"/>
            <a:ext cx="112776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这篇文章想解决什么问题？是在做一个很多人研究的问题，还是提出了一个新问题？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AA76557-7821-45AB-925C-43541B3C4F95}"/>
              </a:ext>
            </a:extLst>
          </p:cNvPr>
          <p:cNvSpPr/>
          <p:nvPr/>
        </p:nvSpPr>
        <p:spPr>
          <a:xfrm>
            <a:off x="533400" y="3733800"/>
            <a:ext cx="10668000" cy="1066800"/>
          </a:xfrm>
          <a:prstGeom prst="roundRect">
            <a:avLst>
              <a:gd name="adj" fmla="val 892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213C73C-B6EE-4D9F-93D2-06823D1C5CCB}"/>
              </a:ext>
            </a:extLst>
          </p:cNvPr>
          <p:cNvSpPr txBox="1"/>
          <p:nvPr/>
        </p:nvSpPr>
        <p:spPr>
          <a:xfrm>
            <a:off x="723900" y="3867150"/>
            <a:ext cx="102870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如果是很多人研究过的问题，目前相关的工作有哪些？相关工作可以分成哪几类？本文工作和已有工作相比，核心的优势、创新点是什么？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7CE86EF-5C5E-4558-986B-CB637B28A5D4}"/>
              </a:ext>
            </a:extLst>
          </p:cNvPr>
          <p:cNvSpPr/>
          <p:nvPr/>
        </p:nvSpPr>
        <p:spPr>
          <a:xfrm>
            <a:off x="533400" y="4933950"/>
            <a:ext cx="10668000" cy="819150"/>
          </a:xfrm>
          <a:prstGeom prst="roundRect">
            <a:avLst>
              <a:gd name="adj" fmla="val 8064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26F2059-9530-4757-BBF8-4032CE67897F}"/>
              </a:ext>
            </a:extLst>
          </p:cNvPr>
          <p:cNvSpPr txBox="1"/>
          <p:nvPr/>
        </p:nvSpPr>
        <p:spPr>
          <a:xfrm>
            <a:off x="723900" y="5067300"/>
            <a:ext cx="102870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如果是一个新问题，那么这个问题是否是真实存在的，还是作者臆想的？什么场景会遇到该问题？解决了这个问题能带来什么好处？有没有简单的方法可以解决这个问题？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02A07A8-1293-4EA4-958E-30F3A999A3E2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第五篇 如何进行学术汇报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77B9EFB-C03D-4239-A72B-7F09042E1BA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20 / 86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60C561D-AE8C-4C6A-B4A1-1C8CD01458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25A9DC1A-FFE4-4DF8-BEBF-7F0E17F2517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A502B55-DA02-4094-99A4-38C9CF6B210B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4484FFC-F2ED-4DA0-A744-B63143073A2B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汇报时的追问：论文方法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9227E63-3051-49BD-93C5-105F2E7F93CA}"/>
              </a:ext>
            </a:extLst>
          </p:cNvPr>
          <p:cNvSpPr/>
          <p:nvPr/>
        </p:nvSpPr>
        <p:spPr>
          <a:xfrm>
            <a:off x="304800" y="838200"/>
            <a:ext cx="4495800" cy="4629150"/>
          </a:xfrm>
          <a:prstGeom prst="roundRect">
            <a:avLst>
              <a:gd name="adj" fmla="val 21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155AF1D-711F-450F-AE73-2A2F142D86F5}"/>
              </a:ext>
            </a:extLst>
          </p:cNvPr>
          <p:cNvSpPr txBox="1"/>
          <p:nvPr/>
        </p:nvSpPr>
        <p:spPr>
          <a:xfrm>
            <a:off x="457200" y="990600"/>
            <a:ext cx="4191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针对论文方法 · 流程与机制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6A0BABE-0584-4A0D-A023-977CF0755D1C}"/>
              </a:ext>
            </a:extLst>
          </p:cNvPr>
          <p:cNvSpPr txBox="1"/>
          <p:nvPr/>
        </p:nvSpPr>
        <p:spPr>
          <a:xfrm>
            <a:off x="457200" y="1398270"/>
            <a:ext cx="4191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华文中宋"/>
              </a:rPr>
              <a:t>本文所提方法的主要流程是什么？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8944050-3B94-4F7E-B979-A0CF4C888B17}"/>
              </a:ext>
            </a:extLst>
          </p:cNvPr>
          <p:cNvSpPr txBox="1"/>
          <p:nvPr/>
        </p:nvSpPr>
        <p:spPr>
          <a:xfrm>
            <a:off x="457200" y="2072640"/>
            <a:ext cx="41910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例如，从算法的输入到输出经过了几个步骤？系统是怎么运行的？包括哪几个模块？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FE4C800-A254-4420-8A40-95BB213C354D}"/>
              </a:ext>
            </a:extLst>
          </p:cNvPr>
          <p:cNvSpPr/>
          <p:nvPr/>
        </p:nvSpPr>
        <p:spPr>
          <a:xfrm>
            <a:off x="533400" y="3032760"/>
            <a:ext cx="114300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25BDE89-6DE5-44A0-BFB0-A23FF2ADEE1E}"/>
              </a:ext>
            </a:extLst>
          </p:cNvPr>
          <p:cNvSpPr txBox="1"/>
          <p:nvPr/>
        </p:nvSpPr>
        <p:spPr>
          <a:xfrm>
            <a:off x="533400" y="3147060"/>
            <a:ext cx="1143000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算法输入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D882409-25CD-4D34-AAB6-84DB114DBE51}"/>
              </a:ext>
            </a:extLst>
          </p:cNvPr>
          <p:cNvSpPr/>
          <p:nvPr/>
        </p:nvSpPr>
        <p:spPr>
          <a:xfrm>
            <a:off x="1905000" y="3032760"/>
            <a:ext cx="114300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816F691-7F91-412D-89DC-AD756BE46B96}"/>
              </a:ext>
            </a:extLst>
          </p:cNvPr>
          <p:cNvSpPr txBox="1"/>
          <p:nvPr/>
        </p:nvSpPr>
        <p:spPr>
          <a:xfrm>
            <a:off x="1905000" y="3147060"/>
            <a:ext cx="1143000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模块与步骤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5760B22-669A-49A2-9410-FE57B2C3AA4C}"/>
              </a:ext>
            </a:extLst>
          </p:cNvPr>
          <p:cNvSpPr/>
          <p:nvPr/>
        </p:nvSpPr>
        <p:spPr>
          <a:xfrm>
            <a:off x="3276600" y="3032760"/>
            <a:ext cx="114300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5953AA8-A76C-479A-A6D9-17D41C3F107C}"/>
              </a:ext>
            </a:extLst>
          </p:cNvPr>
          <p:cNvSpPr txBox="1"/>
          <p:nvPr/>
        </p:nvSpPr>
        <p:spPr>
          <a:xfrm>
            <a:off x="3276600" y="3147060"/>
            <a:ext cx="1143000" cy="4191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系统输出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28DD8E5-6CAD-4C3C-BB7D-6522679A3232}"/>
              </a:ext>
            </a:extLst>
          </p:cNvPr>
          <p:cNvSpPr txBox="1"/>
          <p:nvPr/>
        </p:nvSpPr>
        <p:spPr>
          <a:xfrm>
            <a:off x="457200" y="3764280"/>
            <a:ext cx="4191000" cy="6629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为什么 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xxx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模块是必须的？为什么 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xxx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技术是可行的？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4D034EF-B225-481B-879A-117774D1DF66}"/>
              </a:ext>
            </a:extLst>
          </p:cNvPr>
          <p:cNvSpPr txBox="1"/>
          <p:nvPr/>
        </p:nvSpPr>
        <p:spPr>
          <a:xfrm>
            <a:off x="457200" y="4781550"/>
            <a:ext cx="4191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每一个模块、技术对于作者想要解决的问题有什么作用？需要能逐一说清楚。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E2C8656-25EA-4D81-B9D9-88CA45CC828F}"/>
              </a:ext>
            </a:extLst>
          </p:cNvPr>
          <p:cNvSpPr/>
          <p:nvPr/>
        </p:nvSpPr>
        <p:spPr>
          <a:xfrm>
            <a:off x="4953000" y="838200"/>
            <a:ext cx="6934200" cy="14478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FB101E8-CA9A-4FC3-8395-B829F0CBAA7E}"/>
              </a:ext>
            </a:extLst>
          </p:cNvPr>
          <p:cNvSpPr/>
          <p:nvPr/>
        </p:nvSpPr>
        <p:spPr>
          <a:xfrm>
            <a:off x="5181600" y="10287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BC4215A-A1C3-4D8D-9401-50F71E80CF41}"/>
              </a:ext>
            </a:extLst>
          </p:cNvPr>
          <p:cNvSpPr txBox="1"/>
          <p:nvPr/>
        </p:nvSpPr>
        <p:spPr>
          <a:xfrm>
            <a:off x="5619750" y="1028700"/>
            <a:ext cx="590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在什么场景下该方法适用？什么场景下不适用？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CA2171A-D212-4641-905B-449363EB3C3D}"/>
              </a:ext>
            </a:extLst>
          </p:cNvPr>
          <p:cNvSpPr txBox="1"/>
          <p:nvPr/>
        </p:nvSpPr>
        <p:spPr>
          <a:xfrm>
            <a:off x="5619750" y="1876425"/>
            <a:ext cx="5905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方法的适用边界是汇报里很容易被忽略、但听众最关心的部分。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263895E-688B-4D28-A46D-0B4C63D3E3F1}"/>
              </a:ext>
            </a:extLst>
          </p:cNvPr>
          <p:cNvSpPr/>
          <p:nvPr/>
        </p:nvSpPr>
        <p:spPr>
          <a:xfrm>
            <a:off x="4953000" y="2857500"/>
            <a:ext cx="6934200" cy="10287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64AA038-F2D6-4069-8D47-3EEE90F3E246}"/>
              </a:ext>
            </a:extLst>
          </p:cNvPr>
          <p:cNvSpPr/>
          <p:nvPr/>
        </p:nvSpPr>
        <p:spPr>
          <a:xfrm>
            <a:off x="5181600" y="3048000"/>
            <a:ext cx="285750" cy="2857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9F58D48-CBAC-4115-86C5-1580C3B418E7}"/>
              </a:ext>
            </a:extLst>
          </p:cNvPr>
          <p:cNvSpPr txBox="1"/>
          <p:nvPr/>
        </p:nvSpPr>
        <p:spPr>
          <a:xfrm>
            <a:off x="5619750" y="3048000"/>
            <a:ext cx="590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还有哪些没有做好的地方？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9AEE7F7-2E22-4F79-AA8A-CDE9013B9679}"/>
              </a:ext>
            </a:extLst>
          </p:cNvPr>
          <p:cNvSpPr txBox="1"/>
          <p:nvPr/>
        </p:nvSpPr>
        <p:spPr>
          <a:xfrm>
            <a:off x="5619750" y="3467100"/>
            <a:ext cx="5905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如果是你想进一步优化这个方法，你会怎么做？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4DB79650-8854-42FC-9971-932C7DDC88C1}"/>
              </a:ext>
            </a:extLst>
          </p:cNvPr>
          <p:cNvSpPr/>
          <p:nvPr/>
        </p:nvSpPr>
        <p:spPr>
          <a:xfrm>
            <a:off x="4953000" y="4448175"/>
            <a:ext cx="6934200" cy="1028700"/>
          </a:xfrm>
          <a:prstGeom prst="roundRect">
            <a:avLst>
              <a:gd name="adj" fmla="val 657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495E6DE4-7D10-4D00-BEAD-995D5BA6B3C7}"/>
              </a:ext>
            </a:extLst>
          </p:cNvPr>
          <p:cNvSpPr/>
          <p:nvPr/>
        </p:nvSpPr>
        <p:spPr>
          <a:xfrm>
            <a:off x="5181600" y="4638675"/>
            <a:ext cx="285750" cy="285750"/>
          </a:xfrm>
          <a:prstGeom prst="ellipse">
            <a:avLst/>
          </a:prstGeom>
          <a:solidFill>
            <a:srgbClr val="FFC845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1A2430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F8C7AAA-EF8C-47F5-9884-373828F2FFC6}"/>
              </a:ext>
            </a:extLst>
          </p:cNvPr>
          <p:cNvSpPr txBox="1"/>
          <p:nvPr/>
        </p:nvSpPr>
        <p:spPr>
          <a:xfrm>
            <a:off x="5619750" y="4638675"/>
            <a:ext cx="5905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每一个模块、技术到底在起什么作用？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F139893-7127-4ACE-A0CF-CE0F97CC6F9C}"/>
              </a:ext>
            </a:extLst>
          </p:cNvPr>
          <p:cNvSpPr txBox="1"/>
          <p:nvPr/>
        </p:nvSpPr>
        <p:spPr>
          <a:xfrm>
            <a:off x="5619750" y="5057775"/>
            <a:ext cx="59055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对作者想要解决的问题有什么作用，是检验方法设计是否自洽的关键。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87B50EC-6335-404E-BE96-7BA95C5D602B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第五篇 如何进行学术汇报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1E6BA1B-F94C-4DFC-89B9-D7F9277A2350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21 / 86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A45E38D-47DD-44E2-892F-A591057AA1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A682E6CB-2014-4B97-A141-B836E75CA192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F74BE41-7304-481B-9CA7-56B3BC08CAD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39E800D-31B7-4D41-ADAC-AA6DDB957EE4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汇报时的追问：实验、总结与思考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A7E6179-57EF-49B5-806D-0385C305A36D}"/>
              </a:ext>
            </a:extLst>
          </p:cNvPr>
          <p:cNvSpPr/>
          <p:nvPr/>
        </p:nvSpPr>
        <p:spPr>
          <a:xfrm>
            <a:off x="304800" y="838200"/>
            <a:ext cx="5638800" cy="4162425"/>
          </a:xfrm>
          <a:prstGeom prst="roundRect">
            <a:avLst>
              <a:gd name="adj" fmla="val 176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49C9E1C-4D0D-4C51-B5E2-3635E831DA79}"/>
              </a:ext>
            </a:extLst>
          </p:cNvPr>
          <p:cNvSpPr/>
          <p:nvPr/>
        </p:nvSpPr>
        <p:spPr>
          <a:xfrm>
            <a:off x="457200" y="1028700"/>
            <a:ext cx="5334000" cy="342900"/>
          </a:xfrm>
          <a:prstGeom prst="roundRect">
            <a:avLst>
              <a:gd name="adj" fmla="val 27777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针对论文实验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55413C0-D901-49B8-9ED8-A607C90DBC81}"/>
              </a:ext>
            </a:extLst>
          </p:cNvPr>
          <p:cNvSpPr txBox="1"/>
          <p:nvPr/>
        </p:nvSpPr>
        <p:spPr>
          <a:xfrm>
            <a:off x="457200" y="1581150"/>
            <a:ext cx="5334000" cy="457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Q1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为什么选择这些数据集、对比方法？</a:t>
            </a:r>
          </a:p>
          <a:p>
            <a:pPr algn="l">
              <a:lnSpc>
                <a:spcPct val="145000"/>
              </a:lnSpc>
              <a:spcBef>
                <a:spcPts val="4400"/>
              </a:spcBef>
              <a:spcAft>
                <a:spcPts val="14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Q2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实验设置是否合理、对比是否公平？</a:t>
            </a:r>
          </a:p>
          <a:p>
            <a:pPr algn="l">
              <a:lnSpc>
                <a:spcPct val="145000"/>
              </a:lnSpc>
              <a:spcBef>
                <a:spcPts val="4400"/>
              </a:spcBef>
              <a:spcAft>
                <a:spcPts val="14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Q3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实验结论是否与作者的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motivation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一致？是否挂羊头卖狗肉？</a:t>
            </a:r>
          </a:p>
          <a:p>
            <a:pPr algn="l">
              <a:lnSpc>
                <a:spcPct val="145000"/>
              </a:lnSpc>
              <a:spcBef>
                <a:spcPts val="4400"/>
              </a:spcBef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Q4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作者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claim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要解决的问题，有没有解决？结果是否显著？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535833C-FF0B-4D0E-87C7-E27439835D71}"/>
              </a:ext>
            </a:extLst>
          </p:cNvPr>
          <p:cNvSpPr/>
          <p:nvPr/>
        </p:nvSpPr>
        <p:spPr>
          <a:xfrm>
            <a:off x="6248400" y="838200"/>
            <a:ext cx="5638800" cy="4162425"/>
          </a:xfrm>
          <a:prstGeom prst="roundRect">
            <a:avLst>
              <a:gd name="adj" fmla="val 176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78B9484-D90F-4A8D-9EC0-0F400D6DA7B0}"/>
              </a:ext>
            </a:extLst>
          </p:cNvPr>
          <p:cNvSpPr/>
          <p:nvPr/>
        </p:nvSpPr>
        <p:spPr>
          <a:xfrm>
            <a:off x="6400800" y="1028700"/>
            <a:ext cx="5334000" cy="342900"/>
          </a:xfrm>
          <a:prstGeom prst="roundRect">
            <a:avLst>
              <a:gd name="adj" fmla="val 27777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尝试总结与思考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382F983-2024-4927-887B-BE3043BCC6AC}"/>
              </a:ext>
            </a:extLst>
          </p:cNvPr>
          <p:cNvSpPr txBox="1"/>
          <p:nvPr/>
        </p:nvSpPr>
        <p:spPr>
          <a:xfrm>
            <a:off x="6400800" y="1581150"/>
            <a:ext cx="5334000" cy="457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200" b="1">
                <a:solidFill>
                  <a:srgbClr val="E86D35"/>
                </a:solidFill>
                <a:latin typeface="Times New Roman"/>
                <a:ea typeface="Times New Roman"/>
              </a:rPr>
              <a:t>Q5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把自己当做这篇文章的审稿人，能否给出这篇文章的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3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个优点和缺点？对于做的不好的地方，你希望作者如何改进，应该做到什么程度？</a:t>
            </a:r>
          </a:p>
          <a:p>
            <a:pPr algn="l">
              <a:lnSpc>
                <a:spcPct val="145000"/>
              </a:lnSpc>
              <a:spcBef>
                <a:spcPts val="3000"/>
              </a:spcBef>
              <a:spcAft>
                <a:spcPts val="1400"/>
              </a:spcAft>
            </a:pPr>
            <a:r>
              <a:rPr sz="1200" b="1">
                <a:solidFill>
                  <a:srgbClr val="E86D35"/>
                </a:solidFill>
                <a:latin typeface="Times New Roman"/>
                <a:ea typeface="Times New Roman"/>
              </a:rPr>
              <a:t>Q6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你从这篇文章中学到了什么令你感觉新奇的事情？哪怕是论文写作、绘图配色的技巧也很好。</a:t>
            </a:r>
          </a:p>
          <a:p>
            <a:pPr algn="l">
              <a:lnSpc>
                <a:spcPct val="145000"/>
              </a:lnSpc>
              <a:spcBef>
                <a:spcPts val="3000"/>
              </a:spcBef>
              <a:spcAft>
                <a:spcPts val="1400"/>
              </a:spcAft>
            </a:pPr>
            <a:r>
              <a:rPr sz="1200" b="1">
                <a:solidFill>
                  <a:srgbClr val="E86D35"/>
                </a:solidFill>
                <a:latin typeface="Times New Roman"/>
                <a:ea typeface="Times New Roman"/>
              </a:rPr>
              <a:t>Q7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这篇论文要解决的问题，如果交给你来做，你会怎么做？</a:t>
            </a:r>
          </a:p>
          <a:p>
            <a:pPr algn="l">
              <a:lnSpc>
                <a:spcPct val="145000"/>
              </a:lnSpc>
              <a:spcBef>
                <a:spcPts val="3000"/>
              </a:spcBef>
            </a:pPr>
            <a:r>
              <a:rPr sz="1200" b="1">
                <a:solidFill>
                  <a:srgbClr val="E86D35"/>
                </a:solidFill>
                <a:latin typeface="Times New Roman"/>
                <a:ea typeface="Times New Roman"/>
              </a:rPr>
              <a:t>Q8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与这篇论文相关的、你觉得值得研究的一个后续想法是什么？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9105DA3-11CB-4AF1-AD0A-01374B33579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第五篇 如何进行学术汇报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F8FBFFD-14D4-4148-8B3D-D15D98806F91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22 / 86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09F8BFC-7938-480F-9FA6-7C3425ADF1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076CE1AF-5B2D-42D7-887B-68A33D02439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93B0A91-4D03-4AAF-B4E0-5F384AD10733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2B0E81C-EA3F-4474-BAA8-9F6CAB35CBD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Meeting 的目的与组织形式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B958EF1-290F-4351-95BF-1D075C4E32BC}"/>
              </a:ext>
            </a:extLst>
          </p:cNvPr>
          <p:cNvSpPr/>
          <p:nvPr/>
        </p:nvSpPr>
        <p:spPr>
          <a:xfrm>
            <a:off x="304800" y="838200"/>
            <a:ext cx="4495800" cy="5295900"/>
          </a:xfrm>
          <a:prstGeom prst="roundRect">
            <a:avLst>
              <a:gd name="adj" fmla="val 21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1A4D7A3-A7A9-404D-A9B7-15606C605ECE}"/>
              </a:ext>
            </a:extLst>
          </p:cNvPr>
          <p:cNvSpPr txBox="1"/>
          <p:nvPr/>
        </p:nvSpPr>
        <p:spPr>
          <a:xfrm>
            <a:off x="457200" y="1028700"/>
            <a:ext cx="419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为什么要 Meeting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10F4E08-EA9C-4329-97A9-33CD3E8C7EC1}"/>
              </a:ext>
            </a:extLst>
          </p:cNvPr>
          <p:cNvSpPr txBox="1"/>
          <p:nvPr/>
        </p:nvSpPr>
        <p:spPr>
          <a:xfrm>
            <a:off x="457200" y="1333500"/>
            <a:ext cx="4191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  <a:ea typeface="华文中宋"/>
              </a:rPr>
              <a:t>不是进度汇报，而是推进工作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32D17F8-5779-43BC-AD11-018A92899AAF}"/>
              </a:ext>
            </a:extLst>
          </p:cNvPr>
          <p:cNvSpPr/>
          <p:nvPr/>
        </p:nvSpPr>
        <p:spPr>
          <a:xfrm>
            <a:off x="533400" y="1771650"/>
            <a:ext cx="1866900" cy="381000"/>
          </a:xfrm>
          <a:prstGeom prst="roundRect">
            <a:avLst>
              <a:gd name="adj" fmla="val 25000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暴露问题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85543C8-4F8C-4AB5-B58F-5E0A82F1F3F7}"/>
              </a:ext>
            </a:extLst>
          </p:cNvPr>
          <p:cNvSpPr/>
          <p:nvPr/>
        </p:nvSpPr>
        <p:spPr>
          <a:xfrm>
            <a:off x="2667000" y="1771650"/>
            <a:ext cx="1981200" cy="381000"/>
          </a:xfrm>
          <a:prstGeom prst="roundRect">
            <a:avLst>
              <a:gd name="adj" fmla="val 25000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澄清思路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6198993-F650-4274-A181-81A3EB80748D}"/>
              </a:ext>
            </a:extLst>
          </p:cNvPr>
          <p:cNvSpPr/>
          <p:nvPr/>
        </p:nvSpPr>
        <p:spPr>
          <a:xfrm>
            <a:off x="533400" y="2305050"/>
            <a:ext cx="1866900" cy="381000"/>
          </a:xfrm>
          <a:prstGeom prst="roundRect">
            <a:avLst>
              <a:gd name="adj" fmla="val 25000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获得反馈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C287911-4583-4EDB-B9C9-4286ADE2128F}"/>
              </a:ext>
            </a:extLst>
          </p:cNvPr>
          <p:cNvSpPr/>
          <p:nvPr/>
        </p:nvSpPr>
        <p:spPr>
          <a:xfrm>
            <a:off x="2667000" y="2305050"/>
            <a:ext cx="1981200" cy="381000"/>
          </a:xfrm>
          <a:prstGeom prst="roundRect">
            <a:avLst>
              <a:gd name="adj" fmla="val 25000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推进工作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2BEE111-A9D7-42E3-8EA4-060A565D1011}"/>
              </a:ext>
            </a:extLst>
          </p:cNvPr>
          <p:cNvSpPr txBox="1"/>
          <p:nvPr/>
        </p:nvSpPr>
        <p:spPr>
          <a:xfrm>
            <a:off x="457200" y="2876550"/>
            <a:ext cx="41910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00" b="1">
                <a:solidFill>
                  <a:srgbClr val="FFC845"/>
                </a:solidFill>
                <a:latin typeface="Times New Roman"/>
                <a:ea typeface="Times New Roman"/>
              </a:rPr>
              <a:t>1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主要是为了帮助大家更高效地推进科研工作，而不是简单的工作进度汇报。科研过程中会有试错的探索和没有进展的情况，不要把 Meeting 当成一种压力。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  <a:spcAft>
                <a:spcPts val="1200"/>
              </a:spcAft>
            </a:pPr>
            <a:r>
              <a:rPr sz="1200" b="1">
                <a:solidFill>
                  <a:srgbClr val="FFC845"/>
                </a:solidFill>
                <a:latin typeface="Times New Roman"/>
                <a:ea typeface="Times New Roman"/>
              </a:rPr>
              <a:t>2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核心目标不是“证明自己做了很多事情”。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</a:pPr>
            <a:r>
              <a:rPr sz="1200" b="1">
                <a:solidFill>
                  <a:srgbClr val="FFC845"/>
                </a:solidFill>
                <a:latin typeface="Times New Roman"/>
                <a:ea typeface="Times New Roman"/>
              </a:rPr>
              <a:t>3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除了常规的定期 Meeting，有任何需要讨论的进展或问题，都可以随时约时间讨论，培养有问题就讨论的习惯。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DD47832-67A8-47F5-A0F4-C2FA9452838C}"/>
              </a:ext>
            </a:extLst>
          </p:cNvPr>
          <p:cNvSpPr/>
          <p:nvPr/>
        </p:nvSpPr>
        <p:spPr>
          <a:xfrm>
            <a:off x="4953000" y="838200"/>
            <a:ext cx="6934200" cy="5295900"/>
          </a:xfrm>
          <a:prstGeom prst="roundRect">
            <a:avLst>
              <a:gd name="adj" fmla="val 176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15E079-2DC0-495D-8AB5-F0274C60A54B}"/>
              </a:ext>
            </a:extLst>
          </p:cNvPr>
          <p:cNvSpPr txBox="1"/>
          <p:nvPr/>
        </p:nvSpPr>
        <p:spPr>
          <a:xfrm>
            <a:off x="5105400" y="1009650"/>
            <a:ext cx="66294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Meeting</a:t>
            </a: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 的组织形式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8D3AEEA-E8ED-4918-A92F-4F8591B283C6}"/>
              </a:ext>
            </a:extLst>
          </p:cNvPr>
          <p:cNvSpPr/>
          <p:nvPr/>
        </p:nvSpPr>
        <p:spPr>
          <a:xfrm>
            <a:off x="5181600" y="1371600"/>
            <a:ext cx="6400800" cy="1676400"/>
          </a:xfrm>
          <a:prstGeom prst="roundRect">
            <a:avLst>
              <a:gd name="adj" fmla="val 5681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2A1472C-A6E5-4BD6-817E-06E69F17AB71}"/>
              </a:ext>
            </a:extLst>
          </p:cNvPr>
          <p:cNvSpPr txBox="1"/>
          <p:nvPr/>
        </p:nvSpPr>
        <p:spPr>
          <a:xfrm>
            <a:off x="5334000" y="1504950"/>
            <a:ext cx="6096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01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  针对在推进的 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Project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C4F1CF3-8353-43F1-9300-39E9C77AA9D0}"/>
              </a:ext>
            </a:extLst>
          </p:cNvPr>
          <p:cNvSpPr txBox="1"/>
          <p:nvPr/>
        </p:nvSpPr>
        <p:spPr>
          <a:xfrm>
            <a:off x="5334000" y="1809750"/>
            <a:ext cx="60960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以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Project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为单位 meeting，Project leader 要承担协调大家时间、约会议的任务。每一个 Project 维护一个文档，包含要做的事情、Technical Contribution、时间规划、项目组成员及分工、当前的主要进展、实验结果和存在的问题；不要长篇大论，凝练核心要点。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5FA52443-D618-4D08-8796-D4F62E858CD0}"/>
              </a:ext>
            </a:extLst>
          </p:cNvPr>
          <p:cNvSpPr/>
          <p:nvPr/>
        </p:nvSpPr>
        <p:spPr>
          <a:xfrm>
            <a:off x="5181600" y="3162300"/>
            <a:ext cx="6400800" cy="1143000"/>
          </a:xfrm>
          <a:prstGeom prst="roundRect">
            <a:avLst>
              <a:gd name="adj" fmla="val 8333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375EBE5-78D6-4193-BE84-B291EACBBA23}"/>
              </a:ext>
            </a:extLst>
          </p:cNvPr>
          <p:cNvSpPr txBox="1"/>
          <p:nvPr/>
        </p:nvSpPr>
        <p:spPr>
          <a:xfrm>
            <a:off x="5334000" y="3295650"/>
            <a:ext cx="6096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02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  个人仍在学习阶段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F8549AB-67DE-4C00-BF74-28FC5FD94BFD}"/>
              </a:ext>
            </a:extLst>
          </p:cNvPr>
          <p:cNvSpPr txBox="1"/>
          <p:nvPr/>
        </p:nvSpPr>
        <p:spPr>
          <a:xfrm>
            <a:off x="5334000" y="3600450"/>
            <a:ext cx="60960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维护一个个人的进展文档，包括目前正在关注的事情、读的论文（不要详细介绍，凝练核心观点即可）、个人的思考和讨论。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DE3A07C4-B55C-4124-BC87-6F548D0F00DE}"/>
              </a:ext>
            </a:extLst>
          </p:cNvPr>
          <p:cNvSpPr/>
          <p:nvPr/>
        </p:nvSpPr>
        <p:spPr>
          <a:xfrm>
            <a:off x="5181600" y="4419600"/>
            <a:ext cx="6400800" cy="1714500"/>
          </a:xfrm>
          <a:prstGeom prst="roundRect">
            <a:avLst>
              <a:gd name="adj" fmla="val 5555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B5F35C6-F362-4388-A11D-B49E48456E41}"/>
              </a:ext>
            </a:extLst>
          </p:cNvPr>
          <p:cNvSpPr txBox="1"/>
          <p:nvPr/>
        </p:nvSpPr>
        <p:spPr>
          <a:xfrm>
            <a:off x="5334000" y="4552950"/>
            <a:ext cx="6096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5743A"/>
                </a:solidFill>
                <a:latin typeface="Times New Roman"/>
                <a:ea typeface="Times New Roman"/>
              </a:rPr>
              <a:t>03</a:t>
            </a:r>
            <a:r>
              <a:rPr sz="1400" b="1">
                <a:solidFill>
                  <a:srgbClr val="B5743A"/>
                </a:solidFill>
                <a:latin typeface="华文中宋"/>
                <a:ea typeface="华文中宋"/>
              </a:rPr>
              <a:t>  </a:t>
            </a:r>
            <a:r>
              <a:rPr sz="1400" b="1">
                <a:solidFill>
                  <a:srgbClr val="B5743A"/>
                </a:solidFill>
                <a:latin typeface="Times New Roman"/>
                <a:ea typeface="Times New Roman"/>
              </a:rPr>
              <a:t>Meeting</a:t>
            </a:r>
            <a:r>
              <a:rPr sz="1400" b="1">
                <a:solidFill>
                  <a:srgbClr val="B5743A"/>
                </a:solidFill>
                <a:latin typeface="Times New Roman"/>
                <a:ea typeface="华文中宋"/>
              </a:rPr>
              <a:t> 频率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AD2B442-2B12-42D7-8D17-B8F42742F7C5}"/>
              </a:ext>
            </a:extLst>
          </p:cNvPr>
          <p:cNvSpPr txBox="1"/>
          <p:nvPr/>
        </p:nvSpPr>
        <p:spPr>
          <a:xfrm>
            <a:off x="5334000" y="4857750"/>
            <a:ext cx="6210300" cy="11734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在推进的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Project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：至少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2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meeting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一次，中间有重要的结果和进展，可以随时约时间交流。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个人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Meeting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：博士生和硕士生至少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2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周一次；在外实习的研究生和本科实习生至少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1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个月一次。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3EBE0B6-3C2E-4299-8281-C091C7B9F8A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第六篇 如何高效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Meeting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DA2FE84-BE48-4991-9016-1F713A72FDC1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23 / 86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CA14D7E-8E8B-4361-A109-BA401C5577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7AA37834-FAD3-4DF1-ABD4-315373952B7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638A9D1-CB27-473F-94F0-8FA282CCDBE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F115CE9-D245-4D74-92C2-64D81C419DF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Meeting 模版：六步组织一次讨论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26CC1B-CF29-434B-9E46-2E7622DB2ECD}"/>
              </a:ext>
            </a:extLst>
          </p:cNvPr>
          <p:cNvSpPr txBox="1"/>
          <p:nvPr/>
        </p:nvSpPr>
        <p:spPr>
          <a:xfrm>
            <a:off x="304800" y="838200"/>
            <a:ext cx="11582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每次 Meeting 之前，整理一下相比上次 Meeting 有哪些新的进展，大体逻辑可以按照如下方式组织。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910CAAA-F526-4E99-9E68-584BF8D9454E}"/>
              </a:ext>
            </a:extLst>
          </p:cNvPr>
          <p:cNvSpPr/>
          <p:nvPr/>
        </p:nvSpPr>
        <p:spPr>
          <a:xfrm>
            <a:off x="304800" y="1219200"/>
            <a:ext cx="3733800" cy="13144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3C2218A-6EE1-4CFA-932E-085365BA287D}"/>
              </a:ext>
            </a:extLst>
          </p:cNvPr>
          <p:cNvSpPr/>
          <p:nvPr/>
        </p:nvSpPr>
        <p:spPr>
          <a:xfrm>
            <a:off x="495300" y="14097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5F2320-CE5E-405C-87E8-A165AEE35983}"/>
              </a:ext>
            </a:extLst>
          </p:cNvPr>
          <p:cNvSpPr txBox="1"/>
          <p:nvPr/>
        </p:nvSpPr>
        <p:spPr>
          <a:xfrm>
            <a:off x="952500" y="1447800"/>
            <a:ext cx="29337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Review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大方向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066AB85-7300-43E2-A8DA-852AEB4B0106}"/>
              </a:ext>
            </a:extLst>
          </p:cNvPr>
          <p:cNvSpPr txBox="1"/>
          <p:nvPr/>
        </p:nvSpPr>
        <p:spPr>
          <a:xfrm>
            <a:off x="457200" y="1847850"/>
            <a:ext cx="3429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Review 一下整个项目的大方向和 Contribution，反思自己是否在正确的道路上。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AB4ECB8-81B2-4B73-B3F8-C5C140D97639}"/>
              </a:ext>
            </a:extLst>
          </p:cNvPr>
          <p:cNvSpPr/>
          <p:nvPr/>
        </p:nvSpPr>
        <p:spPr>
          <a:xfrm>
            <a:off x="4229100" y="1219200"/>
            <a:ext cx="3733800" cy="13144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DF394B5-6F09-4DE0-B41E-1E0B11E84DB9}"/>
              </a:ext>
            </a:extLst>
          </p:cNvPr>
          <p:cNvSpPr/>
          <p:nvPr/>
        </p:nvSpPr>
        <p:spPr>
          <a:xfrm>
            <a:off x="4419600" y="14097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96166D-50CE-4D32-B8C7-5C499E0A84CF}"/>
              </a:ext>
            </a:extLst>
          </p:cNvPr>
          <p:cNvSpPr txBox="1"/>
          <p:nvPr/>
        </p:nvSpPr>
        <p:spPr>
          <a:xfrm>
            <a:off x="4876800" y="1447800"/>
            <a:ext cx="29337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回顾上次结论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022621-1F55-430C-BA8F-631B6DC60431}"/>
              </a:ext>
            </a:extLst>
          </p:cNvPr>
          <p:cNvSpPr txBox="1"/>
          <p:nvPr/>
        </p:nvSpPr>
        <p:spPr>
          <a:xfrm>
            <a:off x="4381500" y="1847850"/>
            <a:ext cx="3429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回顾一下上次 meeting 的结论和 Todo。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D34A59C-BAB3-4A9C-82D1-D852D3C2217F}"/>
              </a:ext>
            </a:extLst>
          </p:cNvPr>
          <p:cNvSpPr/>
          <p:nvPr/>
        </p:nvSpPr>
        <p:spPr>
          <a:xfrm>
            <a:off x="8153400" y="1219200"/>
            <a:ext cx="3733800" cy="13144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72A9921-4506-4751-AAD2-9720EF511E72}"/>
              </a:ext>
            </a:extLst>
          </p:cNvPr>
          <p:cNvSpPr/>
          <p:nvPr/>
        </p:nvSpPr>
        <p:spPr>
          <a:xfrm>
            <a:off x="8343900" y="14097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EE74A68-4684-4DB0-8324-35766B6F4D7F}"/>
              </a:ext>
            </a:extLst>
          </p:cNvPr>
          <p:cNvSpPr txBox="1"/>
          <p:nvPr/>
        </p:nvSpPr>
        <p:spPr>
          <a:xfrm>
            <a:off x="8801100" y="1447800"/>
            <a:ext cx="29337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总结新的进展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D136ED1-BDE0-418B-95C3-0F66020F05E4}"/>
              </a:ext>
            </a:extLst>
          </p:cNvPr>
          <p:cNvSpPr txBox="1"/>
          <p:nvPr/>
        </p:nvSpPr>
        <p:spPr>
          <a:xfrm>
            <a:off x="8305800" y="1847850"/>
            <a:ext cx="3429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总结一下自上次 meeting 后的进展，不要长篇大论，三句话以内讲清楚。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2A1DFAD-8B87-4BDF-A548-C5E7E0B6CCE1}"/>
              </a:ext>
            </a:extLst>
          </p:cNvPr>
          <p:cNvSpPr/>
          <p:nvPr/>
        </p:nvSpPr>
        <p:spPr>
          <a:xfrm>
            <a:off x="304800" y="3276600"/>
            <a:ext cx="3733800" cy="1047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1EB7A2C-B818-4C6D-B608-E4D5A4FEA77B}"/>
              </a:ext>
            </a:extLst>
          </p:cNvPr>
          <p:cNvSpPr/>
          <p:nvPr/>
        </p:nvSpPr>
        <p:spPr>
          <a:xfrm>
            <a:off x="495300" y="34671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998387C-E901-48B2-B9DB-03BAB23E4D92}"/>
              </a:ext>
            </a:extLst>
          </p:cNvPr>
          <p:cNvSpPr txBox="1"/>
          <p:nvPr/>
        </p:nvSpPr>
        <p:spPr>
          <a:xfrm>
            <a:off x="952500" y="3505200"/>
            <a:ext cx="29337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列出要讨论的问题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C440CB1-A0A9-42F1-8509-4395F73493A9}"/>
              </a:ext>
            </a:extLst>
          </p:cNvPr>
          <p:cNvSpPr txBox="1"/>
          <p:nvPr/>
        </p:nvSpPr>
        <p:spPr>
          <a:xfrm>
            <a:off x="457200" y="3905250"/>
            <a:ext cx="3543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列出想要讨论的问题、有意思的实验现象、观察等。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45738A36-9789-4EAE-9AA8-5290CD5CBA72}"/>
              </a:ext>
            </a:extLst>
          </p:cNvPr>
          <p:cNvSpPr/>
          <p:nvPr/>
        </p:nvSpPr>
        <p:spPr>
          <a:xfrm>
            <a:off x="4229100" y="3276600"/>
            <a:ext cx="3733800" cy="1047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5EF2486-D955-4A5B-AF08-B65FDCCE8608}"/>
              </a:ext>
            </a:extLst>
          </p:cNvPr>
          <p:cNvSpPr/>
          <p:nvPr/>
        </p:nvSpPr>
        <p:spPr>
          <a:xfrm>
            <a:off x="4419600" y="34671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57ADD94-303E-4089-9A12-7C0904B69DAB}"/>
              </a:ext>
            </a:extLst>
          </p:cNvPr>
          <p:cNvSpPr txBox="1"/>
          <p:nvPr/>
        </p:nvSpPr>
        <p:spPr>
          <a:xfrm>
            <a:off x="4876800" y="3505200"/>
            <a:ext cx="29337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分享最近读的论文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8E2690C-D6A8-49CB-809E-1066D073E2F4}"/>
              </a:ext>
            </a:extLst>
          </p:cNvPr>
          <p:cNvSpPr txBox="1"/>
          <p:nvPr/>
        </p:nvSpPr>
        <p:spPr>
          <a:xfrm>
            <a:off x="4381500" y="3905250"/>
            <a:ext cx="35433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分享几篇最近读的论文，和对应的一句话内容总结。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6A19B2FE-6D05-4470-9CCB-8F33A63206E1}"/>
              </a:ext>
            </a:extLst>
          </p:cNvPr>
          <p:cNvSpPr/>
          <p:nvPr/>
        </p:nvSpPr>
        <p:spPr>
          <a:xfrm>
            <a:off x="8153400" y="3276600"/>
            <a:ext cx="3733800" cy="1047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9B518B4-7D95-495A-9CB5-DBC20AACEEB0}"/>
              </a:ext>
            </a:extLst>
          </p:cNvPr>
          <p:cNvSpPr/>
          <p:nvPr/>
        </p:nvSpPr>
        <p:spPr>
          <a:xfrm>
            <a:off x="8343900" y="34671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5845C22-92F4-432F-B8DF-91E12C71FA31}"/>
              </a:ext>
            </a:extLst>
          </p:cNvPr>
          <p:cNvSpPr txBox="1"/>
          <p:nvPr/>
        </p:nvSpPr>
        <p:spPr>
          <a:xfrm>
            <a:off x="8801100" y="3505200"/>
            <a:ext cx="29337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后续 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Todo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与时间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E97B1DE-73E2-439E-93D7-4B69463FEC0E}"/>
              </a:ext>
            </a:extLst>
          </p:cNvPr>
          <p:cNvSpPr txBox="1"/>
          <p:nvPr/>
        </p:nvSpPr>
        <p:spPr>
          <a:xfrm>
            <a:off x="8305800" y="3905250"/>
            <a:ext cx="3429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后续的 Todo list 和时间安排。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FB799AB-AD6D-4B83-9AAB-C206B04A3472}"/>
              </a:ext>
            </a:extLst>
          </p:cNvPr>
          <p:cNvSpPr/>
          <p:nvPr/>
        </p:nvSpPr>
        <p:spPr>
          <a:xfrm>
            <a:off x="304800" y="5334000"/>
            <a:ext cx="11582400" cy="590550"/>
          </a:xfrm>
          <a:prstGeom prst="roundRect">
            <a:avLst>
              <a:gd name="adj" fmla="val 13888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03CACB8-66AC-477B-8938-7C3894ED75E4}"/>
              </a:ext>
            </a:extLst>
          </p:cNvPr>
          <p:cNvSpPr txBox="1"/>
          <p:nvPr/>
        </p:nvSpPr>
        <p:spPr>
          <a:xfrm>
            <a:off x="457200" y="5486400"/>
            <a:ext cx="112776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六步的共同要求：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不要长篇大论，凝练核心要点。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C8F5B99-F7AD-4A2F-97CE-62ED9DE7FE6E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第六篇 如何高效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Meeting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C9C22C9-C4E7-459D-A2EA-8D2CCAB04C0C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24 / 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91CFD4-8B67-4256-8409-6B3F7D2C57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EE912651-4AEA-4E0E-9729-EEEE3C904CD7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E9B7F23-9D2B-492F-8390-ED382293A91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9AAF147-3CCF-4DCD-AF9E-523AC53E7F78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实验室的讨论原则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CB3DB6-129E-4996-925E-4B59D2CC5A22}"/>
              </a:ext>
            </a:extLst>
          </p:cNvPr>
          <p:cNvSpPr txBox="1"/>
          <p:nvPr/>
        </p:nvSpPr>
        <p:spPr>
          <a:xfrm>
            <a:off x="304800" y="838200"/>
            <a:ext cx="11582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讨论交流的唯一目的是：正确、高效，能解决你对 project 的疑问。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2C8FF3A-1312-4B84-9C08-5F11C6EB665B}"/>
              </a:ext>
            </a:extLst>
          </p:cNvPr>
          <p:cNvSpPr/>
          <p:nvPr/>
        </p:nvSpPr>
        <p:spPr>
          <a:xfrm>
            <a:off x="304800" y="1219200"/>
            <a:ext cx="5638800" cy="18859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05C3166-771C-4611-BA27-51D25EE9A2E9}"/>
              </a:ext>
            </a:extLst>
          </p:cNvPr>
          <p:cNvSpPr txBox="1"/>
          <p:nvPr/>
        </p:nvSpPr>
        <p:spPr>
          <a:xfrm>
            <a:off x="495300" y="1390650"/>
            <a:ext cx="666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50E47D-B96B-4182-A802-EED6AE2CDDEC}"/>
              </a:ext>
            </a:extLst>
          </p:cNvPr>
          <p:cNvSpPr txBox="1"/>
          <p:nvPr/>
        </p:nvSpPr>
        <p:spPr>
          <a:xfrm>
            <a:off x="1257300" y="1447800"/>
            <a:ext cx="285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充分交流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FC4A041-6693-4ECF-8FC0-0D2B3EDDC4CE}"/>
              </a:ext>
            </a:extLst>
          </p:cNvPr>
          <p:cNvSpPr txBox="1"/>
          <p:nvPr/>
        </p:nvSpPr>
        <p:spPr>
          <a:xfrm>
            <a:off x="457200" y="1905000"/>
            <a:ext cx="53340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交流的时候不要害怕老师、高年级同学，不要因此而不敢问问题，有问题请及时问，实验室的老师、学长都非常友好，乐于解答问题。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唯一目的：正确、高效，能解决你对 </a:t>
            </a: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project</a:t>
            </a: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 的疑问。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73524A4-D0AF-44AE-AC91-EDEA1001B1B7}"/>
              </a:ext>
            </a:extLst>
          </p:cNvPr>
          <p:cNvSpPr/>
          <p:nvPr/>
        </p:nvSpPr>
        <p:spPr>
          <a:xfrm>
            <a:off x="6248400" y="1219200"/>
            <a:ext cx="5638800" cy="18859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A9EEED1-D414-46A1-8C42-4109D4B84432}"/>
              </a:ext>
            </a:extLst>
          </p:cNvPr>
          <p:cNvSpPr txBox="1"/>
          <p:nvPr/>
        </p:nvSpPr>
        <p:spPr>
          <a:xfrm>
            <a:off x="6438900" y="1390650"/>
            <a:ext cx="666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EEF9EB0-16C3-4D3F-B9EC-6AD3AB371189}"/>
              </a:ext>
            </a:extLst>
          </p:cNvPr>
          <p:cNvSpPr txBox="1"/>
          <p:nvPr/>
        </p:nvSpPr>
        <p:spPr>
          <a:xfrm>
            <a:off x="7200900" y="1447800"/>
            <a:ext cx="285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平等交流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F86303F-E777-4B51-A4FF-882BCD6B7388}"/>
              </a:ext>
            </a:extLst>
          </p:cNvPr>
          <p:cNvSpPr txBox="1"/>
          <p:nvPr/>
        </p:nvSpPr>
        <p:spPr>
          <a:xfrm>
            <a:off x="6400800" y="1905000"/>
            <a:ext cx="53340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是汇报与被汇报的关系。如果科研上有自己的想法，请表达出来。如果觉得老师、师兄师姐有说错的地方，请有礼貌地质疑和讨论。不要一味地听信老师、学长的话，但更不要表面服从而底下做自己的想法，这样会浪费很多交流时间和实验成本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092B856-9957-4402-8254-7413231172EF}"/>
              </a:ext>
            </a:extLst>
          </p:cNvPr>
          <p:cNvSpPr/>
          <p:nvPr/>
        </p:nvSpPr>
        <p:spPr>
          <a:xfrm>
            <a:off x="304800" y="3790950"/>
            <a:ext cx="5638800" cy="2143125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8942019-F5AC-4BD8-B7DF-ED13CE1AFEB3}"/>
              </a:ext>
            </a:extLst>
          </p:cNvPr>
          <p:cNvSpPr txBox="1"/>
          <p:nvPr/>
        </p:nvSpPr>
        <p:spPr>
          <a:xfrm>
            <a:off x="495300" y="3962400"/>
            <a:ext cx="666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E9A8E2E-02C5-4B38-BCCB-0DE8B87CCEBA}"/>
              </a:ext>
            </a:extLst>
          </p:cNvPr>
          <p:cNvSpPr txBox="1"/>
          <p:nvPr/>
        </p:nvSpPr>
        <p:spPr>
          <a:xfrm>
            <a:off x="1257300" y="4019550"/>
            <a:ext cx="285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高效真诚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088A6C-903E-45E3-9CBC-40B28E3A1272}"/>
              </a:ext>
            </a:extLst>
          </p:cNvPr>
          <p:cNvSpPr txBox="1"/>
          <p:nvPr/>
        </p:nvSpPr>
        <p:spPr>
          <a:xfrm>
            <a:off x="457200" y="4476750"/>
            <a:ext cx="53340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不要搞太虚的东西，直入主题，高效沟通。</a:t>
            </a:r>
          </a:p>
          <a:p>
            <a:pPr algn="l">
              <a:lnSpc>
                <a:spcPct val="145000"/>
              </a:lnSpc>
              <a:spcBef>
                <a:spcPts val="30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Meeting 不是表演工作量的场合，把真实的问题、真实的卡点讲出来，才能让讨论有价值。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EFA95FE-D2E2-402E-807C-EF2F70716893}"/>
              </a:ext>
            </a:extLst>
          </p:cNvPr>
          <p:cNvSpPr/>
          <p:nvPr/>
        </p:nvSpPr>
        <p:spPr>
          <a:xfrm>
            <a:off x="6248400" y="3790950"/>
            <a:ext cx="5638800" cy="2143125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608C0E7-2784-4587-8B24-3BEF9775E867}"/>
              </a:ext>
            </a:extLst>
          </p:cNvPr>
          <p:cNvSpPr txBox="1"/>
          <p:nvPr/>
        </p:nvSpPr>
        <p:spPr>
          <a:xfrm>
            <a:off x="6438900" y="3962400"/>
            <a:ext cx="66675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67ECE97-A4F0-499F-A437-DA2D3CC21B91}"/>
              </a:ext>
            </a:extLst>
          </p:cNvPr>
          <p:cNvSpPr txBox="1"/>
          <p:nvPr/>
        </p:nvSpPr>
        <p:spPr>
          <a:xfrm>
            <a:off x="7200900" y="4019550"/>
            <a:ext cx="2857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事事有回应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B9E36BA-065D-44D2-A765-61F8EF963416}"/>
              </a:ext>
            </a:extLst>
          </p:cNvPr>
          <p:cNvSpPr txBox="1"/>
          <p:nvPr/>
        </p:nvSpPr>
        <p:spPr>
          <a:xfrm>
            <a:off x="6400800" y="4476750"/>
            <a:ext cx="53340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讨论的 todo，要有效回应，不要讨论完就结束了。</a:t>
            </a:r>
          </a:p>
          <a:p>
            <a:pPr algn="l">
              <a:lnSpc>
                <a:spcPct val="145000"/>
              </a:lnSpc>
              <a:spcBef>
                <a:spcPts val="30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下一次 Meeting 从回顾上一次的结论和 Todo 开始，让每一条讨论都有下文。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E22217A-006E-42E7-9156-A82B71DD6F71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第六篇 如何高效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Meeting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7E9BB12-50CB-4985-B6B4-E35B13C4381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25 / 86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F5ECECC-2ABA-4F9B-9308-C6C293B0C7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1F6AADAE-8934-4760-A49B-59CFC883158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1A04004-3DC9-4811-B5E0-187E0880A33C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D60627B-FC17-4964-BE08-0A07D482603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典型正反面案例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1ACB7DB-2158-4298-9375-AB2D34E7BE27}"/>
              </a:ext>
            </a:extLst>
          </p:cNvPr>
          <p:cNvSpPr txBox="1"/>
          <p:nvPr/>
        </p:nvSpPr>
        <p:spPr>
          <a:xfrm>
            <a:off x="304800" y="838200"/>
            <a:ext cx="11582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去年招了两个博士，分配了两个不同但难度相似的工作，一年后的差异能说明 Meeting 应该怎么开。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2534E6D-F802-46EB-B640-B923A04F3016}"/>
              </a:ext>
            </a:extLst>
          </p:cNvPr>
          <p:cNvSpPr/>
          <p:nvPr/>
        </p:nvSpPr>
        <p:spPr>
          <a:xfrm>
            <a:off x="304800" y="1181100"/>
            <a:ext cx="5638800" cy="4848225"/>
          </a:xfrm>
          <a:prstGeom prst="roundRect">
            <a:avLst>
              <a:gd name="adj" fmla="val 1893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54CAB32A-39EE-46D9-99CF-FD1A543A3F65}"/>
              </a:ext>
            </a:extLst>
          </p:cNvPr>
          <p:cNvPicPr/>
          <p:nvPr/>
        </p:nvPicPr>
        <p:blipFill>
          <a:blip r:embed="rId3"/>
          <a:srcRect l="497" r="497"/>
          <a:stretch>
            <a:fillRect/>
          </a:stretch>
        </p:blipFill>
        <p:spPr>
          <a:xfrm>
            <a:off x="495300" y="1333500"/>
            <a:ext cx="1143000" cy="112395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1A059B2-AAFC-447A-8A67-4FDD553DF2B0}"/>
              </a:ext>
            </a:extLst>
          </p:cNvPr>
          <p:cNvSpPr txBox="1"/>
          <p:nvPr/>
        </p:nvSpPr>
        <p:spPr>
          <a:xfrm>
            <a:off x="1828800" y="1428750"/>
            <a:ext cx="3810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0B56A8"/>
                </a:solidFill>
                <a:latin typeface="Times New Roman"/>
                <a:ea typeface="华文中宋"/>
              </a:rPr>
              <a:t>博士 </a:t>
            </a:r>
            <a:r>
              <a:rPr sz="1700" b="1">
                <a:solidFill>
                  <a:srgbClr val="0B56A8"/>
                </a:solidFill>
                <a:latin typeface="Times New Roman"/>
                <a:ea typeface="Times New Roman"/>
              </a:rPr>
              <a:t>A</a:t>
            </a:r>
            <a:r>
              <a:rPr sz="1700" b="1">
                <a:solidFill>
                  <a:srgbClr val="0B56A8"/>
                </a:solidFill>
                <a:latin typeface="Times New Roman"/>
                <a:ea typeface="华文中宋"/>
              </a:rPr>
              <a:t> · 正面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C998E0-578A-4C9E-8FDD-681DFD333DA1}"/>
              </a:ext>
            </a:extLst>
          </p:cNvPr>
          <p:cNvSpPr txBox="1"/>
          <p:nvPr/>
        </p:nvSpPr>
        <p:spPr>
          <a:xfrm>
            <a:off x="1828800" y="1790700"/>
            <a:ext cx="3810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每周的 Meeting 都聊得很开，讨论充分，进退有方向。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D2D51CA-7E8C-4B11-AEBB-A40F2C7EC583}"/>
              </a:ext>
            </a:extLst>
          </p:cNvPr>
          <p:cNvSpPr/>
          <p:nvPr/>
        </p:nvSpPr>
        <p:spPr>
          <a:xfrm>
            <a:off x="495300" y="2628900"/>
            <a:ext cx="52578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743E19F-F03F-42C4-BC44-9D5099FC58A6}"/>
              </a:ext>
            </a:extLst>
          </p:cNvPr>
          <p:cNvSpPr txBox="1"/>
          <p:nvPr/>
        </p:nvSpPr>
        <p:spPr>
          <a:xfrm>
            <a:off x="457200" y="278130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为什么好？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6F290A8-5376-4463-BAF3-EE18E6C43670}"/>
              </a:ext>
            </a:extLst>
          </p:cNvPr>
          <p:cNvSpPr txBox="1"/>
          <p:nvPr/>
        </p:nvSpPr>
        <p:spPr>
          <a:xfrm>
            <a:off x="457200" y="3086100"/>
            <a:ext cx="533400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有自己的思考：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遇到困难、没有进展，会分析可能的原因，不是只说“效果不好”，而要进一步分析：为什么效果不好？是方法问题、数据问题、实现问题，还是假设本身不成立？这个失败说明了什么？是否可以从失败中提炼新的研究问题？</a:t>
            </a:r>
          </a:p>
          <a:p>
            <a:pPr algn="l">
              <a:lnSpc>
                <a:spcPct val="145000"/>
              </a:lnSpc>
              <a:spcBef>
                <a:spcPts val="950"/>
              </a:spcBef>
              <a:spcAft>
                <a:spcPts val="800"/>
              </a:spcAft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讨论思路清晰：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我们有 XX 结果，碰到了 XX 问题，可能是什么原因，已经试了 XX 方法，后面可能还可以怎么做。</a:t>
            </a:r>
          </a:p>
          <a:p>
            <a:pPr algn="l">
              <a:lnSpc>
                <a:spcPct val="145000"/>
              </a:lnSpc>
              <a:spcBef>
                <a:spcPts val="950"/>
              </a:spcBef>
              <a:spcAft>
                <a:spcPts val="800"/>
              </a:spcAft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实验能力强：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能够快速对一些方案进行尝试和结果分析。</a:t>
            </a:r>
          </a:p>
          <a:p>
            <a:pPr algn="l">
              <a:lnSpc>
                <a:spcPct val="145000"/>
              </a:lnSpc>
              <a:spcBef>
                <a:spcPts val="950"/>
              </a:spcBef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对新东西有好奇心：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聊天的时候偶尔提到的新的概念和领域，会去看 paper，再来探讨。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310ECFF-B835-4B15-A6D6-A90C3E85E3C2}"/>
              </a:ext>
            </a:extLst>
          </p:cNvPr>
          <p:cNvSpPr/>
          <p:nvPr/>
        </p:nvSpPr>
        <p:spPr>
          <a:xfrm>
            <a:off x="6248400" y="1181100"/>
            <a:ext cx="5638800" cy="4848225"/>
          </a:xfrm>
          <a:prstGeom prst="roundRect">
            <a:avLst>
              <a:gd name="adj" fmla="val 1893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A1416650-10EB-4B9B-BC19-2C4A679F18E7}"/>
              </a:ext>
            </a:extLst>
          </p:cNvPr>
          <p:cNvPicPr/>
          <p:nvPr/>
        </p:nvPicPr>
        <p:blipFill>
          <a:blip r:embed="rId4"/>
          <a:srcRect t="595" b="595"/>
          <a:stretch>
            <a:fillRect/>
          </a:stretch>
        </p:blipFill>
        <p:spPr>
          <a:xfrm>
            <a:off x="6438900" y="1333500"/>
            <a:ext cx="1143000" cy="112395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B3F07DA7-2A10-45D6-BB09-92FCBD6CFC8A}"/>
              </a:ext>
            </a:extLst>
          </p:cNvPr>
          <p:cNvSpPr txBox="1"/>
          <p:nvPr/>
        </p:nvSpPr>
        <p:spPr>
          <a:xfrm>
            <a:off x="7772400" y="1428750"/>
            <a:ext cx="3810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E86D35"/>
                </a:solidFill>
                <a:latin typeface="Times New Roman"/>
                <a:ea typeface="华文中宋"/>
              </a:rPr>
              <a:t>博士 </a:t>
            </a:r>
            <a:r>
              <a:rPr sz="1700" b="1">
                <a:solidFill>
                  <a:srgbClr val="E86D35"/>
                </a:solidFill>
                <a:latin typeface="Times New Roman"/>
                <a:ea typeface="Times New Roman"/>
              </a:rPr>
              <a:t>B</a:t>
            </a:r>
            <a:r>
              <a:rPr sz="1700" b="1">
                <a:solidFill>
                  <a:srgbClr val="E86D35"/>
                </a:solidFill>
                <a:latin typeface="Times New Roman"/>
                <a:ea typeface="华文中宋"/>
              </a:rPr>
              <a:t> · 反面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7851712-BED2-4023-8FCD-940F54F8E62B}"/>
              </a:ext>
            </a:extLst>
          </p:cNvPr>
          <p:cNvSpPr txBox="1"/>
          <p:nvPr/>
        </p:nvSpPr>
        <p:spPr>
          <a:xfrm>
            <a:off x="7772400" y="1790700"/>
            <a:ext cx="4038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每周的 Meeting 都是汇报而非讨论，遇到问题时进退缓慢。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DF61754-13A9-4920-8A1F-294F1EB387A8}"/>
              </a:ext>
            </a:extLst>
          </p:cNvPr>
          <p:cNvSpPr/>
          <p:nvPr/>
        </p:nvSpPr>
        <p:spPr>
          <a:xfrm>
            <a:off x="6438900" y="2628900"/>
            <a:ext cx="52578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E35CC18-0B2A-4038-84B7-0CF481992429}"/>
              </a:ext>
            </a:extLst>
          </p:cNvPr>
          <p:cNvSpPr txBox="1"/>
          <p:nvPr/>
        </p:nvSpPr>
        <p:spPr>
          <a:xfrm>
            <a:off x="6400800" y="278130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为什么不好？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C37D40D-5B18-451B-956B-7BBE728F2614}"/>
              </a:ext>
            </a:extLst>
          </p:cNvPr>
          <p:cNvSpPr txBox="1"/>
          <p:nvPr/>
        </p:nvSpPr>
        <p:spPr>
          <a:xfrm>
            <a:off x="6400800" y="3086100"/>
            <a:ext cx="5334000" cy="3048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只汇报，不讨论：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每周 meeting 都是汇报，没有形成自己的思考和规划。</a:t>
            </a:r>
          </a:p>
          <a:p>
            <a:pPr algn="l">
              <a:lnSpc>
                <a:spcPct val="145000"/>
              </a:lnSpc>
              <a:spcBef>
                <a:spcPts val="3429"/>
              </a:spcBef>
              <a:spcAft>
                <a:spcPts val="1000"/>
              </a:spcAft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缺少自己的思考：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经常汇报效果不好，但是原因呢？没有分析。</a:t>
            </a:r>
          </a:p>
          <a:p>
            <a:pPr algn="l">
              <a:lnSpc>
                <a:spcPct val="145000"/>
              </a:lnSpc>
              <a:spcBef>
                <a:spcPts val="3429"/>
              </a:spcBef>
            </a:pPr>
            <a:r>
              <a:rPr sz="1200" b="1">
                <a:solidFill>
                  <a:srgbClr val="1A2430"/>
                </a:solidFill>
                <a:latin typeface="Times New Roman"/>
                <a:ea typeface="华文中宋"/>
              </a:rPr>
              <a:t>实验能力弱：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不能很好地安排时间，快速地做可行方案的调研和试错。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377E3F5-05DA-42ED-AC25-6E086D061787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第六篇 如何高效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Meeting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2EC941C-3D75-4274-9165-365246746E7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26 / 86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5A41DB-1F49-4101-88B0-6487452CD0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F063F27E-4B93-4A97-901D-D233C67C9D8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6C2038C-16A6-46E4-A519-50967AC27BE1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84729F8-F705-495D-BD18-88309C704E5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输入、积累与想法库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608B17D-B005-4B02-8BC7-90231506397E}"/>
              </a:ext>
            </a:extLst>
          </p:cNvPr>
          <p:cNvSpPr/>
          <p:nvPr/>
        </p:nvSpPr>
        <p:spPr>
          <a:xfrm>
            <a:off x="304800" y="914400"/>
            <a:ext cx="3733800" cy="474345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7882F0F-7AA3-4803-92D6-F55C5DA8E862}"/>
              </a:ext>
            </a:extLst>
          </p:cNvPr>
          <p:cNvSpPr txBox="1"/>
          <p:nvPr/>
        </p:nvSpPr>
        <p:spPr>
          <a:xfrm>
            <a:off x="457200" y="1104900"/>
            <a:ext cx="3429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5743A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23D7AC3-6C62-4105-9679-86462B714F1E}"/>
              </a:ext>
            </a:extLst>
          </p:cNvPr>
          <p:cNvSpPr txBox="1"/>
          <p:nvPr/>
        </p:nvSpPr>
        <p:spPr>
          <a:xfrm>
            <a:off x="457200" y="1371600"/>
            <a:ext cx="3429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保持稳定的学术输入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AA7475-48C9-4614-941E-E7BB3FB919A7}"/>
              </a:ext>
            </a:extLst>
          </p:cNvPr>
          <p:cNvSpPr txBox="1"/>
          <p:nvPr/>
        </p:nvSpPr>
        <p:spPr>
          <a:xfrm>
            <a:off x="457200" y="1733550"/>
            <a:ext cx="3429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0B56A8"/>
                </a:solidFill>
                <a:latin typeface="Times New Roman"/>
                <a:ea typeface="Times New Roman"/>
              </a:rPr>
              <a:t>10—20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B8E3AE1-9785-4F5A-8C71-8F0AC740C78D}"/>
              </a:ext>
            </a:extLst>
          </p:cNvPr>
          <p:cNvSpPr txBox="1"/>
          <p:nvPr/>
        </p:nvSpPr>
        <p:spPr>
          <a:xfrm>
            <a:off x="457200" y="2209800"/>
            <a:ext cx="3429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分钟 / 每天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9F0D313-5B8B-4ECB-A2FD-D13E3E7A01E3}"/>
              </a:ext>
            </a:extLst>
          </p:cNvPr>
          <p:cNvSpPr txBox="1"/>
          <p:nvPr/>
        </p:nvSpPr>
        <p:spPr>
          <a:xfrm>
            <a:off x="457200" y="2590800"/>
            <a:ext cx="3429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每天工作前抽出时间，浏览与研究方向相关的 arXiv 分类、Hugging Face Daily Papers、会议论文列表或学术平台推荐。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60E928E-6F21-4CF6-A2E9-929B9109266B}"/>
              </a:ext>
            </a:extLst>
          </p:cNvPr>
          <p:cNvSpPr/>
          <p:nvPr/>
        </p:nvSpPr>
        <p:spPr>
          <a:xfrm>
            <a:off x="495300" y="4838700"/>
            <a:ext cx="3352800" cy="819150"/>
          </a:xfrm>
          <a:prstGeom prst="roundRect">
            <a:avLst>
              <a:gd name="adj" fmla="val 9259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CC101D9-FD12-40CE-BB77-B636E2CAD019}"/>
              </a:ext>
            </a:extLst>
          </p:cNvPr>
          <p:cNvSpPr txBox="1"/>
          <p:nvPr/>
        </p:nvSpPr>
        <p:spPr>
          <a:xfrm>
            <a:off x="685800" y="4972050"/>
            <a:ext cx="29718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目标：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了解近期出现的新论文、新问题和新方法。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656AC4A-7971-4D13-8EC9-F0C316AF80C3}"/>
              </a:ext>
            </a:extLst>
          </p:cNvPr>
          <p:cNvSpPr/>
          <p:nvPr/>
        </p:nvSpPr>
        <p:spPr>
          <a:xfrm>
            <a:off x="4229100" y="914400"/>
            <a:ext cx="3733800" cy="474345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9EA2691-D9CB-489F-9AD9-B47DECFEA623}"/>
              </a:ext>
            </a:extLst>
          </p:cNvPr>
          <p:cNvSpPr txBox="1"/>
          <p:nvPr/>
        </p:nvSpPr>
        <p:spPr>
          <a:xfrm>
            <a:off x="4381500" y="1104900"/>
            <a:ext cx="3429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5743A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4F357EC-0516-46B2-9111-20AA55B0926D}"/>
              </a:ext>
            </a:extLst>
          </p:cNvPr>
          <p:cNvSpPr txBox="1"/>
          <p:nvPr/>
        </p:nvSpPr>
        <p:spPr>
          <a:xfrm>
            <a:off x="4381500" y="1371600"/>
            <a:ext cx="3429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建立自己的知识积累系统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CCFAC22-952E-423B-92E7-D3A80751C13B}"/>
              </a:ext>
            </a:extLst>
          </p:cNvPr>
          <p:cNvSpPr txBox="1"/>
          <p:nvPr/>
        </p:nvSpPr>
        <p:spPr>
          <a:xfrm>
            <a:off x="4381500" y="1771650"/>
            <a:ext cx="3429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阅读过的有价值的文章可以存储管理起来，后续有需要方便翻阅。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BD972AC-7324-4715-8BAE-2F31604AF74F}"/>
              </a:ext>
            </a:extLst>
          </p:cNvPr>
          <p:cNvSpPr txBox="1"/>
          <p:nvPr/>
        </p:nvSpPr>
        <p:spPr>
          <a:xfrm>
            <a:off x="4381500" y="2571750"/>
            <a:ext cx="3429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有价值的三种体现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79F5CCD-D456-4523-9AC6-F93CD855B023}"/>
              </a:ext>
            </a:extLst>
          </p:cNvPr>
          <p:cNvSpPr/>
          <p:nvPr/>
        </p:nvSpPr>
        <p:spPr>
          <a:xfrm>
            <a:off x="4419600" y="2857500"/>
            <a:ext cx="3352800" cy="1238250"/>
          </a:xfrm>
          <a:prstGeom prst="roundRect">
            <a:avLst>
              <a:gd name="adj" fmla="val 7692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FDE3297-1211-448C-9587-6340455CE1F8}"/>
              </a:ext>
            </a:extLst>
          </p:cNvPr>
          <p:cNvSpPr txBox="1"/>
          <p:nvPr/>
        </p:nvSpPr>
        <p:spPr>
          <a:xfrm>
            <a:off x="4610100" y="2990850"/>
            <a:ext cx="29718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·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很有启发性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实验效果很好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文章写作很好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568D554-65E4-4FEB-9675-9C5E895717F8}"/>
              </a:ext>
            </a:extLst>
          </p:cNvPr>
          <p:cNvSpPr txBox="1"/>
          <p:nvPr/>
        </p:nvSpPr>
        <p:spPr>
          <a:xfrm>
            <a:off x="4381500" y="4838700"/>
            <a:ext cx="3429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工具：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可以用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Zotero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、飞书、多维表格或其他工具进行管理。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A6EA3D9D-2FA7-4FA2-8E37-BBCA394A16B9}"/>
              </a:ext>
            </a:extLst>
          </p:cNvPr>
          <p:cNvSpPr/>
          <p:nvPr/>
        </p:nvSpPr>
        <p:spPr>
          <a:xfrm>
            <a:off x="8153400" y="914400"/>
            <a:ext cx="3733800" cy="474345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B33DEE9-EC53-4791-89F7-0F7EF5C39251}"/>
              </a:ext>
            </a:extLst>
          </p:cNvPr>
          <p:cNvSpPr txBox="1"/>
          <p:nvPr/>
        </p:nvSpPr>
        <p:spPr>
          <a:xfrm>
            <a:off x="8305800" y="1104900"/>
            <a:ext cx="3429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5743A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EA53765-CFE2-479E-9AA5-7B943AD97471}"/>
              </a:ext>
            </a:extLst>
          </p:cNvPr>
          <p:cNvSpPr txBox="1"/>
          <p:nvPr/>
        </p:nvSpPr>
        <p:spPr>
          <a:xfrm>
            <a:off x="8305800" y="1371600"/>
            <a:ext cx="3429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及时记录和整理想法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6298659-923C-440A-9EF4-34D82D4B2176}"/>
              </a:ext>
            </a:extLst>
          </p:cNvPr>
          <p:cNvSpPr txBox="1"/>
          <p:nvPr/>
        </p:nvSpPr>
        <p:spPr>
          <a:xfrm>
            <a:off x="8305800" y="1733550"/>
            <a:ext cx="3429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好记性不如烂笔头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07F7F8F-A282-463D-8BD4-07C15EA37E72}"/>
              </a:ext>
            </a:extLst>
          </p:cNvPr>
          <p:cNvSpPr txBox="1"/>
          <p:nvPr/>
        </p:nvSpPr>
        <p:spPr>
          <a:xfrm>
            <a:off x="8305800" y="2114550"/>
            <a:ext cx="3429000" cy="1104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有 idea 及时记录。科研想法往往是在读论文、做实验、参加组会或与人交流时突然产生的。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1C96FCC-40C1-42A3-9212-A4969278B555}"/>
              </a:ext>
            </a:extLst>
          </p:cNvPr>
          <p:cNvSpPr txBox="1"/>
          <p:nvPr/>
        </p:nvSpPr>
        <p:spPr>
          <a:xfrm>
            <a:off x="8305800" y="3314700"/>
            <a:ext cx="34290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86D35"/>
                </a:solidFill>
                <a:latin typeface="Times New Roman"/>
                <a:ea typeface="华文中宋"/>
              </a:rPr>
              <a:t>如果不及时记录，很容易在之后遗忘。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3E8A104E-3F48-4F4E-B4AE-242578219C44}"/>
              </a:ext>
            </a:extLst>
          </p:cNvPr>
          <p:cNvSpPr/>
          <p:nvPr/>
        </p:nvSpPr>
        <p:spPr>
          <a:xfrm>
            <a:off x="8343900" y="4838700"/>
            <a:ext cx="3352800" cy="819150"/>
          </a:xfrm>
          <a:prstGeom prst="roundRect">
            <a:avLst>
              <a:gd name="adj" fmla="val 9259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35F5C31-6FCC-4DB0-B50F-68DA03B38754}"/>
              </a:ext>
            </a:extLst>
          </p:cNvPr>
          <p:cNvSpPr txBox="1"/>
          <p:nvPr/>
        </p:nvSpPr>
        <p:spPr>
          <a:xfrm>
            <a:off x="8534400" y="4972050"/>
            <a:ext cx="29718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工具：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可以使用飞书笔记、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Notion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或其他工具维护自己的 Idea 库，并定期回顾。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8719BD4-A7F1-4887-933E-B0A56ADEE16F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第七篇 一些好的习惯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E1CD773-AF8C-4545-8B5F-2061CFE8EDC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27 / 86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21F883-D04C-469D-AACD-B5D97A696E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9F7605C9-E820-4676-8B65-D6CA222A3EB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2B29B2A-B798-4EF0-AD9F-5233996E18C3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E43B765-9CBD-4F47-A73B-3D692610520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实验日志，与问题记录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DD62085-3356-4204-8A1E-A40BB3019625}"/>
              </a:ext>
            </a:extLst>
          </p:cNvPr>
          <p:cNvSpPr/>
          <p:nvPr/>
        </p:nvSpPr>
        <p:spPr>
          <a:xfrm>
            <a:off x="304800" y="914400"/>
            <a:ext cx="7239000" cy="4648200"/>
          </a:xfrm>
          <a:prstGeom prst="roundRect">
            <a:avLst>
              <a:gd name="adj" fmla="val 182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E38231-96E3-4F84-B6F0-96C0F3B774B2}"/>
              </a:ext>
            </a:extLst>
          </p:cNvPr>
          <p:cNvSpPr txBox="1"/>
          <p:nvPr/>
        </p:nvSpPr>
        <p:spPr>
          <a:xfrm>
            <a:off x="457200" y="1104900"/>
            <a:ext cx="69342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Times New Roman"/>
              </a:rPr>
              <a:t>03</a:t>
            </a: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  记录实验日志 · 每次重要实验都建议记录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779BC79-DB3F-4967-AEB5-A63A1DFA336E}"/>
              </a:ext>
            </a:extLst>
          </p:cNvPr>
          <p:cNvSpPr/>
          <p:nvPr/>
        </p:nvSpPr>
        <p:spPr>
          <a:xfrm>
            <a:off x="533400" y="15240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01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实验目的或待验证假设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C69610E-74F0-4B2E-B8AC-F5739704AEF5}"/>
              </a:ext>
            </a:extLst>
          </p:cNvPr>
          <p:cNvSpPr/>
          <p:nvPr/>
        </p:nvSpPr>
        <p:spPr>
          <a:xfrm>
            <a:off x="4038600" y="15240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03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数据、模型和参数配置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B98259C-BB10-4B03-A6F6-8C96230ED422}"/>
              </a:ext>
            </a:extLst>
          </p:cNvPr>
          <p:cNvSpPr/>
          <p:nvPr/>
        </p:nvSpPr>
        <p:spPr>
          <a:xfrm>
            <a:off x="533400" y="21717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02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与上一组实验相比修改了什么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3D6D29E-5909-49F6-B382-D28657C2F59A}"/>
              </a:ext>
            </a:extLst>
          </p:cNvPr>
          <p:cNvSpPr/>
          <p:nvPr/>
        </p:nvSpPr>
        <p:spPr>
          <a:xfrm>
            <a:off x="4038600" y="21717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04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随机种子及运行环境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26E6DAE-F05B-457D-AD46-86AAE7D9B011}"/>
              </a:ext>
            </a:extLst>
          </p:cNvPr>
          <p:cNvSpPr/>
          <p:nvPr/>
        </p:nvSpPr>
        <p:spPr>
          <a:xfrm>
            <a:off x="533400" y="28194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05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核心实验结果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281B09D-66D7-4901-AF88-3914E876C62B}"/>
              </a:ext>
            </a:extLst>
          </p:cNvPr>
          <p:cNvSpPr/>
          <p:nvPr/>
        </p:nvSpPr>
        <p:spPr>
          <a:xfrm>
            <a:off x="4038600" y="28194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06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结果是否符合预期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71A3EE6-497D-4C2F-A290-835918A8188F}"/>
              </a:ext>
            </a:extLst>
          </p:cNvPr>
          <p:cNvSpPr/>
          <p:nvPr/>
        </p:nvSpPr>
        <p:spPr>
          <a:xfrm>
            <a:off x="533400" y="34671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07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当前结论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F0AE3CC-4F15-45F6-ABB2-71ABA77FA857}"/>
              </a:ext>
            </a:extLst>
          </p:cNvPr>
          <p:cNvSpPr/>
          <p:nvPr/>
        </p:nvSpPr>
        <p:spPr>
          <a:xfrm>
            <a:off x="4038600" y="3467100"/>
            <a:ext cx="3352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08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下一步准备做什么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BFF7A96-9BC5-4699-9BA6-9651E68D44FD}"/>
              </a:ext>
            </a:extLst>
          </p:cNvPr>
          <p:cNvSpPr txBox="1"/>
          <p:nvPr/>
        </p:nvSpPr>
        <p:spPr>
          <a:xfrm>
            <a:off x="457200" y="4267200"/>
            <a:ext cx="69342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八项记录构成一条完整的实验叙事：为什么做 → 改了什么 → 怎么配的 → 得到什么 → 得到说明什么 → 接下来做什么。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719AE61-2D26-4DFD-A39A-47FA3939036D}"/>
              </a:ext>
            </a:extLst>
          </p:cNvPr>
          <p:cNvSpPr/>
          <p:nvPr/>
        </p:nvSpPr>
        <p:spPr>
          <a:xfrm>
            <a:off x="7696200" y="914400"/>
            <a:ext cx="4191000" cy="4648200"/>
          </a:xfrm>
          <a:prstGeom prst="roundRect">
            <a:avLst>
              <a:gd name="adj" fmla="val 2272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C368E06-07B8-4462-B70A-AE23EE8D5463}"/>
              </a:ext>
            </a:extLst>
          </p:cNvPr>
          <p:cNvSpPr txBox="1"/>
          <p:nvPr/>
        </p:nvSpPr>
        <p:spPr>
          <a:xfrm>
            <a:off x="7848600" y="1143000"/>
            <a:ext cx="38862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失败实验也要记录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7AAA7D0-E37C-4090-8D22-CF68A5FDBEF0}"/>
              </a:ext>
            </a:extLst>
          </p:cNvPr>
          <p:cNvSpPr txBox="1"/>
          <p:nvPr/>
        </p:nvSpPr>
        <p:spPr>
          <a:xfrm>
            <a:off x="7848600" y="1485900"/>
            <a:ext cx="38862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失败实验和负面结果同样需要记录。它们能够帮助我们排除错误方向，也可以防止几周后再次重复相同的尝试。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EB0A5AC-9C40-4A1C-A83E-75C090B7DFA3}"/>
              </a:ext>
            </a:extLst>
          </p:cNvPr>
          <p:cNvSpPr/>
          <p:nvPr/>
        </p:nvSpPr>
        <p:spPr>
          <a:xfrm>
            <a:off x="7924800" y="3048000"/>
            <a:ext cx="3619500" cy="9525"/>
          </a:xfrm>
          <a:prstGeom prst="rect">
            <a:avLst/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B160D2B-4B91-4297-A6C6-1E808A898A70}"/>
              </a:ext>
            </a:extLst>
          </p:cNvPr>
          <p:cNvSpPr txBox="1"/>
          <p:nvPr/>
        </p:nvSpPr>
        <p:spPr>
          <a:xfrm>
            <a:off x="7848600" y="3238500"/>
            <a:ext cx="38862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04</a:t>
            </a:r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  问题与解决方案记录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902DD38-3FE2-478D-9427-DCBCAC864F4C}"/>
              </a:ext>
            </a:extLst>
          </p:cNvPr>
          <p:cNvSpPr txBox="1"/>
          <p:nvPr/>
        </p:nvSpPr>
        <p:spPr>
          <a:xfrm>
            <a:off x="7848600" y="3619500"/>
            <a:ext cx="38862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实验过程中遇到的问题及其解决方法应及时记录，这些记录可以避免以后重复排查，也方便帮助团队中的其他同学。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A8ED734-70FE-40D7-A257-5CB1DE5CCF84}"/>
              </a:ext>
            </a:extLst>
          </p:cNvPr>
          <p:cNvSpPr txBox="1"/>
          <p:nvPr/>
        </p:nvSpPr>
        <p:spPr>
          <a:xfrm>
            <a:off x="7848600" y="5143500"/>
            <a:ext cx="38862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Times New Roman"/>
                <a:ea typeface="华文中宋"/>
              </a:rPr>
              <a:t>即使问题暂时没有解决，也应记录已经尝试过的方法。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9D15B23-A168-4F2B-9E4A-0680381D13A1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第七篇 一些好的习惯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2E3C09F-3230-46C9-9766-1B1184F47D80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28 / 86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BB18A97-954F-4BA4-A07E-6F764F6FB6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8A9B8E7E-12F2-46FA-804A-CEA56C96519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47B669E-1DDE-4205-9CB2-B64627BE5D19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C57BAD-4528-4FE7-A23B-4684567D8057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避免空想，尽快动手验证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1A84447-C95E-480B-8170-88B920BE6A9C}"/>
              </a:ext>
            </a:extLst>
          </p:cNvPr>
          <p:cNvSpPr txBox="1"/>
          <p:nvPr/>
        </p:nvSpPr>
        <p:spPr>
          <a:xfrm>
            <a:off x="304800" y="838200"/>
            <a:ext cx="11582400" cy="5943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避免空想空谈，多动手实验，实践出真知。科研需要思考，但不能长期停留在空想和讨论阶段。一个想法是否成立，通常要通过实验、证明或数据分析才能判断。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646B6B1-F1E7-46F0-83CE-A577BC18A01B}"/>
              </a:ext>
            </a:extLst>
          </p:cNvPr>
          <p:cNvSpPr txBox="1"/>
          <p:nvPr/>
        </p:nvSpPr>
        <p:spPr>
          <a:xfrm>
            <a:off x="304800" y="1485900"/>
            <a:ext cx="7620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面对一个新 </a:t>
            </a:r>
            <a:r>
              <a:rPr sz="1500" b="1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，优先设计最小验证实验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E40D222-63C0-4C1C-9A32-CF398DE103CA}"/>
              </a:ext>
            </a:extLst>
          </p:cNvPr>
          <p:cNvSpPr/>
          <p:nvPr/>
        </p:nvSpPr>
        <p:spPr>
          <a:xfrm>
            <a:off x="304800" y="1847850"/>
            <a:ext cx="2209800" cy="857250"/>
          </a:xfrm>
          <a:prstGeom prst="roundRect">
            <a:avLst>
              <a:gd name="adj" fmla="val 11111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C8FE3EC-EA76-4C78-8BA3-70610DA40A7A}"/>
              </a:ext>
            </a:extLst>
          </p:cNvPr>
          <p:cNvSpPr txBox="1"/>
          <p:nvPr/>
        </p:nvSpPr>
        <p:spPr>
          <a:xfrm>
            <a:off x="438150" y="1981200"/>
            <a:ext cx="19431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FFC845"/>
                </a:solidFill>
                <a:latin typeface="Times New Roman"/>
                <a:ea typeface="Times New Roman"/>
              </a:rPr>
              <a:t>01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华文中宋"/>
              </a:rPr>
              <a:t>明确最核心的假设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AF7D04C-21EC-4C39-989F-00CDECECC416}"/>
              </a:ext>
            </a:extLst>
          </p:cNvPr>
          <p:cNvSpPr/>
          <p:nvPr/>
        </p:nvSpPr>
        <p:spPr>
          <a:xfrm>
            <a:off x="2628900" y="1847850"/>
            <a:ext cx="2209800" cy="857250"/>
          </a:xfrm>
          <a:prstGeom prst="roundRect">
            <a:avLst>
              <a:gd name="adj" fmla="val 11111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7E1566D-A7AE-4EB1-9A87-A93A19EC83CD}"/>
              </a:ext>
            </a:extLst>
          </p:cNvPr>
          <p:cNvSpPr txBox="1"/>
          <p:nvPr/>
        </p:nvSpPr>
        <p:spPr>
          <a:xfrm>
            <a:off x="2762250" y="1981200"/>
            <a:ext cx="1943100" cy="7741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FFC845"/>
                </a:solidFill>
                <a:latin typeface="Times New Roman"/>
                <a:ea typeface="Times New Roman"/>
              </a:rPr>
              <a:t>02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华文中宋"/>
              </a:rPr>
              <a:t>选择能快速验证假设的数据和 </a:t>
            </a: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baseline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AD4138B-0924-4AB8-A48B-DC1199D92FC6}"/>
              </a:ext>
            </a:extLst>
          </p:cNvPr>
          <p:cNvSpPr/>
          <p:nvPr/>
        </p:nvSpPr>
        <p:spPr>
          <a:xfrm>
            <a:off x="4953000" y="1847850"/>
            <a:ext cx="2209800" cy="857250"/>
          </a:xfrm>
          <a:prstGeom prst="roundRect">
            <a:avLst>
              <a:gd name="adj" fmla="val 11111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A8EE1D-F25A-42D3-A6A1-8CDA50534563}"/>
              </a:ext>
            </a:extLst>
          </p:cNvPr>
          <p:cNvSpPr txBox="1"/>
          <p:nvPr/>
        </p:nvSpPr>
        <p:spPr>
          <a:xfrm>
            <a:off x="5086350" y="1981200"/>
            <a:ext cx="19431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FFC845"/>
                </a:solidFill>
                <a:latin typeface="Times New Roman"/>
                <a:ea typeface="Times New Roman"/>
              </a:rPr>
              <a:t>03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华文中宋"/>
              </a:rPr>
              <a:t>尽量复用已有代码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A6D028A-7915-4D97-9E74-9DF6D07353B0}"/>
              </a:ext>
            </a:extLst>
          </p:cNvPr>
          <p:cNvSpPr/>
          <p:nvPr/>
        </p:nvSpPr>
        <p:spPr>
          <a:xfrm>
            <a:off x="7277100" y="1847850"/>
            <a:ext cx="2209800" cy="857250"/>
          </a:xfrm>
          <a:prstGeom prst="roundRect">
            <a:avLst>
              <a:gd name="adj" fmla="val 11111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344ABA3-A4F6-4A00-A838-DBC8DD8A07F5}"/>
              </a:ext>
            </a:extLst>
          </p:cNvPr>
          <p:cNvSpPr txBox="1"/>
          <p:nvPr/>
        </p:nvSpPr>
        <p:spPr>
          <a:xfrm>
            <a:off x="7410450" y="1981200"/>
            <a:ext cx="19431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FFC845"/>
                </a:solidFill>
                <a:latin typeface="Times New Roman"/>
                <a:ea typeface="Times New Roman"/>
              </a:rPr>
              <a:t>04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华文中宋"/>
              </a:rPr>
              <a:t>先验证方向是否可行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B2DD2A5-B28C-4A1B-8FD7-AA6F8215056F}"/>
              </a:ext>
            </a:extLst>
          </p:cNvPr>
          <p:cNvSpPr/>
          <p:nvPr/>
        </p:nvSpPr>
        <p:spPr>
          <a:xfrm>
            <a:off x="9601200" y="1847850"/>
            <a:ext cx="2209800" cy="857250"/>
          </a:xfrm>
          <a:prstGeom prst="roundRect">
            <a:avLst>
              <a:gd name="adj" fmla="val 1111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8F3991-8E99-421E-BD62-791EC9C7C11D}"/>
              </a:ext>
            </a:extLst>
          </p:cNvPr>
          <p:cNvSpPr txBox="1"/>
          <p:nvPr/>
        </p:nvSpPr>
        <p:spPr>
          <a:xfrm>
            <a:off x="9734550" y="1981200"/>
            <a:ext cx="1943100" cy="7741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FFC845"/>
                </a:solidFill>
                <a:latin typeface="Times New Roman"/>
                <a:ea typeface="Times New Roman"/>
              </a:rPr>
              <a:t>05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华文中宋"/>
              </a:rPr>
              <a:t>根据结果决定继续投入、修改假设还是停止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0798419-2537-4F40-9079-39DFD7342429}"/>
              </a:ext>
            </a:extLst>
          </p:cNvPr>
          <p:cNvSpPr/>
          <p:nvPr/>
        </p:nvSpPr>
        <p:spPr>
          <a:xfrm>
            <a:off x="304800" y="2857500"/>
            <a:ext cx="5905500" cy="2819400"/>
          </a:xfrm>
          <a:prstGeom prst="roundRect">
            <a:avLst>
              <a:gd name="adj" fmla="val 292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49AA380-38A6-4CC2-84F2-CE35992B2E1C}"/>
              </a:ext>
            </a:extLst>
          </p:cNvPr>
          <p:cNvSpPr txBox="1"/>
          <p:nvPr/>
        </p:nvSpPr>
        <p:spPr>
          <a:xfrm>
            <a:off x="457200" y="3048000"/>
            <a:ext cx="56007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Times New Roman"/>
              </a:rPr>
              <a:t>07</a:t>
            </a: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  多与他人交流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8EC440E-7C80-4DBF-93CE-303C1E488912}"/>
              </a:ext>
            </a:extLst>
          </p:cNvPr>
          <p:cNvSpPr txBox="1"/>
          <p:nvPr/>
        </p:nvSpPr>
        <p:spPr>
          <a:xfrm>
            <a:off x="457200" y="3429000"/>
            <a:ext cx="56007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很多靠谱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都是和人交流出来的，效率会更高（因为要自己口述梳理一遍）。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  <a:spcAft>
                <a:spcPts val="10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可以主动与导师、师兄师姐、同学以及相关方向的研究者交流。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交流不一定要等到工作成熟，早期想法和实验异常同样值得讨论。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3314A08-9130-4571-897F-6A6C31954E99}"/>
              </a:ext>
            </a:extLst>
          </p:cNvPr>
          <p:cNvSpPr/>
          <p:nvPr/>
        </p:nvSpPr>
        <p:spPr>
          <a:xfrm>
            <a:off x="6400800" y="2857500"/>
            <a:ext cx="5486400" cy="2819400"/>
          </a:xfrm>
          <a:prstGeom prst="roundRect">
            <a:avLst>
              <a:gd name="adj" fmla="val 292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934F769-022A-4B78-91A1-7309342ED040}"/>
              </a:ext>
            </a:extLst>
          </p:cNvPr>
          <p:cNvSpPr txBox="1"/>
          <p:nvPr/>
        </p:nvSpPr>
        <p:spPr>
          <a:xfrm>
            <a:off x="6553200" y="3048000"/>
            <a:ext cx="5181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请教别人之前，先做完功课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0E7FEE-B211-4CEA-941D-D49656745DB2}"/>
              </a:ext>
            </a:extLst>
          </p:cNvPr>
          <p:cNvSpPr txBox="1"/>
          <p:nvPr/>
        </p:nvSpPr>
        <p:spPr>
          <a:xfrm>
            <a:off x="6553200" y="3448050"/>
            <a:ext cx="5181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应先完成基本思考和检索，清楚说明问题、已有尝试和具体困惑，通常更容易获得有效反馈。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328C3EA-1552-4908-B097-1CF56F70B9B0}"/>
              </a:ext>
            </a:extLst>
          </p:cNvPr>
          <p:cNvSpPr txBox="1"/>
          <p:nvPr/>
        </p:nvSpPr>
        <p:spPr>
          <a:xfrm>
            <a:off x="6553200" y="5238750"/>
            <a:ext cx="5181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不要把导师、师兄师姐当成大模型来用。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45F76E0-7840-4BB9-A84E-052C5EEAA64D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第七篇 一些好的习惯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9CA8B04-6348-4BE1-A91E-6BC030D4E545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29 / 86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AA8DA8E-B4F6-40EA-A271-7AB555566F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FDBBC703-4B71-46B2-BD85-435CDE5C31B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F1F6832-A99E-4CA5-89ED-86A8E55E1F12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533B6C-D623-4C91-A493-1A04C069BF4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培养独立科研能力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527BC32-860A-485C-AA34-6993AFA2A341}"/>
              </a:ext>
            </a:extLst>
          </p:cNvPr>
          <p:cNvSpPr/>
          <p:nvPr/>
        </p:nvSpPr>
        <p:spPr>
          <a:xfrm>
            <a:off x="304800" y="914400"/>
            <a:ext cx="5638800" cy="1952625"/>
          </a:xfrm>
          <a:prstGeom prst="roundRect">
            <a:avLst>
              <a:gd name="adj" fmla="val 4545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CDF8503-2F9E-4402-83C2-D1CF97D48473}"/>
              </a:ext>
            </a:extLst>
          </p:cNvPr>
          <p:cNvSpPr txBox="1"/>
          <p:nvPr/>
        </p:nvSpPr>
        <p:spPr>
          <a:xfrm>
            <a:off x="457200" y="10858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08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724B622-FB3A-43DD-9D5E-B93D38BE48C1}"/>
              </a:ext>
            </a:extLst>
          </p:cNvPr>
          <p:cNvSpPr txBox="1"/>
          <p:nvPr/>
        </p:nvSpPr>
        <p:spPr>
          <a:xfrm>
            <a:off x="457200" y="1352550"/>
            <a:ext cx="5334000" cy="4000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Times New Roman"/>
                <a:ea typeface="Times New Roman"/>
              </a:rPr>
              <a:t>Self-Motivated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C617AD-2CE9-444C-AD9D-F2F3A467AC1A}"/>
              </a:ext>
            </a:extLst>
          </p:cNvPr>
          <p:cNvSpPr txBox="1"/>
          <p:nvPr/>
        </p:nvSpPr>
        <p:spPr>
          <a:xfrm>
            <a:off x="457200" y="1847850"/>
            <a:ext cx="53340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是开展科研非常重要的能力。主动性意味着能够持续推进自己的工作，而不是等待导师安排每一个步骤。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A4D6F6F-E238-470E-B283-5AD01F901EED}"/>
              </a:ext>
            </a:extLst>
          </p:cNvPr>
          <p:cNvSpPr/>
          <p:nvPr/>
        </p:nvSpPr>
        <p:spPr>
          <a:xfrm>
            <a:off x="6248400" y="914400"/>
            <a:ext cx="5638800" cy="195262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6FC20-8E93-4949-B674-02151FD1B50B}"/>
              </a:ext>
            </a:extLst>
          </p:cNvPr>
          <p:cNvSpPr txBox="1"/>
          <p:nvPr/>
        </p:nvSpPr>
        <p:spPr>
          <a:xfrm>
            <a:off x="6400800" y="108585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导师能做什么，不能做什么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CD6D9DF-BF4E-469D-AD3B-47A22D8E30BC}"/>
              </a:ext>
            </a:extLst>
          </p:cNvPr>
          <p:cNvSpPr txBox="1"/>
          <p:nvPr/>
        </p:nvSpPr>
        <p:spPr>
          <a:xfrm>
            <a:off x="6400800" y="1447800"/>
            <a:ext cx="5334000" cy="1466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能提供：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方向建议、经验判断、资源支持和关键反馈。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1">
                <a:solidFill>
                  <a:srgbClr val="E86D35"/>
                </a:solidFill>
                <a:latin typeface="Times New Roman"/>
                <a:ea typeface="华文中宋"/>
              </a:rPr>
              <a:t>不能替代：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完成全部研究思考。不要形成依赖导师的心理。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导师大部分时候是辅助；学习发现问题、归纳总结和解决问题的思维与能力，终生受益。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72CACFE-F945-44AF-B950-59408238439A}"/>
              </a:ext>
            </a:extLst>
          </p:cNvPr>
          <p:cNvSpPr/>
          <p:nvPr/>
        </p:nvSpPr>
        <p:spPr>
          <a:xfrm>
            <a:off x="304800" y="3200400"/>
            <a:ext cx="3733800" cy="723900"/>
          </a:xfrm>
          <a:prstGeom prst="roundRect">
            <a:avLst>
              <a:gd name="adj" fmla="val 13157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B5743A"/>
                </a:solidFill>
                <a:latin typeface="Times New Roman"/>
                <a:ea typeface="华文中宋"/>
              </a:rPr>
              <a:t>发现问题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88BB4A1-AB69-4F34-904D-B0253E4B37DA}"/>
              </a:ext>
            </a:extLst>
          </p:cNvPr>
          <p:cNvSpPr/>
          <p:nvPr/>
        </p:nvSpPr>
        <p:spPr>
          <a:xfrm>
            <a:off x="4229100" y="3200400"/>
            <a:ext cx="3733800" cy="723900"/>
          </a:xfrm>
          <a:prstGeom prst="roundRect">
            <a:avLst>
              <a:gd name="adj" fmla="val 13157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B5743A"/>
                </a:solidFill>
                <a:latin typeface="Times New Roman"/>
                <a:ea typeface="华文中宋"/>
              </a:rPr>
              <a:t>归纳总结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7545305-0E0E-411B-B1DB-09EEEC012C45}"/>
              </a:ext>
            </a:extLst>
          </p:cNvPr>
          <p:cNvSpPr/>
          <p:nvPr/>
        </p:nvSpPr>
        <p:spPr>
          <a:xfrm>
            <a:off x="8153400" y="3200400"/>
            <a:ext cx="3733800" cy="723900"/>
          </a:xfrm>
          <a:prstGeom prst="roundRect">
            <a:avLst>
              <a:gd name="adj" fmla="val 13157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B5743A"/>
                </a:solidFill>
                <a:latin typeface="Times New Roman"/>
                <a:ea typeface="华文中宋"/>
              </a:rPr>
              <a:t>解决问题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1CCF328-4F43-47E2-A11C-FDC8F1B4991D}"/>
              </a:ext>
            </a:extLst>
          </p:cNvPr>
          <p:cNvSpPr/>
          <p:nvPr/>
        </p:nvSpPr>
        <p:spPr>
          <a:xfrm>
            <a:off x="304800" y="4114800"/>
            <a:ext cx="11582400" cy="933450"/>
          </a:xfrm>
          <a:prstGeom prst="roundRect">
            <a:avLst>
              <a:gd name="adj" fmla="val 909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2EC20FF-4BB5-46D0-B3EF-AADBD8FF75AE}"/>
              </a:ext>
            </a:extLst>
          </p:cNvPr>
          <p:cNvSpPr txBox="1"/>
          <p:nvPr/>
        </p:nvSpPr>
        <p:spPr>
          <a:xfrm>
            <a:off x="457200" y="4267200"/>
            <a:ext cx="11277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同时，要学会主动、积极地反馈。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5042140-2401-4A78-AB89-750E8B8D1A10}"/>
              </a:ext>
            </a:extLst>
          </p:cNvPr>
          <p:cNvSpPr txBox="1"/>
          <p:nvPr/>
        </p:nvSpPr>
        <p:spPr>
          <a:xfrm>
            <a:off x="457200" y="4610100"/>
            <a:ext cx="112776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和导师、高年级师兄师姐主动交流，大胆地、有分寸地表达自己，向导师提出自己的合理需求。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FA349A6-1289-4D69-B324-33AC05DF3446}"/>
              </a:ext>
            </a:extLst>
          </p:cNvPr>
          <p:cNvSpPr/>
          <p:nvPr/>
        </p:nvSpPr>
        <p:spPr>
          <a:xfrm>
            <a:off x="304800" y="5353050"/>
            <a:ext cx="11582400" cy="571500"/>
          </a:xfrm>
          <a:prstGeom prst="roundRect">
            <a:avLst>
              <a:gd name="adj" fmla="val 12500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A2E2849-D4C7-49EB-9C97-B7CF61E2E033}"/>
              </a:ext>
            </a:extLst>
          </p:cNvPr>
          <p:cNvSpPr txBox="1"/>
          <p:nvPr/>
        </p:nvSpPr>
        <p:spPr>
          <a:xfrm>
            <a:off x="457200" y="5505450"/>
            <a:ext cx="112776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第一篇小结：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从定义研究、建立能力，到找论文、读论文、想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Idea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、做汇报、开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Meeting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，最后落到可长期执行的好习惯。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4927ACD-D045-48CF-82EE-AEF2828A4453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第七篇 一些好的习惯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0ABEDD2-998C-424A-AB77-189A63F200D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30 / 86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6942594-4CAA-4544-8AEE-2F178E64BE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508B4884-746B-460D-90DA-88A1E58E56C2}"/>
              </a:ext>
            </a:extLst>
          </p:cNvPr>
          <p:cNvSpPr/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00B4A7-DF3E-41C4-B993-896648BAEB39}"/>
              </a:ext>
            </a:extLst>
          </p:cNvPr>
          <p:cNvSpPr txBox="1"/>
          <p:nvPr/>
        </p:nvSpPr>
        <p:spPr>
          <a:xfrm>
            <a:off x="533400" y="186690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PART 02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162AF7C-E6BB-4576-AB96-45F18B552A46}"/>
              </a:ext>
            </a:extLst>
          </p:cNvPr>
          <p:cNvSpPr txBox="1"/>
          <p:nvPr/>
        </p:nvSpPr>
        <p:spPr>
          <a:xfrm>
            <a:off x="533400" y="2171700"/>
            <a:ext cx="3619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Times New Roman"/>
                <a:ea typeface="华文中宋"/>
              </a:rPr>
              <a:t>如何写论文？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31098C2-456D-484B-97BA-7C2086E9B03D}"/>
              </a:ext>
            </a:extLst>
          </p:cNvPr>
          <p:cNvSpPr/>
          <p:nvPr/>
        </p:nvSpPr>
        <p:spPr>
          <a:xfrm>
            <a:off x="533400" y="28765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D326540-2B27-4576-81BE-D7AF299EAAE9}"/>
              </a:ext>
            </a:extLst>
          </p:cNvPr>
          <p:cNvSpPr txBox="1"/>
          <p:nvPr/>
        </p:nvSpPr>
        <p:spPr>
          <a:xfrm>
            <a:off x="533400" y="3105150"/>
            <a:ext cx="34290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500">
                <a:solidFill>
                  <a:srgbClr val="EAD7F0"/>
                </a:solidFill>
                <a:latin typeface="Times New Roman"/>
                <a:ea typeface="华文中宋"/>
              </a:rPr>
              <a:t>从一张图、一段摘要开始，把工作的价值准确传达给审稿人和读者。</a:t>
            </a:r>
          </a:p>
          <a:p>
            <a:pPr algn="l">
              <a:lnSpc>
                <a:spcPct val="160000"/>
              </a:lnSpc>
            </a:pPr>
            <a:r>
              <a:rPr sz="1500">
                <a:solidFill>
                  <a:srgbClr val="EAD7F0"/>
                </a:solidFill>
                <a:latin typeface="Times New Roman"/>
                <a:ea typeface="华文中宋"/>
              </a:rPr>
              <a:t>论文不是实验记录的拼接，而是一条完整的故事线：问题、方法、证据、结论。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8A6BB6-F89B-42E4-801A-E337D48F7EA7}"/>
              </a:ext>
            </a:extLst>
          </p:cNvPr>
          <p:cNvSpPr txBox="1"/>
          <p:nvPr/>
        </p:nvSpPr>
        <p:spPr>
          <a:xfrm>
            <a:off x="4953000" y="590550"/>
            <a:ext cx="3810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华文中宋"/>
              </a:rPr>
              <a:t>本部分八篇内容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49C0CB5-6F26-4628-AD29-D6A95B01E2E8}"/>
              </a:ext>
            </a:extLst>
          </p:cNvPr>
          <p:cNvSpPr/>
          <p:nvPr/>
        </p:nvSpPr>
        <p:spPr>
          <a:xfrm>
            <a:off x="4953000" y="990600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34F2B04-7BD4-4F1A-8137-F24FC409B9E6}"/>
              </a:ext>
            </a:extLst>
          </p:cNvPr>
          <p:cNvSpPr txBox="1"/>
          <p:nvPr/>
        </p:nvSpPr>
        <p:spPr>
          <a:xfrm>
            <a:off x="5391150" y="100965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写论文之前：署名、投稿目标与论文大纲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9B699E8-08C7-4DDE-95D7-8E91F13AD67D}"/>
              </a:ext>
            </a:extLst>
          </p:cNvPr>
          <p:cNvSpPr/>
          <p:nvPr/>
        </p:nvSpPr>
        <p:spPr>
          <a:xfrm>
            <a:off x="4953000" y="158115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92E73BC-F4F6-4DCD-AFF3-635582F6F0BC}"/>
              </a:ext>
            </a:extLst>
          </p:cNvPr>
          <p:cNvSpPr txBox="1"/>
          <p:nvPr/>
        </p:nvSpPr>
        <p:spPr>
          <a:xfrm>
            <a:off x="5391150" y="160020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论文画图指南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0DE0942-FC05-43D2-B86F-4E1EC60558EF}"/>
              </a:ext>
            </a:extLst>
          </p:cNvPr>
          <p:cNvSpPr/>
          <p:nvPr/>
        </p:nvSpPr>
        <p:spPr>
          <a:xfrm>
            <a:off x="4953000" y="21717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33CC3F8-0F35-4570-AC0C-832CBCF19EC0}"/>
              </a:ext>
            </a:extLst>
          </p:cNvPr>
          <p:cNvSpPr txBox="1"/>
          <p:nvPr/>
        </p:nvSpPr>
        <p:spPr>
          <a:xfrm>
            <a:off x="5391150" y="219075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如何写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Abstract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47BDA9D-E16A-4B99-A91F-29D26353CC82}"/>
              </a:ext>
            </a:extLst>
          </p:cNvPr>
          <p:cNvSpPr/>
          <p:nvPr/>
        </p:nvSpPr>
        <p:spPr>
          <a:xfrm>
            <a:off x="4953000" y="276225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FE8C97F-6A0C-4C52-B942-63DD4E65A031}"/>
              </a:ext>
            </a:extLst>
          </p:cNvPr>
          <p:cNvSpPr txBox="1"/>
          <p:nvPr/>
        </p:nvSpPr>
        <p:spPr>
          <a:xfrm>
            <a:off x="5391150" y="278130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如何写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5DF08BA-094B-48AE-87AB-8B03BF2DFB2F}"/>
              </a:ext>
            </a:extLst>
          </p:cNvPr>
          <p:cNvSpPr/>
          <p:nvPr/>
        </p:nvSpPr>
        <p:spPr>
          <a:xfrm>
            <a:off x="4953000" y="33528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ADC0F5B-C8E4-4EFF-A71B-BB324A0F1476}"/>
              </a:ext>
            </a:extLst>
          </p:cNvPr>
          <p:cNvSpPr txBox="1"/>
          <p:nvPr/>
        </p:nvSpPr>
        <p:spPr>
          <a:xfrm>
            <a:off x="5391150" y="337185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如何写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Related Works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7D03B9B-6BF7-410B-B6E4-AF70C94401B9}"/>
              </a:ext>
            </a:extLst>
          </p:cNvPr>
          <p:cNvSpPr/>
          <p:nvPr/>
        </p:nvSpPr>
        <p:spPr>
          <a:xfrm>
            <a:off x="4953000" y="394335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2381CD5-AE19-4F88-B706-09129BD79EE9}"/>
              </a:ext>
            </a:extLst>
          </p:cNvPr>
          <p:cNvSpPr txBox="1"/>
          <p:nvPr/>
        </p:nvSpPr>
        <p:spPr>
          <a:xfrm>
            <a:off x="5391150" y="396240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如何写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Methods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D24DA59-CC54-4FBB-AF74-44874F9339EE}"/>
              </a:ext>
            </a:extLst>
          </p:cNvPr>
          <p:cNvSpPr/>
          <p:nvPr/>
        </p:nvSpPr>
        <p:spPr>
          <a:xfrm>
            <a:off x="4953000" y="45339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491FEF6-E48D-4C05-9328-5E93FD97003D}"/>
              </a:ext>
            </a:extLst>
          </p:cNvPr>
          <p:cNvSpPr txBox="1"/>
          <p:nvPr/>
        </p:nvSpPr>
        <p:spPr>
          <a:xfrm>
            <a:off x="5391150" y="455295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如何写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Experiments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E15458FC-2772-4E20-869F-3A9FAA515E9E}"/>
              </a:ext>
            </a:extLst>
          </p:cNvPr>
          <p:cNvSpPr/>
          <p:nvPr/>
        </p:nvSpPr>
        <p:spPr>
          <a:xfrm>
            <a:off x="4953000" y="512445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EF0224D-C357-49E6-93BA-898D2397E938}"/>
              </a:ext>
            </a:extLst>
          </p:cNvPr>
          <p:cNvSpPr txBox="1"/>
          <p:nvPr/>
        </p:nvSpPr>
        <p:spPr>
          <a:xfrm>
            <a:off x="5391150" y="514350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如何整理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Reference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EBC8A19D-EE6A-4D38-8EFF-528BA682628E}"/>
              </a:ext>
            </a:extLst>
          </p:cNvPr>
          <p:cNvSpPr/>
          <p:nvPr/>
        </p:nvSpPr>
        <p:spPr>
          <a:xfrm>
            <a:off x="4953000" y="5715000"/>
            <a:ext cx="323850" cy="323850"/>
          </a:xfrm>
          <a:prstGeom prst="ellipse">
            <a:avLst/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08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B7D1792-F546-49D1-BAB6-34691EA7A7DD}"/>
              </a:ext>
            </a:extLst>
          </p:cNvPr>
          <p:cNvSpPr txBox="1"/>
          <p:nvPr/>
        </p:nvSpPr>
        <p:spPr>
          <a:xfrm>
            <a:off x="5391150" y="5734050"/>
            <a:ext cx="6477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1A2430"/>
                </a:solidFill>
                <a:latin typeface="Times New Roman"/>
                <a:ea typeface="华文中宋"/>
              </a:rPr>
              <a:t>如何 </a:t>
            </a:r>
            <a:r>
              <a:rPr sz="17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AB78E50-DE37-499A-8920-91D19D8DA1E0}"/>
              </a:ext>
            </a:extLst>
          </p:cNvPr>
          <p:cNvSpPr txBox="1"/>
          <p:nvPr/>
        </p:nvSpPr>
        <p:spPr>
          <a:xfrm>
            <a:off x="4953000" y="651510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第二部分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059800E-2C7C-49C3-8EC0-F6AF92F6A08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31 / 86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4A36CCC-EAA9-43C5-9C95-CFB0BF845C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8C65719C-1175-42AB-9CD5-8B55ACF8D3F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A066456-2DBA-4CBD-9166-2ACCA4229BBF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99807B9-7438-4FEB-AD2D-59B56913FD56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署名、投稿目标与论文大纲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D4D2D58-3C74-48D3-B294-D22AD9895A77}"/>
              </a:ext>
            </a:extLst>
          </p:cNvPr>
          <p:cNvSpPr/>
          <p:nvPr/>
        </p:nvSpPr>
        <p:spPr>
          <a:xfrm>
            <a:off x="304800" y="914400"/>
            <a:ext cx="5638800" cy="13335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A26CA00-2603-4C77-93B2-E7F7817F089A}"/>
              </a:ext>
            </a:extLst>
          </p:cNvPr>
          <p:cNvSpPr/>
          <p:nvPr/>
        </p:nvSpPr>
        <p:spPr>
          <a:xfrm>
            <a:off x="457200" y="108585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确定论文署名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8660BCC-500F-4D00-A36C-B7144AFCA45C}"/>
              </a:ext>
            </a:extLst>
          </p:cNvPr>
          <p:cNvSpPr txBox="1"/>
          <p:nvPr/>
        </p:nvSpPr>
        <p:spPr>
          <a:xfrm>
            <a:off x="457200" y="1562100"/>
            <a:ext cx="53340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按照贡献大小排序。通常论文的主要写作由第一作者执笔，通讯作者是整个研究工作的负责人。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414D391-4D61-41C8-B100-9C566CE3D514}"/>
              </a:ext>
            </a:extLst>
          </p:cNvPr>
          <p:cNvSpPr/>
          <p:nvPr/>
        </p:nvSpPr>
        <p:spPr>
          <a:xfrm>
            <a:off x="6248400" y="914400"/>
            <a:ext cx="5638800" cy="13335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128A983-B35B-435C-86F9-02D897908D76}"/>
              </a:ext>
            </a:extLst>
          </p:cNvPr>
          <p:cNvSpPr/>
          <p:nvPr/>
        </p:nvSpPr>
        <p:spPr>
          <a:xfrm>
            <a:off x="6400800" y="108585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确定投稿目标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0243A1D-D239-41CF-B66A-38D6BB8138A9}"/>
              </a:ext>
            </a:extLst>
          </p:cNvPr>
          <p:cNvSpPr txBox="1"/>
          <p:nvPr/>
        </p:nvSpPr>
        <p:spPr>
          <a:xfrm>
            <a:off x="6400800" y="1562100"/>
            <a:ext cx="53340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根据工作的水准，挑选合适的发表源。一般情况下是由导师来确定。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08D674F-E3F7-4712-879F-CEFFBEFF9048}"/>
              </a:ext>
            </a:extLst>
          </p:cNvPr>
          <p:cNvSpPr/>
          <p:nvPr/>
        </p:nvSpPr>
        <p:spPr>
          <a:xfrm>
            <a:off x="304800" y="2667000"/>
            <a:ext cx="11582400" cy="2705100"/>
          </a:xfrm>
          <a:prstGeom prst="roundRect">
            <a:avLst>
              <a:gd name="adj" fmla="val 277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E6787DE-B8DD-4061-9B87-B9A74D2F1B57}"/>
              </a:ext>
            </a:extLst>
          </p:cNvPr>
          <p:cNvSpPr txBox="1"/>
          <p:nvPr/>
        </p:nvSpPr>
        <p:spPr>
          <a:xfrm>
            <a:off x="457200" y="2857500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科学论文有比较清晰的结构，一般包括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C17385A-86BD-42E1-9B66-648BCFCC636E}"/>
              </a:ext>
            </a:extLst>
          </p:cNvPr>
          <p:cNvSpPr/>
          <p:nvPr/>
        </p:nvSpPr>
        <p:spPr>
          <a:xfrm>
            <a:off x="533400" y="3200400"/>
            <a:ext cx="5181600" cy="1943100"/>
          </a:xfrm>
          <a:prstGeom prst="roundRect">
            <a:avLst>
              <a:gd name="adj" fmla="val 423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76DFBD7-537A-4905-BA97-7C4A28B306C7}"/>
              </a:ext>
            </a:extLst>
          </p:cNvPr>
          <p:cNvSpPr txBox="1"/>
          <p:nvPr/>
        </p:nvSpPr>
        <p:spPr>
          <a:xfrm>
            <a:off x="685800" y="3333750"/>
            <a:ext cx="48768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01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Title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02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Abstract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03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Introduction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04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Related Works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05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Your Contribution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A229CFD-B0B5-4970-8A35-8B08C1DB902D}"/>
              </a:ext>
            </a:extLst>
          </p:cNvPr>
          <p:cNvSpPr/>
          <p:nvPr/>
        </p:nvSpPr>
        <p:spPr>
          <a:xfrm>
            <a:off x="6019800" y="3200400"/>
            <a:ext cx="5562600" cy="1619250"/>
          </a:xfrm>
          <a:prstGeom prst="roundRect">
            <a:avLst>
              <a:gd name="adj" fmla="val 5882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5F685AC-7B12-4654-9B87-09C8CE94439B}"/>
              </a:ext>
            </a:extLst>
          </p:cNvPr>
          <p:cNvSpPr txBox="1"/>
          <p:nvPr/>
        </p:nvSpPr>
        <p:spPr>
          <a:xfrm>
            <a:off x="6172200" y="3333750"/>
            <a:ext cx="5257800" cy="14081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06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Support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07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Discussion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08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Conclusion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09  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Reference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040858-2F48-4A96-AA7D-E5362253D44E}"/>
              </a:ext>
            </a:extLst>
          </p:cNvPr>
          <p:cNvSpPr txBox="1"/>
          <p:nvPr/>
        </p:nvSpPr>
        <p:spPr>
          <a:xfrm>
            <a:off x="6019800" y="4972050"/>
            <a:ext cx="55626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100">
                <a:solidFill>
                  <a:srgbClr val="EAD7F0"/>
                </a:solidFill>
                <a:latin typeface="Times New Roman"/>
                <a:ea typeface="Times New Roman"/>
              </a:rPr>
              <a:t>Method / Observation / Benchmark / Analysis, etc.</a:t>
            </a:r>
            <a:r>
              <a:rPr sz="1100">
                <a:solidFill>
                  <a:srgbClr val="EAD7F0"/>
                </a:solidFill>
                <a:latin typeface="华文中宋"/>
                <a:ea typeface="华文中宋"/>
              </a:rPr>
              <a:t>　</a:t>
            </a:r>
            <a:r>
              <a:rPr sz="1100">
                <a:solidFill>
                  <a:srgbClr val="EAD7F0"/>
                </a:solidFill>
                <a:latin typeface="Times New Roman"/>
                <a:ea typeface="Times New Roman"/>
              </a:rPr>
              <a:t>Theoretical or Experimental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C4C7539-FD36-4BC3-9E17-7A3905ABCB9C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第八篇 写论文之前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F41EFD4-217E-4639-BD52-1F5F424FBBF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32 / 86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A0ADF82-83CB-4E1A-8A5A-5E9A24ACAE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537D7CA5-B8A1-4248-BD31-8121ACEB312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2CA1D6C-F599-449D-B799-2284EF88CE79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75C7570-9543-4E0D-A0B9-3F9F8F519188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在论文过程中，你需要说的其实就是这些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ED9CC85-67FD-4886-9EF6-A359CFE0DDB0}"/>
              </a:ext>
            </a:extLst>
          </p:cNvPr>
          <p:cNvSpPr txBox="1"/>
          <p:nvPr/>
        </p:nvSpPr>
        <p:spPr>
          <a:xfrm>
            <a:off x="304800" y="838200"/>
            <a:ext cx="11582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1A2430"/>
                </a:solidFill>
                <a:latin typeface="Times New Roman"/>
                <a:ea typeface="华文中宋"/>
              </a:rPr>
              <a:t>八句话构成一篇论文的故事线，先把它们写清楚，再分章节展开。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BC5D922-021E-4391-B3C8-E64EBC9D63D5}"/>
              </a:ext>
            </a:extLst>
          </p:cNvPr>
          <p:cNvSpPr/>
          <p:nvPr/>
        </p:nvSpPr>
        <p:spPr>
          <a:xfrm>
            <a:off x="304800" y="1524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6CFCCD6-19B6-4242-9EF8-28308775344F}"/>
              </a:ext>
            </a:extLst>
          </p:cNvPr>
          <p:cNvSpPr/>
          <p:nvPr/>
        </p:nvSpPr>
        <p:spPr>
          <a:xfrm>
            <a:off x="495300" y="1895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0519906-D43F-4F52-859D-00F6965764B4}"/>
              </a:ext>
            </a:extLst>
          </p:cNvPr>
          <p:cNvSpPr txBox="1"/>
          <p:nvPr/>
        </p:nvSpPr>
        <p:spPr>
          <a:xfrm>
            <a:off x="990600" y="1724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Problem X is important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问题 X 是重要的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2174F70-2D4F-4E09-A3EE-D325468E4A7A}"/>
              </a:ext>
            </a:extLst>
          </p:cNvPr>
          <p:cNvSpPr/>
          <p:nvPr/>
        </p:nvSpPr>
        <p:spPr>
          <a:xfrm>
            <a:off x="6248400" y="1524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3E83A26-9C3D-407D-A3BA-5DCDD17807DF}"/>
              </a:ext>
            </a:extLst>
          </p:cNvPr>
          <p:cNvSpPr/>
          <p:nvPr/>
        </p:nvSpPr>
        <p:spPr>
          <a:xfrm>
            <a:off x="6438900" y="1895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EE729B6-D629-46AA-AB82-80C118167A36}"/>
              </a:ext>
            </a:extLst>
          </p:cNvPr>
          <p:cNvSpPr txBox="1"/>
          <p:nvPr/>
        </p:nvSpPr>
        <p:spPr>
          <a:xfrm>
            <a:off x="6934200" y="1724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Why D is better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为什么 D 更好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3265988-F4BE-4759-8376-735D43C93E4F}"/>
              </a:ext>
            </a:extLst>
          </p:cNvPr>
          <p:cNvSpPr/>
          <p:nvPr/>
        </p:nvSpPr>
        <p:spPr>
          <a:xfrm>
            <a:off x="304800" y="2667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BD8C94A-6B30-4904-8F22-C24A04BFF7B7}"/>
              </a:ext>
            </a:extLst>
          </p:cNvPr>
          <p:cNvSpPr/>
          <p:nvPr/>
        </p:nvSpPr>
        <p:spPr>
          <a:xfrm>
            <a:off x="495300" y="3038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D2EB0A3-6BD9-4B8E-B637-6231219929DD}"/>
              </a:ext>
            </a:extLst>
          </p:cNvPr>
          <p:cNvSpPr txBox="1"/>
          <p:nvPr/>
        </p:nvSpPr>
        <p:spPr>
          <a:xfrm>
            <a:off x="990600" y="2867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Previous works A, B, and C have been done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已有工作 A、B、C 已经被做过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04E11AE-EAB7-420F-959E-9B461C6846D6}"/>
              </a:ext>
            </a:extLst>
          </p:cNvPr>
          <p:cNvSpPr/>
          <p:nvPr/>
        </p:nvSpPr>
        <p:spPr>
          <a:xfrm>
            <a:off x="6248400" y="2667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4B82F00-A958-47F6-B1C3-42F5ECBABB7B}"/>
              </a:ext>
            </a:extLst>
          </p:cNvPr>
          <p:cNvSpPr/>
          <p:nvPr/>
        </p:nvSpPr>
        <p:spPr>
          <a:xfrm>
            <a:off x="6438900" y="3038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78EAE35-52A9-47C4-BDB0-5D637BB16190}"/>
              </a:ext>
            </a:extLst>
          </p:cNvPr>
          <p:cNvSpPr txBox="1"/>
          <p:nvPr/>
        </p:nvSpPr>
        <p:spPr>
          <a:xfrm>
            <a:off x="6934200" y="2867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Experimental comparison against A, B, and C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与 A、B、C 的实验对比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3CA0CEF-0C5D-4957-82EB-01326F537882}"/>
              </a:ext>
            </a:extLst>
          </p:cNvPr>
          <p:cNvSpPr/>
          <p:nvPr/>
        </p:nvSpPr>
        <p:spPr>
          <a:xfrm>
            <a:off x="304800" y="3810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270FB19-CB15-4EE5-A32C-F36B49EFC492}"/>
              </a:ext>
            </a:extLst>
          </p:cNvPr>
          <p:cNvSpPr/>
          <p:nvPr/>
        </p:nvSpPr>
        <p:spPr>
          <a:xfrm>
            <a:off x="495300" y="4181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039ED4F-5D1F-442D-B019-592B821BC6FE}"/>
              </a:ext>
            </a:extLst>
          </p:cNvPr>
          <p:cNvSpPr txBox="1"/>
          <p:nvPr/>
        </p:nvSpPr>
        <p:spPr>
          <a:xfrm>
            <a:off x="990600" y="4010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A, B, and C have their weakness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A、B、C 存在自己的不足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8B612AE1-D5FD-4E2F-AE2E-368D2861B9BF}"/>
              </a:ext>
            </a:extLst>
          </p:cNvPr>
          <p:cNvSpPr/>
          <p:nvPr/>
        </p:nvSpPr>
        <p:spPr>
          <a:xfrm>
            <a:off x="6248400" y="3810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AA59B2A-7EE5-4067-87AA-D9A8D0D6615A}"/>
              </a:ext>
            </a:extLst>
          </p:cNvPr>
          <p:cNvSpPr/>
          <p:nvPr/>
        </p:nvSpPr>
        <p:spPr>
          <a:xfrm>
            <a:off x="6438900" y="4181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3F797CE-154D-41A7-BD7B-3CC377169B7D}"/>
              </a:ext>
            </a:extLst>
          </p:cNvPr>
          <p:cNvSpPr txBox="1"/>
          <p:nvPr/>
        </p:nvSpPr>
        <p:spPr>
          <a:xfrm>
            <a:off x="6934200" y="4010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Strength and Weakness of D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D 的优点与缺点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2CCE43F-7AAF-4B70-89D9-41D34D392E73}"/>
              </a:ext>
            </a:extLst>
          </p:cNvPr>
          <p:cNvSpPr/>
          <p:nvPr/>
        </p:nvSpPr>
        <p:spPr>
          <a:xfrm>
            <a:off x="304800" y="4953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68997B8-78C7-4B18-BAAF-6F5F71274DF0}"/>
              </a:ext>
            </a:extLst>
          </p:cNvPr>
          <p:cNvSpPr/>
          <p:nvPr/>
        </p:nvSpPr>
        <p:spPr>
          <a:xfrm>
            <a:off x="495300" y="5324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31129F6-9F59-4D4B-80C6-190851756512}"/>
              </a:ext>
            </a:extLst>
          </p:cNvPr>
          <p:cNvSpPr txBox="1"/>
          <p:nvPr/>
        </p:nvSpPr>
        <p:spPr>
          <a:xfrm>
            <a:off x="990600" y="5153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Your Work D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本文提出的工作 D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847CF849-808D-4293-97D6-496E961B0976}"/>
              </a:ext>
            </a:extLst>
          </p:cNvPr>
          <p:cNvSpPr/>
          <p:nvPr/>
        </p:nvSpPr>
        <p:spPr>
          <a:xfrm>
            <a:off x="6248400" y="4953000"/>
            <a:ext cx="5638800" cy="92392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4FD12B3D-3259-47DD-8320-7B2807AE06EA}"/>
              </a:ext>
            </a:extLst>
          </p:cNvPr>
          <p:cNvSpPr/>
          <p:nvPr/>
        </p:nvSpPr>
        <p:spPr>
          <a:xfrm>
            <a:off x="6438900" y="532447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8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E81243D-2210-4662-B0A0-DA17BE1CFBDB}"/>
              </a:ext>
            </a:extLst>
          </p:cNvPr>
          <p:cNvSpPr txBox="1"/>
          <p:nvPr/>
        </p:nvSpPr>
        <p:spPr>
          <a:xfrm>
            <a:off x="6934200" y="5153025"/>
            <a:ext cx="48006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Future work on D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D 的后续工作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51A6BAE-8A83-4044-ACB4-3E46F0BB76F1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第八篇 写论文之前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571EFD2-1A85-4D04-A4AD-724E3AABDDC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33 / 86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2828A53-F185-451C-AD45-527A38C815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306BD9B-9347-44F7-9430-23FB1BE11A4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705727B-2FF6-4CFF-8909-7928C7C7273B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5291C6C-3E76-488B-84AB-2058720B1E69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好的论文配图，让读者在几秒内抓到核心贡献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1509735-C8DA-4698-B96F-9C89A036EBFF}"/>
              </a:ext>
            </a:extLst>
          </p:cNvPr>
          <p:cNvSpPr/>
          <p:nvPr/>
        </p:nvSpPr>
        <p:spPr>
          <a:xfrm>
            <a:off x="304800" y="838200"/>
            <a:ext cx="4495800" cy="3733800"/>
          </a:xfrm>
          <a:prstGeom prst="roundRect">
            <a:avLst>
              <a:gd name="adj" fmla="val 255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FCCE3C8-2095-4CE9-A717-D0FD3DF1DA62}"/>
              </a:ext>
            </a:extLst>
          </p:cNvPr>
          <p:cNvSpPr txBox="1"/>
          <p:nvPr/>
        </p:nvSpPr>
        <p:spPr>
          <a:xfrm>
            <a:off x="457200" y="1009650"/>
            <a:ext cx="4191000" cy="34099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好的论文配图应该帮助审稿人快速回答三个问题：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  <a:spcAft>
                <a:spcPts val="600"/>
              </a:spcAft>
            </a:pPr>
            <a:r>
              <a:rPr sz="1200" b="1">
                <a:solidFill>
                  <a:srgbClr val="FFC845"/>
                </a:solidFill>
                <a:latin typeface="Times New Roman"/>
                <a:ea typeface="Times New Roman"/>
              </a:rPr>
              <a:t>1 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这篇论文解决了什么重要问题？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  <a:spcAft>
                <a:spcPts val="600"/>
              </a:spcAft>
            </a:pPr>
            <a:r>
              <a:rPr sz="1200" b="1">
                <a:solidFill>
                  <a:srgbClr val="FFC845"/>
                </a:solidFill>
                <a:latin typeface="Times New Roman"/>
                <a:ea typeface="Times New Roman"/>
              </a:rPr>
              <a:t>2 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现有方法为什么不够好？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  <a:spcAft>
                <a:spcPts val="600"/>
              </a:spcAft>
            </a:pPr>
            <a:r>
              <a:rPr sz="1200" b="1">
                <a:solidFill>
                  <a:srgbClr val="FFC845"/>
                </a:solidFill>
                <a:latin typeface="Times New Roman"/>
                <a:ea typeface="Times New Roman"/>
              </a:rPr>
              <a:t>3 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你的方法有什么优势？效果如何？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很多审稿人第一次接触论文时，会先扫一遍标题、摘要和论文的图表。因此，图画得好不好，会直接影响论文的第一印象。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DC0B04F-5B15-40E9-B2E3-33F449EDD7D6}"/>
              </a:ext>
            </a:extLst>
          </p:cNvPr>
          <p:cNvSpPr/>
          <p:nvPr/>
        </p:nvSpPr>
        <p:spPr>
          <a:xfrm>
            <a:off x="4953000" y="838200"/>
            <a:ext cx="6934200" cy="10668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4769F1-DB5F-4D2F-BE16-EDD076BABB3B}"/>
              </a:ext>
            </a:extLst>
          </p:cNvPr>
          <p:cNvSpPr txBox="1"/>
          <p:nvPr/>
        </p:nvSpPr>
        <p:spPr>
          <a:xfrm>
            <a:off x="5105400" y="990600"/>
            <a:ext cx="66294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动机图 </a:t>
            </a:r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Teaser Figure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D3675F-EFF4-4788-9E78-9CD108FA3D2F}"/>
              </a:ext>
            </a:extLst>
          </p:cNvPr>
          <p:cNvSpPr txBox="1"/>
          <p:nvPr/>
        </p:nvSpPr>
        <p:spPr>
          <a:xfrm>
            <a:off x="5105400" y="1295400"/>
            <a:ext cx="66294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通常出现在论文开头附近，用来展示论文的核心动机、问题观察或方法优势，让读者产生“这个问题确实重要，而且思路有意思”的感觉。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A305F0C-4C90-4F56-8A24-D081800A546F}"/>
              </a:ext>
            </a:extLst>
          </p:cNvPr>
          <p:cNvSpPr/>
          <p:nvPr/>
        </p:nvSpPr>
        <p:spPr>
          <a:xfrm>
            <a:off x="4953000" y="2019300"/>
            <a:ext cx="6934200" cy="8763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06D262-169C-4628-BA79-6764F5C5CFA5}"/>
              </a:ext>
            </a:extLst>
          </p:cNvPr>
          <p:cNvSpPr txBox="1"/>
          <p:nvPr/>
        </p:nvSpPr>
        <p:spPr>
          <a:xfrm>
            <a:off x="5105400" y="2171700"/>
            <a:ext cx="66294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方法图 </a:t>
            </a:r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Main Figure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5BC296-2394-4572-B4F0-2E98033A7BC7}"/>
              </a:ext>
            </a:extLst>
          </p:cNvPr>
          <p:cNvSpPr txBox="1"/>
          <p:nvPr/>
        </p:nvSpPr>
        <p:spPr>
          <a:xfrm>
            <a:off x="5105400" y="2476500"/>
            <a:ext cx="6629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包括架构图、算法示意图、数据构造图等，用来清晰展示论文所提出的方法与整个工作流。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B3C893B-453D-4E0E-911B-FC4F26D4BE3B}"/>
              </a:ext>
            </a:extLst>
          </p:cNvPr>
          <p:cNvSpPr/>
          <p:nvPr/>
        </p:nvSpPr>
        <p:spPr>
          <a:xfrm>
            <a:off x="4953000" y="3200400"/>
            <a:ext cx="6934200" cy="8763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33E29C-484F-4D9A-8A23-91DC9C8BC186}"/>
              </a:ext>
            </a:extLst>
          </p:cNvPr>
          <p:cNvSpPr txBox="1"/>
          <p:nvPr/>
        </p:nvSpPr>
        <p:spPr>
          <a:xfrm>
            <a:off x="5105400" y="3352800"/>
            <a:ext cx="66294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实验图 </a:t>
            </a:r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Results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1FF9FBC-05FB-424F-87F4-E5922904DE7E}"/>
              </a:ext>
            </a:extLst>
          </p:cNvPr>
          <p:cNvSpPr txBox="1"/>
          <p:nvPr/>
        </p:nvSpPr>
        <p:spPr>
          <a:xfrm>
            <a:off x="5105400" y="3657600"/>
            <a:ext cx="67437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包括实验表格、柱状图、折线图、散点图、热力图、雷达图、案例可视化等，承载实验结论与分析。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452BD1E-7877-4C20-8C4B-93512F76F3D6}"/>
              </a:ext>
            </a:extLst>
          </p:cNvPr>
          <p:cNvSpPr/>
          <p:nvPr/>
        </p:nvSpPr>
        <p:spPr>
          <a:xfrm>
            <a:off x="304800" y="4762500"/>
            <a:ext cx="11582400" cy="876300"/>
          </a:xfrm>
          <a:prstGeom prst="roundRect">
            <a:avLst>
              <a:gd name="adj" fmla="val 7575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2AAAA48-053F-45FE-9620-889E0E5D84CC}"/>
              </a:ext>
            </a:extLst>
          </p:cNvPr>
          <p:cNvSpPr txBox="1"/>
          <p:nvPr/>
        </p:nvSpPr>
        <p:spPr>
          <a:xfrm>
            <a:off x="457200" y="4914900"/>
            <a:ext cx="112776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制作路径　　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前两者可以通过写提示词用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先生成草图，再按照草图复现（使用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PPT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或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Visio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等等）自己修改微调；第三个则可以用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coding agent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写代码生成图表。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B4A0CEB-699A-45A8-ABD7-EF9536A48465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B167616-012D-4DEB-9254-20290AF27CE4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34 / 86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DF70819-AEFF-4692-BD53-3C975310E0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6AACDA45-42FF-49EF-9B06-64EFAFA94434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C2E580D-4E73-4126-8428-E444D25B54DB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773D30E-7BBC-4678-AA57-E49B2807656F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动机图：放在论文开头，只围绕两个重点展开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978698-B251-451B-8716-37914873E086}"/>
              </a:ext>
            </a:extLst>
          </p:cNvPr>
          <p:cNvSpPr/>
          <p:nvPr/>
        </p:nvSpPr>
        <p:spPr>
          <a:xfrm>
            <a:off x="304800" y="838200"/>
            <a:ext cx="11582400" cy="1143000"/>
          </a:xfrm>
          <a:prstGeom prst="roundRect">
            <a:avLst>
              <a:gd name="adj" fmla="val 833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9ABA10C-AB47-483A-9717-EAE3A6FB9483}"/>
              </a:ext>
            </a:extLst>
          </p:cNvPr>
          <p:cNvSpPr txBox="1"/>
          <p:nvPr/>
        </p:nvSpPr>
        <p:spPr>
          <a:xfrm>
            <a:off x="533400" y="971550"/>
            <a:ext cx="66675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  <a:ea typeface="华文中宋"/>
              </a:rPr>
              <a:t>“读者看完这张图，应该记住什么？”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CE82540-47A6-4400-84A3-C197B08D3D3B}"/>
              </a:ext>
            </a:extLst>
          </p:cNvPr>
          <p:cNvSpPr txBox="1"/>
          <p:nvPr/>
        </p:nvSpPr>
        <p:spPr>
          <a:xfrm>
            <a:off x="533400" y="1371600"/>
            <a:ext cx="6667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动手画图之前，先想清楚这一句话。如果这一句话想不清楚，图通常也画不清楚。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1DEDA27-D9AE-4E31-88AA-E6F82524AF06}"/>
              </a:ext>
            </a:extLst>
          </p:cNvPr>
          <p:cNvSpPr/>
          <p:nvPr/>
        </p:nvSpPr>
        <p:spPr>
          <a:xfrm>
            <a:off x="7543800" y="990600"/>
            <a:ext cx="9525" cy="838200"/>
          </a:xfrm>
          <a:prstGeom prst="rect">
            <a:avLst/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0A39B0-2A02-4AD7-80C4-4D9D40C2AC08}"/>
              </a:ext>
            </a:extLst>
          </p:cNvPr>
          <p:cNvSpPr txBox="1"/>
          <p:nvPr/>
        </p:nvSpPr>
        <p:spPr>
          <a:xfrm>
            <a:off x="7772400" y="990600"/>
            <a:ext cx="3810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基本原则 </a:t>
            </a: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Self-Contain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3C3C9E-05F3-47CE-A787-9D797672B7ED}"/>
              </a:ext>
            </a:extLst>
          </p:cNvPr>
          <p:cNvSpPr txBox="1"/>
          <p:nvPr/>
        </p:nvSpPr>
        <p:spPr>
          <a:xfrm>
            <a:off x="7772400" y="1276350"/>
            <a:ext cx="38100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读者只看这幅图，不需要翻阅论文其他内容，也能明白在讲什么。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05B08E3-8DC4-44DD-82F7-6FE33AE2C52F}"/>
              </a:ext>
            </a:extLst>
          </p:cNvPr>
          <p:cNvSpPr/>
          <p:nvPr/>
        </p:nvSpPr>
        <p:spPr>
          <a:xfrm>
            <a:off x="304800" y="2133600"/>
            <a:ext cx="56388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DC20175-9450-49DE-8599-B8DEC6CA07BC}"/>
              </a:ext>
            </a:extLst>
          </p:cNvPr>
          <p:cNvSpPr txBox="1"/>
          <p:nvPr/>
        </p:nvSpPr>
        <p:spPr>
          <a:xfrm>
            <a:off x="457200" y="22860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01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  问题或观察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CEEDE83-5A0C-48CD-A643-6A73D69B6582}"/>
              </a:ext>
            </a:extLst>
          </p:cNvPr>
          <p:cNvSpPr txBox="1"/>
          <p:nvPr/>
        </p:nvSpPr>
        <p:spPr>
          <a:xfrm>
            <a:off x="457200" y="2590800"/>
            <a:ext cx="5334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论文要解决的问题？或现有方法的局限？或典型的、代表性的、反直觉的失败案例或观察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EBFB810-4BBF-4456-B573-AD0CDC934D94}"/>
              </a:ext>
            </a:extLst>
          </p:cNvPr>
          <p:cNvSpPr/>
          <p:nvPr/>
        </p:nvSpPr>
        <p:spPr>
          <a:xfrm>
            <a:off x="6248400" y="2133600"/>
            <a:ext cx="56388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31D00E7-6C5C-41C1-9E7D-0AA61DEE33DE}"/>
              </a:ext>
            </a:extLst>
          </p:cNvPr>
          <p:cNvSpPr txBox="1"/>
          <p:nvPr/>
        </p:nvSpPr>
        <p:spPr>
          <a:xfrm>
            <a:off x="6400800" y="22860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02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  本文的优势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DE0EBE6-1968-4396-A901-6BFC2BE93CDF}"/>
              </a:ext>
            </a:extLst>
          </p:cNvPr>
          <p:cNvSpPr txBox="1"/>
          <p:nvPr/>
        </p:nvSpPr>
        <p:spPr>
          <a:xfrm>
            <a:off x="6400800" y="2590800"/>
            <a:ext cx="5334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本文方法的优势是什么？一般与左侧的问题或失败案例并置，形成直观对比。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116F789-2503-4E8F-B9E6-8498336683C8}"/>
              </a:ext>
            </a:extLst>
          </p:cNvPr>
          <p:cNvSpPr/>
          <p:nvPr/>
        </p:nvSpPr>
        <p:spPr>
          <a:xfrm>
            <a:off x="304800" y="3429000"/>
            <a:ext cx="2800350" cy="1724025"/>
          </a:xfrm>
          <a:prstGeom prst="roundRect">
            <a:avLst>
              <a:gd name="adj" fmla="val 3571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8CFB805-81DC-4489-BBCD-41D7245FBFB4}"/>
              </a:ext>
            </a:extLst>
          </p:cNvPr>
          <p:cNvSpPr txBox="1"/>
          <p:nvPr/>
        </p:nvSpPr>
        <p:spPr>
          <a:xfrm>
            <a:off x="457200" y="3581400"/>
            <a:ext cx="24955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案例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D0C8F79-7EC9-42C0-901D-96D8E174F65D}"/>
              </a:ext>
            </a:extLst>
          </p:cNvPr>
          <p:cNvSpPr txBox="1"/>
          <p:nvPr/>
        </p:nvSpPr>
        <p:spPr>
          <a:xfrm>
            <a:off x="457200" y="3867150"/>
            <a:ext cx="24955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现有方法 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vs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本文方法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B9956D8-EA00-4061-B35D-EBDC243D1500}"/>
              </a:ext>
            </a:extLst>
          </p:cNvPr>
          <p:cNvSpPr txBox="1"/>
          <p:nvPr/>
        </p:nvSpPr>
        <p:spPr>
          <a:xfrm>
            <a:off x="457200" y="4267200"/>
            <a:ext cx="24955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一边画现有方法的失败案例，另一边画本文方法如何解决，适合强调研究动机和核心 insight 的论文。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E4D0FFA-BDB1-44C7-82C0-9D307235F9DD}"/>
              </a:ext>
            </a:extLst>
          </p:cNvPr>
          <p:cNvSpPr/>
          <p:nvPr/>
        </p:nvSpPr>
        <p:spPr>
          <a:xfrm>
            <a:off x="3219450" y="3429000"/>
            <a:ext cx="2800350" cy="1724025"/>
          </a:xfrm>
          <a:prstGeom prst="roundRect">
            <a:avLst>
              <a:gd name="adj" fmla="val 3571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5D19F3A-EAB1-4890-97DA-C5883D069F54}"/>
              </a:ext>
            </a:extLst>
          </p:cNvPr>
          <p:cNvSpPr txBox="1"/>
          <p:nvPr/>
        </p:nvSpPr>
        <p:spPr>
          <a:xfrm>
            <a:off x="3371850" y="3581400"/>
            <a:ext cx="24955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案例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3103C1-B4E2-4B35-B9C0-AA3A47F147A9}"/>
              </a:ext>
            </a:extLst>
          </p:cNvPr>
          <p:cNvSpPr txBox="1"/>
          <p:nvPr/>
        </p:nvSpPr>
        <p:spPr>
          <a:xfrm>
            <a:off x="3371850" y="3867150"/>
            <a:ext cx="24955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形象对比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CB4084-34E4-4C24-A16C-726CF4A4E9E9}"/>
              </a:ext>
            </a:extLst>
          </p:cNvPr>
          <p:cNvSpPr txBox="1"/>
          <p:nvPr/>
        </p:nvSpPr>
        <p:spPr>
          <a:xfrm>
            <a:off x="3371850" y="4267200"/>
            <a:ext cx="24955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不是通过具体例子，而是采用抽象风格的形象来展示本文方法相比已有方法的优势。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F6E8D5BA-B41F-4227-AB29-B32B19A7E13D}"/>
              </a:ext>
            </a:extLst>
          </p:cNvPr>
          <p:cNvSpPr/>
          <p:nvPr/>
        </p:nvSpPr>
        <p:spPr>
          <a:xfrm>
            <a:off x="6134100" y="3429000"/>
            <a:ext cx="2800350" cy="1724025"/>
          </a:xfrm>
          <a:prstGeom prst="roundRect">
            <a:avLst>
              <a:gd name="adj" fmla="val 3571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2F83C14-B0AC-4D46-93C1-E6970C79948C}"/>
              </a:ext>
            </a:extLst>
          </p:cNvPr>
          <p:cNvSpPr txBox="1"/>
          <p:nvPr/>
        </p:nvSpPr>
        <p:spPr>
          <a:xfrm>
            <a:off x="6286500" y="3581400"/>
            <a:ext cx="24955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案例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703713-2A41-48CA-9AEB-D02FE5E46E76}"/>
              </a:ext>
            </a:extLst>
          </p:cNvPr>
          <p:cNvSpPr txBox="1"/>
          <p:nvPr/>
        </p:nvSpPr>
        <p:spPr>
          <a:xfrm>
            <a:off x="6286500" y="3867150"/>
            <a:ext cx="24955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具体例子驱动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8F5BFB8-D803-48CD-976E-3BB2EF5A9B60}"/>
              </a:ext>
            </a:extLst>
          </p:cNvPr>
          <p:cNvSpPr txBox="1"/>
          <p:nvPr/>
        </p:nvSpPr>
        <p:spPr>
          <a:xfrm>
            <a:off x="6286500" y="4267200"/>
            <a:ext cx="24955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用一个任务、一个样本或者一个场景，展示出整个方法的运行效果。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9C78566-382C-4D5A-94ED-B601FA7FA2DE}"/>
              </a:ext>
            </a:extLst>
          </p:cNvPr>
          <p:cNvSpPr/>
          <p:nvPr/>
        </p:nvSpPr>
        <p:spPr>
          <a:xfrm>
            <a:off x="9048750" y="3429000"/>
            <a:ext cx="2800350" cy="1724025"/>
          </a:xfrm>
          <a:prstGeom prst="roundRect">
            <a:avLst>
              <a:gd name="adj" fmla="val 3571"/>
            </a:avLst>
          </a:prstGeom>
          <a:solidFill>
            <a:srgbClr val="F5FA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08B7C27-C9B3-4BBB-B427-42E09E8CA4E4}"/>
              </a:ext>
            </a:extLst>
          </p:cNvPr>
          <p:cNvSpPr txBox="1"/>
          <p:nvPr/>
        </p:nvSpPr>
        <p:spPr>
          <a:xfrm>
            <a:off x="9201150" y="3581400"/>
            <a:ext cx="24955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案例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70A258F-F2E0-48EA-B1B6-2D34834DB291}"/>
              </a:ext>
            </a:extLst>
          </p:cNvPr>
          <p:cNvSpPr txBox="1"/>
          <p:nvPr/>
        </p:nvSpPr>
        <p:spPr>
          <a:xfrm>
            <a:off x="9201150" y="3867150"/>
            <a:ext cx="249555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方法概览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0506BBC-E72D-4CB5-98B4-A8A44C473949}"/>
              </a:ext>
            </a:extLst>
          </p:cNvPr>
          <p:cNvSpPr txBox="1"/>
          <p:nvPr/>
        </p:nvSpPr>
        <p:spPr>
          <a:xfrm>
            <a:off x="9201150" y="4267200"/>
            <a:ext cx="249555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展示文章工作量，适合 benchmark 类、或者工程量比较大的工作。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E1E0E2C-DBF7-4BE7-84D7-2CDC91074B14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A9FAF29-CA1E-4D2A-ACD9-E4ECBBEE7FE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35 / 86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3F271D1-D2BD-49D0-800C-BEEEEF61EC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10D40C17-EB60-4FA1-9BBD-1EEE08C0BBD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1DF7F2C-5EFA-4714-AD66-E2B5A993DD7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C3E21C-CFD7-403B-B597-121216CE1C94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案例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1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：现有方法失败案例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vs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本文方法如何解决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B8FE546-0DCF-4611-B2F5-5B1D4809D001}"/>
              </a:ext>
            </a:extLst>
          </p:cNvPr>
          <p:cNvSpPr/>
          <p:nvPr/>
        </p:nvSpPr>
        <p:spPr>
          <a:xfrm>
            <a:off x="304800" y="876300"/>
            <a:ext cx="5638800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9110BA8-5832-4990-B6AA-2BD6E362BE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2450" y="1047750"/>
            <a:ext cx="5143500" cy="18669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E1A1CA52-48CA-4560-85CA-DE9F1B3A4817}"/>
              </a:ext>
            </a:extLst>
          </p:cNvPr>
          <p:cNvSpPr txBox="1"/>
          <p:nvPr/>
        </p:nvSpPr>
        <p:spPr>
          <a:xfrm>
            <a:off x="304800" y="3200400"/>
            <a:ext cx="53340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示例 ·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Simulation-Enabled VLM Action Planning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左侧为给定的单张图像与场景设定，右侧呈现方法运行后的实验结果，用具体例子形成“问题 — 解决”的对照。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551D8FB-FF39-42EB-9572-3626B1D39490}"/>
              </a:ext>
            </a:extLst>
          </p:cNvPr>
          <p:cNvSpPr/>
          <p:nvPr/>
        </p:nvSpPr>
        <p:spPr>
          <a:xfrm>
            <a:off x="6248400" y="876300"/>
            <a:ext cx="5638800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84A2FF9-DC17-4C32-8E0A-FF128EB2A17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029575" y="962025"/>
            <a:ext cx="2066925" cy="203835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AF6EADCA-ADE7-4401-99C6-7D90FE106955}"/>
              </a:ext>
            </a:extLst>
          </p:cNvPr>
          <p:cNvSpPr txBox="1"/>
          <p:nvPr/>
        </p:nvSpPr>
        <p:spPr>
          <a:xfrm>
            <a:off x="6248400" y="3200400"/>
            <a:ext cx="53340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示例 ·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MLLMs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上半部分为平面几何、下半部分为立体几何，模型给出错误答案 —— 典型的、代表性的失败案例观察。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EC28123-2346-461F-9A1C-5E87E98F3920}"/>
              </a:ext>
            </a:extLst>
          </p:cNvPr>
          <p:cNvSpPr/>
          <p:nvPr/>
        </p:nvSpPr>
        <p:spPr>
          <a:xfrm>
            <a:off x="304800" y="5295900"/>
            <a:ext cx="11582400" cy="571500"/>
          </a:xfrm>
          <a:prstGeom prst="roundRect">
            <a:avLst>
              <a:gd name="adj" fmla="val 11904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4F76690-130E-4239-B75D-67BA536D66B9}"/>
              </a:ext>
            </a:extLst>
          </p:cNvPr>
          <p:cNvSpPr txBox="1"/>
          <p:nvPr/>
        </p:nvSpPr>
        <p:spPr>
          <a:xfrm>
            <a:off x="457200" y="5448300"/>
            <a:ext cx="112776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适用场景：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适合强调研究动机和核心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insight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的论文。读者不翻阅正文，也能从左右对比中看出问题与优势。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0CFE90-0ED3-499C-AC22-BF65A548ACB0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98B7AF-D0AA-4A09-86CD-5F7CD3546751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36 / 86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94AC35-7BB6-4A2B-A832-15EAC16F9B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AD7315ED-BEB8-46CE-8CDD-D47B335AEB9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117FF84-748F-45FF-8774-71FFB84BC9D3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DA8E3B9-3656-41FF-BFCF-F66D10D2A6E6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案例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2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形象对比 · 案例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4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方法概览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23F998F-9800-4D15-A1F7-FF13F8DC215F}"/>
              </a:ext>
            </a:extLst>
          </p:cNvPr>
          <p:cNvSpPr/>
          <p:nvPr/>
        </p:nvSpPr>
        <p:spPr>
          <a:xfrm>
            <a:off x="304800" y="914400"/>
            <a:ext cx="5257800" cy="2333625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1BDED9D-9F01-4D13-A121-3622EA478D8C}"/>
              </a:ext>
            </a:extLst>
          </p:cNvPr>
          <p:cNvPicPr/>
          <p:nvPr/>
        </p:nvPicPr>
        <p:blipFill>
          <a:blip r:embed="rId3"/>
          <a:srcRect l="1020" r="1020"/>
          <a:stretch>
            <a:fillRect/>
          </a:stretch>
        </p:blipFill>
        <p:spPr>
          <a:xfrm>
            <a:off x="419100" y="933450"/>
            <a:ext cx="5029200" cy="2286000"/>
          </a:xfrm>
          <a:prstGeom prst="rect">
            <a:avLst/>
          </a:prstGeom>
        </p:spPr>
      </p:pic>
      <p:sp>
        <p:nvSpPr>
          <p:cNvPr id="8" name="Shape 8">
            <a:extLst>
              <a:ext uri="{FF2B5EF4-FFF2-40B4-BE49-F238E27FC236}">
                <a16:creationId xmlns:a16="http://schemas.microsoft.com/office/drawing/2014/main" id="{33F47672-EE97-49BD-BDC2-4F1CBE66536A}"/>
              </a:ext>
            </a:extLst>
          </p:cNvPr>
          <p:cNvSpPr/>
          <p:nvPr/>
        </p:nvSpPr>
        <p:spPr>
          <a:xfrm>
            <a:off x="304800" y="3362325"/>
            <a:ext cx="5257800" cy="2524125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6829F72-7181-4258-B5B4-F9EE74EA645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57200" y="3429000"/>
            <a:ext cx="4953000" cy="2381250"/>
          </a:xfrm>
          <a:prstGeom prst="rect">
            <a:avLst/>
          </a:prstGeom>
        </p:spPr>
      </p:pic>
      <p:sp>
        <p:nvSpPr>
          <p:cNvPr id="10" name="Shape 10">
            <a:extLst>
              <a:ext uri="{FF2B5EF4-FFF2-40B4-BE49-F238E27FC236}">
                <a16:creationId xmlns:a16="http://schemas.microsoft.com/office/drawing/2014/main" id="{5A7145ED-4251-43EF-99C6-BABE0585E048}"/>
              </a:ext>
            </a:extLst>
          </p:cNvPr>
          <p:cNvSpPr/>
          <p:nvPr/>
        </p:nvSpPr>
        <p:spPr>
          <a:xfrm>
            <a:off x="5867400" y="914400"/>
            <a:ext cx="6019800" cy="2333625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5282752-7687-4B43-9DEE-9DCA83000420}"/>
              </a:ext>
            </a:extLst>
          </p:cNvPr>
          <p:cNvSpPr txBox="1"/>
          <p:nvPr/>
        </p:nvSpPr>
        <p:spPr>
          <a:xfrm>
            <a:off x="6019800" y="1066800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案例 </a:t>
            </a:r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2</a:t>
            </a:r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 · 形象对比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D6DD3A0-5389-4AEF-9DBD-D38943AB4AB1}"/>
              </a:ext>
            </a:extLst>
          </p:cNvPr>
          <p:cNvSpPr txBox="1"/>
          <p:nvPr/>
        </p:nvSpPr>
        <p:spPr>
          <a:xfrm>
            <a:off x="6019800" y="1409700"/>
            <a:ext cx="5715000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同样通过对比的方式展示本文方法相比已有方法的优势，但不是通过具体例子来对比，而是采用抽象风格的形象来展示对比，也是值得借鉴的一种方式。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5743A"/>
                </a:solidFill>
                <a:latin typeface="Times New Roman"/>
                <a:ea typeface="华文中宋"/>
              </a:rPr>
              <a:t>例：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多智能体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LLM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推理中三种角色分配范式的抽象对比，不需要阅读正文就能看出设定差异。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D4F9C02-63FF-4821-9376-B15F6331A799}"/>
              </a:ext>
            </a:extLst>
          </p:cNvPr>
          <p:cNvSpPr/>
          <p:nvPr/>
        </p:nvSpPr>
        <p:spPr>
          <a:xfrm>
            <a:off x="5867400" y="3362325"/>
            <a:ext cx="60198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1D43D43-48B1-423D-B9B0-2DC675C01D02}"/>
              </a:ext>
            </a:extLst>
          </p:cNvPr>
          <p:cNvSpPr txBox="1"/>
          <p:nvPr/>
        </p:nvSpPr>
        <p:spPr>
          <a:xfrm>
            <a:off x="6019800" y="3514725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案例 </a:t>
            </a:r>
            <a:r>
              <a:rPr sz="1500" b="1">
                <a:solidFill>
                  <a:srgbClr val="0B56A8"/>
                </a:solidFill>
                <a:latin typeface="Times New Roman"/>
                <a:ea typeface="Times New Roman"/>
              </a:rPr>
              <a:t>4</a:t>
            </a:r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 · 方法概览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63A4CC-3891-46BB-9C87-89DC849366B8}"/>
              </a:ext>
            </a:extLst>
          </p:cNvPr>
          <p:cNvSpPr txBox="1"/>
          <p:nvPr/>
        </p:nvSpPr>
        <p:spPr>
          <a:xfrm>
            <a:off x="6019800" y="3857625"/>
            <a:ext cx="5715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展示文章工作量概览，适合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benchmark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类、或者工程量比较大的工作。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B5743A"/>
                </a:solidFill>
                <a:latin typeface="Times New Roman"/>
                <a:ea typeface="华文中宋"/>
              </a:rPr>
              <a:t>例：</a:t>
            </a:r>
            <a:r>
              <a:rPr sz="1100" b="1">
                <a:solidFill>
                  <a:srgbClr val="B5743A"/>
                </a:solidFill>
                <a:latin typeface="Times New Roman"/>
                <a:ea typeface="Times New Roman"/>
              </a:rPr>
              <a:t>OctoNav-Bench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用一张概览图交代多模态、多任务、多能力的指令设定与数据规模。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2661FA4-1425-420D-BB91-6736520B1E85}"/>
              </a:ext>
            </a:extLst>
          </p:cNvPr>
          <p:cNvSpPr/>
          <p:nvPr/>
        </p:nvSpPr>
        <p:spPr>
          <a:xfrm>
            <a:off x="5867400" y="5372100"/>
            <a:ext cx="6019800" cy="800100"/>
          </a:xfrm>
          <a:prstGeom prst="roundRect">
            <a:avLst>
              <a:gd name="adj" fmla="val 11904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DBD4D07-F93D-419D-8F99-00B1E2BBEE56}"/>
              </a:ext>
            </a:extLst>
          </p:cNvPr>
          <p:cNvSpPr txBox="1"/>
          <p:nvPr/>
        </p:nvSpPr>
        <p:spPr>
          <a:xfrm>
            <a:off x="6019800" y="5486400"/>
            <a:ext cx="57150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C845"/>
                </a:solidFill>
                <a:latin typeface="Times New Roman"/>
                <a:ea typeface="华文中宋"/>
              </a:rPr>
              <a:t>仍要回到同一个原则：</a:t>
            </a: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无论是抽象形象还是工作量概览，一张好的 </a:t>
            </a:r>
            <a:r>
              <a:rPr sz="1200">
                <a:solidFill>
                  <a:srgbClr val="FFFFFF"/>
                </a:solidFill>
                <a:latin typeface="Times New Roman"/>
                <a:ea typeface="Times New Roman"/>
              </a:rPr>
              <a:t>Teaser Figure</a:t>
            </a: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 都只能让读者在几秒内记住一个结论。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3735253-EA51-44A4-A167-522C17AFA5E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6A8108D-5F69-496C-9530-2818092FD636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37 / 86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B624372-EFCF-4F6F-BB4A-59433EA48D81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50E27FF-B4F3-4D0B-8DC7-F0A3902E46A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71F0C03-8DA7-4714-B225-405F5B07470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案例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3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：用一个具体例子展示整个方法的运行效果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BF1E26A-B1AD-46E9-9DD2-D0BB5DCFB50F}"/>
              </a:ext>
            </a:extLst>
          </p:cNvPr>
          <p:cNvSpPr/>
          <p:nvPr/>
        </p:nvSpPr>
        <p:spPr>
          <a:xfrm>
            <a:off x="304800" y="952500"/>
            <a:ext cx="56388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CD40B16-83F1-49A5-9FF5-24BC4B5EF96B}"/>
              </a:ext>
            </a:extLst>
          </p:cNvPr>
          <p:cNvSpPr/>
          <p:nvPr/>
        </p:nvSpPr>
        <p:spPr>
          <a:xfrm>
            <a:off x="6248400" y="952500"/>
            <a:ext cx="56388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5886AF85-4285-4A74-B9B3-FE1FD4FE2D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8775" y="1085850"/>
            <a:ext cx="3000375" cy="25908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19958FA1-F69A-43A8-9CC2-6030A72F8A8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477125" y="1085850"/>
            <a:ext cx="3190875" cy="25908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EEB2C51-5E79-4871-9737-139C4B002A90}"/>
              </a:ext>
            </a:extLst>
          </p:cNvPr>
          <p:cNvSpPr txBox="1"/>
          <p:nvPr/>
        </p:nvSpPr>
        <p:spPr>
          <a:xfrm>
            <a:off x="304800" y="3943350"/>
            <a:ext cx="56388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示例 ·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SocialNav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真实环境中的社交感知导航：目标在左侧，但车辆阻挡了直接路径，图中直接说明方法如何处理该场景。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A3AB176-9A9F-4651-BAE1-CB074EC3E19C}"/>
              </a:ext>
            </a:extLst>
          </p:cNvPr>
          <p:cNvSpPr txBox="1"/>
          <p:nvPr/>
        </p:nvSpPr>
        <p:spPr>
          <a:xfrm>
            <a:off x="6248400" y="3943350"/>
            <a:ext cx="56388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示例 ·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ModularAgent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以一个样本展示模块化智能体的运行逻辑，读者从图里就能复述方法的完整流程。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B346EB8-916F-4266-89FE-7E878777C3B8}"/>
              </a:ext>
            </a:extLst>
          </p:cNvPr>
          <p:cNvSpPr/>
          <p:nvPr/>
        </p:nvSpPr>
        <p:spPr>
          <a:xfrm>
            <a:off x="304800" y="5143500"/>
            <a:ext cx="11582400" cy="704850"/>
          </a:xfrm>
          <a:prstGeom prst="roundRect">
            <a:avLst>
              <a:gd name="adj" fmla="val 9259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F58EEC5-D359-4A50-A739-D40699184030}"/>
              </a:ext>
            </a:extLst>
          </p:cNvPr>
          <p:cNvSpPr txBox="1"/>
          <p:nvPr/>
        </p:nvSpPr>
        <p:spPr>
          <a:xfrm>
            <a:off x="457200" y="5219700"/>
            <a:ext cx="112776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要点：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用一个任务、一个样本或者一个场景展示整个方法的运行效果，比罗列模块更能让读者一眼看懂方法在真实情境中如何起作用。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66F8F98-18BD-4949-8884-997A4B77DF9A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3AC8E2-CFA9-4EF4-9599-3E5BC2DD5C3C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38 / 86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71EBBCD-02DD-4F22-911D-FDE68657C100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716FBE6-EB33-4F3A-AFD0-660488B4BCF0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39BB12E-5C8B-4201-887E-B5E80E4A1F2B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7B2484"/>
                </a:solidFill>
                <a:latin typeface="Times New Roman"/>
                <a:ea typeface="华文中宋"/>
              </a:rPr>
              <a:t>方法流程图：先写清楚一句话，再像写代码一样模块化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3B6DC68-EB1B-4851-90FB-4B26353520A3}"/>
              </a:ext>
            </a:extLst>
          </p:cNvPr>
          <p:cNvSpPr/>
          <p:nvPr/>
        </p:nvSpPr>
        <p:spPr>
          <a:xfrm>
            <a:off x="304800" y="952500"/>
            <a:ext cx="7048500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5D5904B-3C0F-4DF7-802D-078B3114749F}"/>
              </a:ext>
            </a:extLst>
          </p:cNvPr>
          <p:cNvSpPr/>
          <p:nvPr/>
        </p:nvSpPr>
        <p:spPr>
          <a:xfrm>
            <a:off x="304800" y="1943100"/>
            <a:ext cx="7048500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B1AD0AC-95A1-43DB-8EFF-92BC800AF59B}"/>
              </a:ext>
            </a:extLst>
          </p:cNvPr>
          <p:cNvSpPr/>
          <p:nvPr/>
        </p:nvSpPr>
        <p:spPr>
          <a:xfrm>
            <a:off x="304800" y="2933700"/>
            <a:ext cx="7048500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8889C43-18B1-47EB-97EE-050DF5A7C76C}"/>
              </a:ext>
            </a:extLst>
          </p:cNvPr>
          <p:cNvSpPr/>
          <p:nvPr/>
        </p:nvSpPr>
        <p:spPr>
          <a:xfrm>
            <a:off x="304800" y="3924300"/>
            <a:ext cx="7048500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4E9DBA8-2488-41E5-855C-519B900478AA}"/>
              </a:ext>
            </a:extLst>
          </p:cNvPr>
          <p:cNvSpPr/>
          <p:nvPr/>
        </p:nvSpPr>
        <p:spPr>
          <a:xfrm>
            <a:off x="304800" y="4914900"/>
            <a:ext cx="7048500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2314443-036F-4998-B72A-4204522CA1D0}"/>
              </a:ext>
            </a:extLst>
          </p:cNvPr>
          <p:cNvSpPr/>
          <p:nvPr/>
        </p:nvSpPr>
        <p:spPr>
          <a:xfrm>
            <a:off x="495300" y="122872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B3DBEF3-C8F8-40DE-A91E-E9F9D9C63DF1}"/>
              </a:ext>
            </a:extLst>
          </p:cNvPr>
          <p:cNvSpPr/>
          <p:nvPr/>
        </p:nvSpPr>
        <p:spPr>
          <a:xfrm>
            <a:off x="495300" y="221932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79EB71D-657E-4008-8986-C3ACE3DC14EF}"/>
              </a:ext>
            </a:extLst>
          </p:cNvPr>
          <p:cNvSpPr/>
          <p:nvPr/>
        </p:nvSpPr>
        <p:spPr>
          <a:xfrm>
            <a:off x="495300" y="320992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8BFAAE4-DCE7-4E2B-A4EC-F82C9D4603A1}"/>
              </a:ext>
            </a:extLst>
          </p:cNvPr>
          <p:cNvSpPr/>
          <p:nvPr/>
        </p:nvSpPr>
        <p:spPr>
          <a:xfrm>
            <a:off x="495300" y="420052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93D4D65-19F8-43DC-9AB4-0D9C31D46C52}"/>
              </a:ext>
            </a:extLst>
          </p:cNvPr>
          <p:cNvSpPr/>
          <p:nvPr/>
        </p:nvSpPr>
        <p:spPr>
          <a:xfrm>
            <a:off x="495300" y="5191125"/>
            <a:ext cx="323850" cy="323850"/>
          </a:xfrm>
          <a:prstGeom prst="ellipse">
            <a:avLst/>
          </a:prstGeom>
          <a:solidFill>
            <a:srgbClr val="7B2484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452F82C-177B-4228-A045-677F2476084E}"/>
              </a:ext>
            </a:extLst>
          </p:cNvPr>
          <p:cNvSpPr txBox="1"/>
          <p:nvPr/>
        </p:nvSpPr>
        <p:spPr>
          <a:xfrm>
            <a:off x="952500" y="1123950"/>
            <a:ext cx="62865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先用一句话写清楚这张图要表达什么，作为该图的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caption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137E11C-FEC0-47B9-ACD5-565C2B608289}"/>
              </a:ext>
            </a:extLst>
          </p:cNvPr>
          <p:cNvSpPr txBox="1"/>
          <p:nvPr/>
        </p:nvSpPr>
        <p:spPr>
          <a:xfrm>
            <a:off x="952500" y="2114550"/>
            <a:ext cx="6286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列出必须出现的元素以及相应的流转关系：输入、输出、核心模块，中间信息是怎么流转的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753FED6-72C0-4844-879E-F3CC29F838EA}"/>
              </a:ext>
            </a:extLst>
          </p:cNvPr>
          <p:cNvSpPr txBox="1"/>
          <p:nvPr/>
        </p:nvSpPr>
        <p:spPr>
          <a:xfrm>
            <a:off x="952500" y="3105150"/>
            <a:ext cx="6286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画出大致布局：上下分层、左右对比还是原型闭环？主流程从上到下还是从左到右？核心贡献放在哪里？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79832CA-9814-4D17-A74B-2B140497AFB2}"/>
              </a:ext>
            </a:extLst>
          </p:cNvPr>
          <p:cNvSpPr txBox="1"/>
          <p:nvPr/>
        </p:nvSpPr>
        <p:spPr>
          <a:xfrm>
            <a:off x="952500" y="4095750"/>
            <a:ext cx="62865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模块化与命名：把大块内容拆成清楚输入输出的模块，名字简短凝练，与正文一致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CA1E160-EE3D-423B-BFE3-3D716C425093}"/>
              </a:ext>
            </a:extLst>
          </p:cNvPr>
          <p:cNvSpPr txBox="1"/>
          <p:nvPr/>
        </p:nvSpPr>
        <p:spPr>
          <a:xfrm>
            <a:off x="952500" y="5086350"/>
            <a:ext cx="62865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统一视觉语言：确定颜色、形状、箭头、字体和图标风格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4E34E201-711D-4110-AB5F-DCCAF518E77D}"/>
              </a:ext>
            </a:extLst>
          </p:cNvPr>
          <p:cNvSpPr/>
          <p:nvPr/>
        </p:nvSpPr>
        <p:spPr>
          <a:xfrm>
            <a:off x="7581900" y="952500"/>
            <a:ext cx="4305300" cy="5334000"/>
          </a:xfrm>
          <a:prstGeom prst="rect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2F76C3D-FF26-4D1B-934F-D53A15833B0B}"/>
              </a:ext>
            </a:extLst>
          </p:cNvPr>
          <p:cNvSpPr txBox="1"/>
          <p:nvPr/>
        </p:nvSpPr>
        <p:spPr>
          <a:xfrm>
            <a:off x="7734300" y="1143000"/>
            <a:ext cx="4000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这张图要让人看懂什么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378D6AC-3A66-4126-A4E9-A4D17C988F2F}"/>
              </a:ext>
            </a:extLst>
          </p:cNvPr>
          <p:cNvSpPr txBox="1"/>
          <p:nvPr/>
        </p:nvSpPr>
        <p:spPr>
          <a:xfrm>
            <a:off x="7734300" y="1428750"/>
            <a:ext cx="4000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EAD7F0"/>
                </a:solidFill>
                <a:latin typeface="Times New Roman"/>
                <a:ea typeface="华文中宋"/>
              </a:rPr>
              <a:t>清晰展示论文所提出的方法，让读者能够理解整个工作流以及核心的贡献。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2406FF5C-F59D-40EB-9062-89943EF74613}"/>
              </a:ext>
            </a:extLst>
          </p:cNvPr>
          <p:cNvSpPr/>
          <p:nvPr/>
        </p:nvSpPr>
        <p:spPr>
          <a:xfrm>
            <a:off x="7810500" y="2133600"/>
            <a:ext cx="3848100" cy="9525"/>
          </a:xfrm>
          <a:prstGeom prst="rect">
            <a:avLst/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F175881-0B36-4D98-BA19-D5B51F0BE78E}"/>
              </a:ext>
            </a:extLst>
          </p:cNvPr>
          <p:cNvSpPr txBox="1"/>
          <p:nvPr/>
        </p:nvSpPr>
        <p:spPr>
          <a:xfrm>
            <a:off x="7734300" y="2247900"/>
            <a:ext cx="4000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核心原则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3FA1329-01FB-4532-9BA9-9E73C2AD6C1C}"/>
              </a:ext>
            </a:extLst>
          </p:cNvPr>
          <p:cNvSpPr txBox="1"/>
          <p:nvPr/>
        </p:nvSpPr>
        <p:spPr>
          <a:xfrm>
            <a:off x="7734300" y="2571750"/>
            <a:ext cx="4000500" cy="2800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  <a:ea typeface="华文中宋"/>
              </a:rPr>
              <a:t>模块化 ·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要像写代码一样模块化流程图，把方法拆成若干个有清晰输入输出的模块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  <a:ea typeface="华文中宋"/>
              </a:rPr>
              <a:t>命名一致 ·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每个模块有一个清楚的命名，应当与正文术语保持一致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  <a:ea typeface="华文中宋"/>
              </a:rPr>
              <a:t>流动关系 ·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模块之间要有箭头表示明确的流动关系，例如数据流动、反馈信息、训练先后顺序</a:t>
            </a:r>
          </a:p>
          <a:p>
            <a:pPr algn="l">
              <a:lnSpc>
                <a:spcPct val="145000"/>
              </a:lnSpc>
            </a:pPr>
            <a:r>
              <a:rPr sz="1200" b="1">
                <a:solidFill>
                  <a:srgbClr val="FFFFFF"/>
                </a:solidFill>
                <a:latin typeface="Times New Roman"/>
                <a:ea typeface="华文中宋"/>
              </a:rPr>
              <a:t>颜色与形状 · 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同类模块用同一种颜色，不同功能可用不同形状；颜色控制在 </a:t>
            </a:r>
            <a:r>
              <a:rPr sz="1200">
                <a:solidFill>
                  <a:srgbClr val="EAD7F0"/>
                </a:solidFill>
                <a:latin typeface="Times New Roman"/>
                <a:ea typeface="Times New Roman"/>
              </a:rPr>
              <a:t>3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 种左右，不使用高饱和度、高亮度的颜色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0F64AFE-411F-4C0A-8C64-3A3FAE6E9D79}"/>
              </a:ext>
            </a:extLst>
          </p:cNvPr>
          <p:cNvSpPr txBox="1"/>
          <p:nvPr/>
        </p:nvSpPr>
        <p:spPr>
          <a:xfrm>
            <a:off x="7734300" y="5391150"/>
            <a:ext cx="4000500" cy="8001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imes New Roman"/>
                <a:ea typeface="华文中宋"/>
              </a:rPr>
              <a:t>不同含义的箭头用不同样式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EAD7F0"/>
                </a:solidFill>
                <a:latin typeface="Times New Roman"/>
                <a:ea typeface="华文中宋"/>
              </a:rPr>
              <a:t>实线 = 主流程 · 虚线 = 反馈 · 红色 = 监督信号 · 灰色 = 辅助信息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3250F74-3083-4219-96AA-2472298E81A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方法流程图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72B5C96-669C-4371-9763-15B5F3FFE49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39 / 86</a:t>
            </a:r>
          </a:p>
        </p:txBody>
      </p:sp>
      <p:pic>
        <p:nvPicPr>
          <p:cNvPr id="30" name="Picture 30">
            <a:extLst>
              <a:ext uri="{FF2B5EF4-FFF2-40B4-BE49-F238E27FC236}">
                <a16:creationId xmlns:a16="http://schemas.microsoft.com/office/drawing/2014/main" id="{C33AA3C3-341B-4EDB-B8F9-9196D0F772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A45B39D-1C7C-4722-8EE5-291CE4720C4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2D29CC1-433F-40B2-BEA1-FD173FD7DBB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E00658-21AD-401D-8E1E-4FC798D5C67C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方法图案例：模块化布局、低饱和配色、符号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legend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DDE5EC5-F6CC-4D8E-8CFD-FABDB7EED7E8}"/>
              </a:ext>
            </a:extLst>
          </p:cNvPr>
          <p:cNvSpPr/>
          <p:nvPr/>
        </p:nvSpPr>
        <p:spPr>
          <a:xfrm>
            <a:off x="304800" y="952500"/>
            <a:ext cx="37338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7CC8BBD-88EF-4E70-999F-1090B22787A2}"/>
              </a:ext>
            </a:extLst>
          </p:cNvPr>
          <p:cNvSpPr/>
          <p:nvPr/>
        </p:nvSpPr>
        <p:spPr>
          <a:xfrm>
            <a:off x="4229100" y="952500"/>
            <a:ext cx="37338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EE122DE-0064-49E3-99DD-21CAE8303D18}"/>
              </a:ext>
            </a:extLst>
          </p:cNvPr>
          <p:cNvSpPr/>
          <p:nvPr/>
        </p:nvSpPr>
        <p:spPr>
          <a:xfrm>
            <a:off x="8153400" y="952500"/>
            <a:ext cx="37338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9110ECEE-C6CB-4EC2-8E46-E374EA6E58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5775" y="1095375"/>
            <a:ext cx="3371850" cy="276225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419E1F5-F055-4589-9470-F4BBF1B8BE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81500" y="1466850"/>
            <a:ext cx="3429000" cy="2057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6AC089B-E103-44EA-8D40-534A5232A19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05800" y="1933575"/>
            <a:ext cx="3429000" cy="112395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8DC33A36-C071-4270-A7A2-7C3F35A16396}"/>
              </a:ext>
            </a:extLst>
          </p:cNvPr>
          <p:cNvSpPr txBox="1"/>
          <p:nvPr/>
        </p:nvSpPr>
        <p:spPr>
          <a:xfrm>
            <a:off x="457200" y="4114800"/>
            <a:ext cx="3429000" cy="1333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案例一 · 综述结构图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Agentic Reasoning for LLMs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每一个章节对应一个模块，每个模块采用不同的颜色，每个框都有一个名字和对应的章节名。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CD220F0-224E-4986-B601-49AD7AEE5213}"/>
              </a:ext>
            </a:extLst>
          </p:cNvPr>
          <p:cNvSpPr txBox="1"/>
          <p:nvPr/>
        </p:nvSpPr>
        <p:spPr>
          <a:xfrm>
            <a:off x="4381500" y="4114800"/>
            <a:ext cx="3429000" cy="1333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案例二 · 方法图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低饱和度色块区分不同模块，每个模块有名字；不同功能采用不一样的框和箭头（实线、虚线、不同颜色），并加入卡通元素丰富插图。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A7AFC1-58A7-4B33-8057-62B2BE484E0E}"/>
              </a:ext>
            </a:extLst>
          </p:cNvPr>
          <p:cNvSpPr txBox="1"/>
          <p:nvPr/>
        </p:nvSpPr>
        <p:spPr>
          <a:xfrm>
            <a:off x="8305800" y="4114800"/>
            <a:ext cx="3429000" cy="1333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案例三 ·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WAPITI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同样是低饱和、模块化布局，清楚对比本文方法与已有方法；特点是在上方加了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legend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，说明不同框、箭头、颜色的功能。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4F066A8-F818-473D-95C0-DCCA52FF3476}"/>
              </a:ext>
            </a:extLst>
          </p:cNvPr>
          <p:cNvSpPr/>
          <p:nvPr/>
        </p:nvSpPr>
        <p:spPr>
          <a:xfrm>
            <a:off x="304800" y="5524500"/>
            <a:ext cx="11582400" cy="581025"/>
          </a:xfrm>
          <a:prstGeom prst="roundRect">
            <a:avLst>
              <a:gd name="adj" fmla="val 13157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A643083-8FAE-4515-90F7-20705A817E24}"/>
              </a:ext>
            </a:extLst>
          </p:cNvPr>
          <p:cNvSpPr txBox="1"/>
          <p:nvPr/>
        </p:nvSpPr>
        <p:spPr>
          <a:xfrm>
            <a:off x="457200" y="5657850"/>
            <a:ext cx="112776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可以直接复用的做法：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一个模块一个框、框里写名字；同类同色；反馈与监督信号换线型；符号多的时候在图顶部加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legend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6ADCEED-9EAA-4C83-8308-FE063B172C9A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08ACB9B-B471-4F50-AC47-58EA12B63B9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40 / 86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C4FF2454-FF9F-4921-A6C9-EAF88BB9AD3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7568075-B301-4B83-90BB-575C2AF04B79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2CB8341-26F0-4F2D-A707-50C316B9140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11DC95F-46A9-4FFB-8481-32E5F798E21E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案例四、五：用线型与颜色区分模态，用上下对比凸显优势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804D6C8-4F28-4DFE-9E91-06B750CB9AD9}"/>
              </a:ext>
            </a:extLst>
          </p:cNvPr>
          <p:cNvSpPr/>
          <p:nvPr/>
        </p:nvSpPr>
        <p:spPr>
          <a:xfrm>
            <a:off x="304800" y="952500"/>
            <a:ext cx="563880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B5EEB0E-BBEF-4998-9D60-63336224615E}"/>
              </a:ext>
            </a:extLst>
          </p:cNvPr>
          <p:cNvSpPr/>
          <p:nvPr/>
        </p:nvSpPr>
        <p:spPr>
          <a:xfrm>
            <a:off x="6248400" y="952500"/>
            <a:ext cx="563880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16AF0513-CA4C-4F0F-A811-59D77B0A5F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04900"/>
            <a:ext cx="5334000" cy="196215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A3F9296-80F9-4E96-8979-A3CDE124AE2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0" y="1028700"/>
            <a:ext cx="5334000" cy="211455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94CF8DC6-EF20-410C-9E0F-D6D462705AD3}"/>
              </a:ext>
            </a:extLst>
          </p:cNvPr>
          <p:cNvSpPr txBox="1"/>
          <p:nvPr/>
        </p:nvSpPr>
        <p:spPr>
          <a:xfrm>
            <a:off x="419100" y="3390900"/>
            <a:ext cx="54102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案例四 · 方法图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通过不同的线表示不同的模块：左侧虚线框为输入，上半时序模态、下半文本模态；右侧上下对比，红色为既有方法、绿色为本文方法，并在右下角用文字直接说明优势，又让画面不空。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23D582-FBDE-4DEB-989A-C3B01C7CCE67}"/>
              </a:ext>
            </a:extLst>
          </p:cNvPr>
          <p:cNvSpPr txBox="1"/>
          <p:nvPr/>
        </p:nvSpPr>
        <p:spPr>
          <a:xfrm>
            <a:off x="6362700" y="3390900"/>
            <a:ext cx="54102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案例五 ·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V-IRL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A2430"/>
                </a:solidFill>
                <a:latin typeface="Times New Roman"/>
                <a:ea typeface="Times New Roman"/>
              </a:rPr>
              <a:t>V-IRL: Grounding Virtual Intelligence in Real Life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—— 整篇论文的整体配图与书写都非常漂亮，很值得参考。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4E29A9A-BD51-4EDE-A249-03587F4A412C}"/>
              </a:ext>
            </a:extLst>
          </p:cNvPr>
          <p:cNvSpPr/>
          <p:nvPr/>
        </p:nvSpPr>
        <p:spPr>
          <a:xfrm>
            <a:off x="304800" y="5143500"/>
            <a:ext cx="11582400" cy="6096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25D2D5-7A07-4EAC-9998-75B46144E74A}"/>
              </a:ext>
            </a:extLst>
          </p:cNvPr>
          <p:cNvSpPr txBox="1"/>
          <p:nvPr/>
        </p:nvSpPr>
        <p:spPr>
          <a:xfrm>
            <a:off x="457200" y="5295900"/>
            <a:ext cx="112776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看这两张图的共同点：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模态、模块、新旧方法各自用固定的颜色与线型，读者不需要猜；对比关系直接画在布局上，而不是靠说明文字。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55483F7-63A7-4080-9E4C-9CD136114111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A2729D-0BF1-4B99-A85E-66E7B1A5FA4E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41 / 86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D24CDC68-485D-486A-9D16-41356AE62C2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1335D9D-8871-4207-BFFC-701AC62EF80F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A8DE60D-C541-486B-BE3E-14C86FED503D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62FAA0A-70BD-42E3-AD35-D9360297E928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案例六、七：小元素丰富画面 · </a:t>
            </a:r>
            <a:r>
              <a:rPr sz="2200" b="1">
                <a:solidFill>
                  <a:srgbClr val="7B2484"/>
                </a:solidFill>
                <a:latin typeface="Times New Roman"/>
                <a:ea typeface="Times New Roman"/>
              </a:rPr>
              <a:t>Benchmark</a:t>
            </a:r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 按工作量分模块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0F3496B-65DA-46C6-942F-8C2E8E98B88C}"/>
              </a:ext>
            </a:extLst>
          </p:cNvPr>
          <p:cNvSpPr/>
          <p:nvPr/>
        </p:nvSpPr>
        <p:spPr>
          <a:xfrm>
            <a:off x="304800" y="952500"/>
            <a:ext cx="563880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5851573-B29D-4905-8E34-8569D4EFF5D3}"/>
              </a:ext>
            </a:extLst>
          </p:cNvPr>
          <p:cNvSpPr/>
          <p:nvPr/>
        </p:nvSpPr>
        <p:spPr>
          <a:xfrm>
            <a:off x="6248400" y="952500"/>
            <a:ext cx="563880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19C0C18-1938-4EF2-AEAE-8602A671B7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04875" y="1028700"/>
            <a:ext cx="4429125" cy="2095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AFD2D49-538D-4309-9016-C41BE3AE1B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81850" y="1028700"/>
            <a:ext cx="3771900" cy="2095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9BE8B08-7620-4B99-B9DE-FCD34395236F}"/>
              </a:ext>
            </a:extLst>
          </p:cNvPr>
          <p:cNvSpPr txBox="1"/>
          <p:nvPr/>
        </p:nvSpPr>
        <p:spPr>
          <a:xfrm>
            <a:off x="419100" y="3390900"/>
            <a:ext cx="54102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案例六 ·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Reasoning Boundary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通过插入各种小元素，丰富插图的内容和美观程度。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6A6A66B-1926-4DE8-BD79-7A7F3D6FD992}"/>
              </a:ext>
            </a:extLst>
          </p:cNvPr>
          <p:cNvSpPr txBox="1"/>
          <p:nvPr/>
        </p:nvSpPr>
        <p:spPr>
          <a:xfrm>
            <a:off x="6362700" y="3390900"/>
            <a:ext cx="54102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案例七 · </a:t>
            </a:r>
            <a:r>
              <a:rPr sz="1300" b="1">
                <a:solidFill>
                  <a:srgbClr val="7B2484"/>
                </a:solidFill>
                <a:latin typeface="Times New Roman"/>
                <a:ea typeface="Times New Roman"/>
              </a:rPr>
              <a:t>Mem-Gallery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一般需要根据工作量和特点来设计模块，比如数据构建、评估指标、评测模型、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 findings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等方面。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12BAE40-8FCD-4E48-90BC-E4B6452D4B70}"/>
              </a:ext>
            </a:extLst>
          </p:cNvPr>
          <p:cNvSpPr/>
          <p:nvPr/>
        </p:nvSpPr>
        <p:spPr>
          <a:xfrm>
            <a:off x="304800" y="5143500"/>
            <a:ext cx="11582400" cy="9525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A3AD7CE-0066-4767-9BA4-478345E8B169}"/>
              </a:ext>
            </a:extLst>
          </p:cNvPr>
          <p:cNvSpPr txBox="1"/>
          <p:nvPr/>
        </p:nvSpPr>
        <p:spPr>
          <a:xfrm>
            <a:off x="457200" y="5295900"/>
            <a:ext cx="112776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两个可迁移的技巧：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小元素只为内容与美观服务，不能抢走主流程；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的图则把工作量拆成数据构建、评估指标、评测模型与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findings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等可见模块。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087CEDE-CDBF-46E5-A3DA-7C8653F6F7D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AE3F2A8-BD09-40EF-B281-607A0E93276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42 / 86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1FE019FB-E52E-4AEF-86EC-9B218661D10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ED7C4CB-44F0-4361-BD99-4A5EF238AE47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9DCAE11-BCF2-40A6-8C2D-E6415E92350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19DF93C-F14E-410E-8CDD-B588551EE737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相关工作对比表：把维度摆出来，证明本文考虑得更全面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44D31C-222F-49CD-9DF8-9A4A9D8E9ED3}"/>
              </a:ext>
            </a:extLst>
          </p:cNvPr>
          <p:cNvSpPr txBox="1"/>
          <p:nvPr/>
        </p:nvSpPr>
        <p:spPr>
          <a:xfrm>
            <a:off x="304800" y="819150"/>
            <a:ext cx="11315700" cy="2971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一般适用于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类文章：与已有相关工作逐项对比，整理出相应的维度，表明本文考虑了更多、更全面的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setting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BD4F2FA-23E3-4961-A61E-80D6FF7DFA55}"/>
              </a:ext>
            </a:extLst>
          </p:cNvPr>
          <p:cNvSpPr/>
          <p:nvPr/>
        </p:nvSpPr>
        <p:spPr>
          <a:xfrm>
            <a:off x="304800" y="1200150"/>
            <a:ext cx="5638800" cy="20478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41031EA-1410-4FA9-A8EA-FC6A1572296F}"/>
              </a:ext>
            </a:extLst>
          </p:cNvPr>
          <p:cNvSpPr/>
          <p:nvPr/>
        </p:nvSpPr>
        <p:spPr>
          <a:xfrm>
            <a:off x="6248400" y="1200150"/>
            <a:ext cx="5638800" cy="2047875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176ABF9-CDE0-4724-AB76-39DCA4BE0D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266825"/>
            <a:ext cx="5334000" cy="192405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F03655A-63FB-4127-B0FD-7880409A565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67525" y="1295400"/>
            <a:ext cx="4391025" cy="1857375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B2F432DC-4567-4810-867C-9731AF8C5F2D}"/>
              </a:ext>
            </a:extLst>
          </p:cNvPr>
          <p:cNvSpPr txBox="1"/>
          <p:nvPr/>
        </p:nvSpPr>
        <p:spPr>
          <a:xfrm>
            <a:off x="419100" y="3400425"/>
            <a:ext cx="54102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案例一 · 用符号对比维度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设定相应的维度，通过不同颜色的符号，表明不同论文具有不同的特点。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3F0F591-9D38-4C08-B498-BB4CF4B57418}"/>
              </a:ext>
            </a:extLst>
          </p:cNvPr>
          <p:cNvSpPr txBox="1"/>
          <p:nvPr/>
        </p:nvSpPr>
        <p:spPr>
          <a:xfrm>
            <a:off x="6362700" y="3400425"/>
            <a:ext cx="5410200" cy="1428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案例二 · 用数字与散点对比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不用符号，直接用文字说明数据集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Size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、模态等维度的对比，并用一张图展示该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Depth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Breadth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上都处于最优。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A3D7A68-F5BE-4869-8A0B-33CFC39BF917}"/>
              </a:ext>
            </a:extLst>
          </p:cNvPr>
          <p:cNvSpPr/>
          <p:nvPr/>
        </p:nvSpPr>
        <p:spPr>
          <a:xfrm>
            <a:off x="304800" y="4991100"/>
            <a:ext cx="11582400" cy="990600"/>
          </a:xfrm>
          <a:prstGeom prst="roundRect">
            <a:avLst>
              <a:gd name="adj" fmla="val 961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0107A53-07E5-4DEA-8715-85F02A75D363}"/>
              </a:ext>
            </a:extLst>
          </p:cNvPr>
          <p:cNvSpPr txBox="1"/>
          <p:nvPr/>
        </p:nvSpPr>
        <p:spPr>
          <a:xfrm>
            <a:off x="457200" y="5162550"/>
            <a:ext cx="112776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两种做法都可以：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用不同颜色的符号标记每篇论文的特点，或者直接用文字写明数据集规模、模态等维度的差异，再配一张图说明本文在深度与广度上的位置。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10FF440-0296-4E6A-8B35-F386FEC77D07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配图引自手册原文案例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8FC592-C7FF-4603-9C11-8814D6FE5A2A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43 / 86</a:t>
            </a: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0E592E7F-BC62-4E5C-BC5F-4ADE870DB4D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56C7F41-A443-409B-A29B-A94A3371D389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781C309-F5B3-41FA-AB0B-F86052712A83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7DFF5AD-166C-49E4-8B3B-F63C46CBBFF0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主结果表：让读者最快找到本文方法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02B18FC-63CB-42BD-B4CA-49A4578039C3}"/>
              </a:ext>
            </a:extLst>
          </p:cNvPr>
          <p:cNvSpPr txBox="1"/>
          <p:nvPr/>
        </p:nvSpPr>
        <p:spPr>
          <a:xfrm>
            <a:off x="304800" y="838200"/>
            <a:ext cx="113157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主结果通常适合用表格，因为表格能承载多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、多模型、多指标的精确对比。设计重点是：让读者最快找到本文方法，并看到它超过了哪些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baseline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3D6E87C-C833-43FC-8038-A330F018563D}"/>
              </a:ext>
            </a:extLst>
          </p:cNvPr>
          <p:cNvSpPr/>
          <p:nvPr/>
        </p:nvSpPr>
        <p:spPr>
          <a:xfrm>
            <a:off x="304800" y="1600200"/>
            <a:ext cx="11582400" cy="1771650"/>
          </a:xfrm>
          <a:prstGeom prst="roundRect">
            <a:avLst>
              <a:gd name="adj" fmla="val 5376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D7F4F9-2F6D-45B0-A439-95ACADF5258A}"/>
              </a:ext>
            </a:extLst>
          </p:cNvPr>
          <p:cNvSpPr txBox="1"/>
          <p:nvPr/>
        </p:nvSpPr>
        <p:spPr>
          <a:xfrm>
            <a:off x="457200" y="1733550"/>
            <a:ext cx="11277600" cy="1600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·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bold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标出最优结果；用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underline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标出次优结果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·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相同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backbone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或相同设置放在同一个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block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·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不同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 metric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用清楚的列分组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· 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caption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直接说明主要结论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·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一个表不要太空：列间距、行间距非常大会让人觉得内容不充实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· 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太空时可以通过调整布局，或者增加实验方差等内容，丰富表格信息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9211B14-A047-4250-8BF1-75578A96572A}"/>
              </a:ext>
            </a:extLst>
          </p:cNvPr>
          <p:cNvSpPr/>
          <p:nvPr/>
        </p:nvSpPr>
        <p:spPr>
          <a:xfrm>
            <a:off x="304800" y="354330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C92E962-2B4E-462D-B6F4-65F170EB6506}"/>
              </a:ext>
            </a:extLst>
          </p:cNvPr>
          <p:cNvSpPr/>
          <p:nvPr/>
        </p:nvSpPr>
        <p:spPr>
          <a:xfrm>
            <a:off x="4229100" y="354330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A34058E-2A46-4F9A-9DE5-8877A6C290C4}"/>
              </a:ext>
            </a:extLst>
          </p:cNvPr>
          <p:cNvSpPr/>
          <p:nvPr/>
        </p:nvSpPr>
        <p:spPr>
          <a:xfrm>
            <a:off x="8153400" y="354330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BFE3DBA7-483F-49EC-91CB-DF6E3844AA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3676650"/>
            <a:ext cx="3429000" cy="1533525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90F7CE17-A0FF-4233-8C33-92C1F6563E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67275" y="3676650"/>
            <a:ext cx="2447925" cy="154305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485FBF46-FCAB-406C-9137-4856E1AFA72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05800" y="3876675"/>
            <a:ext cx="3429000" cy="1143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012545AB-4DF9-4744-880C-7340A49C25CB}"/>
              </a:ext>
            </a:extLst>
          </p:cNvPr>
          <p:cNvSpPr txBox="1"/>
          <p:nvPr/>
        </p:nvSpPr>
        <p:spPr>
          <a:xfrm>
            <a:off x="457200" y="5429250"/>
            <a:ext cx="3429000" cy="838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案例一 · 用底色标出本文方法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数字下面两条线表示第一名，一条线表示第二名，仅加粗表示第三名。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3D082BE-003A-4364-938A-7994B80E37DD}"/>
              </a:ext>
            </a:extLst>
          </p:cNvPr>
          <p:cNvSpPr txBox="1"/>
          <p:nvPr/>
        </p:nvSpPr>
        <p:spPr>
          <a:xfrm>
            <a:off x="4381500" y="5429250"/>
            <a:ext cx="3429000" cy="838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案例二 · 颜色深浅与奖牌标识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用颜色深浅和加粗/横线区分性能，引入金牌/银牌两个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logo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，最后一列用红/绿表明性能增减。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54F64B0-B9E7-48BF-872D-9D09640855B6}"/>
              </a:ext>
            </a:extLst>
          </p:cNvPr>
          <p:cNvSpPr txBox="1"/>
          <p:nvPr/>
        </p:nvSpPr>
        <p:spPr>
          <a:xfrm>
            <a:off x="8305800" y="5429250"/>
            <a:ext cx="3429000" cy="838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案例三 · 插入算法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logo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通过插入不同的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logo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表示不同算法的特点，增加表格内容的丰富程度和美观度。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E76B84F-8BA6-49DD-8B62-F407685C675A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主结果表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91313EE-1CFC-4A43-B209-5CB6820200F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44 / 86</a:t>
            </a: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4157E6FD-AFC0-49E5-9E5E-8101D82B329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44EA948-0D84-4694-9F86-7F4EE2EE1469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488558C-3D5C-4910-AF0D-4201FEAB11CE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625FF-8816-4F80-8509-0BAA537381D1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各类曲线：表格外最常用的实验结果图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FEAF49-E5D3-4012-AB89-BCD4C14E88C8}"/>
              </a:ext>
            </a:extLst>
          </p:cNvPr>
          <p:cNvSpPr txBox="1"/>
          <p:nvPr/>
        </p:nvSpPr>
        <p:spPr>
          <a:xfrm>
            <a:off x="304800" y="838200"/>
            <a:ext cx="113157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通过曲线展示随着某个指标的变化，不同方法的性能变化。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2C9B258-E818-4F34-AF6C-A284ABF93979}"/>
              </a:ext>
            </a:extLst>
          </p:cNvPr>
          <p:cNvSpPr/>
          <p:nvPr/>
        </p:nvSpPr>
        <p:spPr>
          <a:xfrm>
            <a:off x="304800" y="1257300"/>
            <a:ext cx="3733800" cy="2362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B59785A-F256-4107-AC16-61F269B8DFE1}"/>
              </a:ext>
            </a:extLst>
          </p:cNvPr>
          <p:cNvSpPr/>
          <p:nvPr/>
        </p:nvSpPr>
        <p:spPr>
          <a:xfrm>
            <a:off x="4229100" y="1257300"/>
            <a:ext cx="3733800" cy="1971675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AFA354A-112F-47B8-8524-5AEB4CDC8CEB}"/>
              </a:ext>
            </a:extLst>
          </p:cNvPr>
          <p:cNvSpPr/>
          <p:nvPr/>
        </p:nvSpPr>
        <p:spPr>
          <a:xfrm>
            <a:off x="8153400" y="1257300"/>
            <a:ext cx="3733800" cy="1971675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0CFDB763-8EC1-415C-96E5-3795B607F5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362075"/>
            <a:ext cx="3429000" cy="1933575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8BD5910-D91B-479C-83D3-F9F4900594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81500" y="1390650"/>
            <a:ext cx="3429000" cy="112395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EB80AE1-CF72-465B-9B0F-58ABC3C0C08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05800" y="1352550"/>
            <a:ext cx="3429000" cy="116205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C678323F-FEB5-4FEF-8196-8E6495C981F5}"/>
              </a:ext>
            </a:extLst>
          </p:cNvPr>
          <p:cNvSpPr txBox="1"/>
          <p:nvPr/>
        </p:nvSpPr>
        <p:spPr>
          <a:xfrm>
            <a:off x="457200" y="3848100"/>
            <a:ext cx="3429000" cy="952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常见形式 · 性能随指标变化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四种不同颜色的线条分别对应不同方法，并在线条上标注关键数据点。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7FDDD96-15A2-41BE-927D-8C0DAA0C6E7A}"/>
              </a:ext>
            </a:extLst>
          </p:cNvPr>
          <p:cNvSpPr txBox="1"/>
          <p:nvPr/>
        </p:nvSpPr>
        <p:spPr>
          <a:xfrm>
            <a:off x="4381500" y="3848100"/>
            <a:ext cx="3429000" cy="952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案例一 · 让结果更直观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可以在曲线上增加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logo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、性能增减的描述等等。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ACCEB02-4637-4716-8E0A-88EE425C1649}"/>
              </a:ext>
            </a:extLst>
          </p:cNvPr>
          <p:cNvSpPr txBox="1"/>
          <p:nvPr/>
        </p:nvSpPr>
        <p:spPr>
          <a:xfrm>
            <a:off x="8305800" y="3848100"/>
            <a:ext cx="3429000" cy="9525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案例二 · 用底色表示方差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通过曲线后面的底色，表示算法的方差。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CC6E6DE-4B3A-47CF-A5F4-5B67C46475D5}"/>
              </a:ext>
            </a:extLst>
          </p:cNvPr>
          <p:cNvSpPr/>
          <p:nvPr/>
        </p:nvSpPr>
        <p:spPr>
          <a:xfrm>
            <a:off x="304800" y="5105400"/>
            <a:ext cx="11582400" cy="638175"/>
          </a:xfrm>
          <a:prstGeom prst="roundRect">
            <a:avLst>
              <a:gd name="adj" fmla="val 961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5E2F824-C972-43FE-9FCD-A8881101B6B6}"/>
              </a:ext>
            </a:extLst>
          </p:cNvPr>
          <p:cNvSpPr txBox="1"/>
          <p:nvPr/>
        </p:nvSpPr>
        <p:spPr>
          <a:xfrm>
            <a:off x="457200" y="5295900"/>
            <a:ext cx="112776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两类让曲线更直观的改动：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在曲线上增加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logo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与性能增减的描述，用曲线后的底色表示算法的方差。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3BDF34D-9078-4A3F-A037-1F4130BE2D6B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各类曲线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FA0C3FB-4E0D-434B-A6E2-0F524A15200C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45 / 86</a:t>
            </a: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A7801C87-7524-4C5E-B6F2-C942ACBD695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6C8F5FF-70BA-47BB-8344-F109A055E2E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529EE42-80FA-4EC5-BCD3-97313781977D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1EAD79-1536-4D75-8E66-A3D090265292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配色与色调：简约大气，勿晃眼睛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2EDCC4-4D5B-4FEF-AB9B-1DDE70F0E6DA}"/>
              </a:ext>
            </a:extLst>
          </p:cNvPr>
          <p:cNvSpPr txBox="1"/>
          <p:nvPr/>
        </p:nvSpPr>
        <p:spPr>
          <a:xfrm>
            <a:off x="304800" y="838200"/>
            <a:ext cx="5715000" cy="990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无论是论文插图还是实验曲线，配色要“简约大气，勿晃眼睛”，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拒绝高饱和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：科研图表最忌讳直接使用高饱和度的红绿蓝三原色。以下工具能一键获取符合学术审美的调色盘。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3A31CB4-89DE-4645-ABC0-55978902A7A2}"/>
              </a:ext>
            </a:extLst>
          </p:cNvPr>
          <p:cNvSpPr/>
          <p:nvPr/>
        </p:nvSpPr>
        <p:spPr>
          <a:xfrm>
            <a:off x="304800" y="1866900"/>
            <a:ext cx="5715000" cy="75247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DB3CEAB-E908-4241-A7E9-CDCF32E94B8D}"/>
              </a:ext>
            </a:extLst>
          </p:cNvPr>
          <p:cNvSpPr/>
          <p:nvPr/>
        </p:nvSpPr>
        <p:spPr>
          <a:xfrm>
            <a:off x="304800" y="2819400"/>
            <a:ext cx="5715000" cy="75247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D12C332-FD37-493D-AC88-6CED7AFAA8C3}"/>
              </a:ext>
            </a:extLst>
          </p:cNvPr>
          <p:cNvSpPr/>
          <p:nvPr/>
        </p:nvSpPr>
        <p:spPr>
          <a:xfrm>
            <a:off x="304800" y="3771900"/>
            <a:ext cx="5715000" cy="75247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2F489ED-31B2-4231-A4DF-D95428E79DF2}"/>
              </a:ext>
            </a:extLst>
          </p:cNvPr>
          <p:cNvSpPr/>
          <p:nvPr/>
        </p:nvSpPr>
        <p:spPr>
          <a:xfrm>
            <a:off x="304800" y="4724400"/>
            <a:ext cx="5715000" cy="752475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71E38A9-7E93-4A53-B70B-5B2032E593D1}"/>
              </a:ext>
            </a:extLst>
          </p:cNvPr>
          <p:cNvSpPr txBox="1"/>
          <p:nvPr/>
        </p:nvSpPr>
        <p:spPr>
          <a:xfrm>
            <a:off x="457200" y="1981200"/>
            <a:ext cx="5410200" cy="685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ColorKit</a:t>
            </a:r>
            <a:r>
              <a:rPr sz="1100">
                <a:solidFill>
                  <a:srgbClr val="8A97A5"/>
                </a:solidFill>
                <a:latin typeface="Times New Roman"/>
                <a:ea typeface="Times New Roman"/>
              </a:rPr>
              <a:t>   colorkit.co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支持生成渐变色、提取图片颜色，能直观预览调色盘在图表中的实际效果。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72F70A1-C94E-43BC-BC70-4308E386ADFE}"/>
              </a:ext>
            </a:extLst>
          </p:cNvPr>
          <p:cNvSpPr txBox="1"/>
          <p:nvPr/>
        </p:nvSpPr>
        <p:spPr>
          <a:xfrm>
            <a:off x="457200" y="2933700"/>
            <a:ext cx="5410200" cy="752094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ColorBrewer 2.0</a:t>
            </a:r>
            <a:r>
              <a:rPr sz="1100">
                <a:solidFill>
                  <a:srgbClr val="8A97A5"/>
                </a:solidFill>
                <a:latin typeface="Times New Roman"/>
                <a:ea typeface="Times New Roman"/>
              </a:rPr>
              <a:t>   colorbrewer2.org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经典的科学可视化配色标准，支持“色盲友好”与“黑白打印友好”，适合趋势图和柱状图。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79148CE-316A-4B70-B537-5592EC6F07C4}"/>
              </a:ext>
            </a:extLst>
          </p:cNvPr>
          <p:cNvSpPr txBox="1"/>
          <p:nvPr/>
        </p:nvSpPr>
        <p:spPr>
          <a:xfrm>
            <a:off x="457200" y="3886200"/>
            <a:ext cx="5410200" cy="685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SciVisColor</a:t>
            </a:r>
            <a:r>
              <a:rPr sz="1100">
                <a:solidFill>
                  <a:srgbClr val="8A97A5"/>
                </a:solidFill>
                <a:latin typeface="Times New Roman"/>
                <a:ea typeface="Times New Roman"/>
              </a:rPr>
              <a:t>   sciviscolor.org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由美国国家科学基金会等支持开发，提供极其专业的发散型和连续型调色盘。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974E405-A93C-4CD8-8F03-1636CA53085E}"/>
              </a:ext>
            </a:extLst>
          </p:cNvPr>
          <p:cNvSpPr txBox="1"/>
          <p:nvPr/>
        </p:nvSpPr>
        <p:spPr>
          <a:xfrm>
            <a:off x="457200" y="4838700"/>
            <a:ext cx="5410200" cy="685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Adobe Color</a:t>
            </a:r>
            <a:r>
              <a:rPr sz="1100">
                <a:solidFill>
                  <a:srgbClr val="8A97A5"/>
                </a:solidFill>
                <a:latin typeface="Times New Roman"/>
                <a:ea typeface="Times New Roman"/>
              </a:rPr>
              <a:t>   color.adobe.com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按色彩类比、互补等规则自制调色盘，也可在“探索”里直接复用学术感配色。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D90A574-2620-4E0D-96F7-2AF1D6AA7A77}"/>
              </a:ext>
            </a:extLst>
          </p:cNvPr>
          <p:cNvSpPr/>
          <p:nvPr/>
        </p:nvSpPr>
        <p:spPr>
          <a:xfrm>
            <a:off x="304800" y="5695950"/>
            <a:ext cx="5715000" cy="419100"/>
          </a:xfrm>
          <a:prstGeom prst="roundRect">
            <a:avLst>
              <a:gd name="adj" fmla="val 22727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60010A4-6CBB-4317-9C04-AF1255967140}"/>
              </a:ext>
            </a:extLst>
          </p:cNvPr>
          <p:cNvSpPr txBox="1"/>
          <p:nvPr/>
        </p:nvSpPr>
        <p:spPr>
          <a:xfrm>
            <a:off x="457200" y="5810250"/>
            <a:ext cx="5410200" cy="24536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B5743A"/>
                </a:solidFill>
                <a:latin typeface="Times New Roman"/>
                <a:ea typeface="华文中宋"/>
              </a:rPr>
              <a:t>还可以在小红书、抖音、微信公众号等平台搜索“科研论文配色”相关帖子。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F0CDFE4-50BE-4992-A823-0848D1749C9A}"/>
              </a:ext>
            </a:extLst>
          </p:cNvPr>
          <p:cNvSpPr/>
          <p:nvPr/>
        </p:nvSpPr>
        <p:spPr>
          <a:xfrm>
            <a:off x="6248400" y="952500"/>
            <a:ext cx="56388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18" name="Picture 18">
            <a:extLst>
              <a:ext uri="{FF2B5EF4-FFF2-40B4-BE49-F238E27FC236}">
                <a16:creationId xmlns:a16="http://schemas.microsoft.com/office/drawing/2014/main" id="{9402C02B-1811-41F6-A757-1C605033E0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0" y="1066800"/>
            <a:ext cx="3505200" cy="26289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861DEF8C-04CA-4A08-8D22-72458A677FF0}"/>
              </a:ext>
            </a:extLst>
          </p:cNvPr>
          <p:cNvSpPr txBox="1"/>
          <p:nvPr/>
        </p:nvSpPr>
        <p:spPr>
          <a:xfrm>
            <a:off x="6438900" y="3905250"/>
            <a:ext cx="52578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一套现成调色盘：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核心色板 + 图表示例，适用于生态与城市热岛等风格的论文图表与学术汇报。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9FBCACF-6306-49B3-A92F-653092BAD8B8}"/>
              </a:ext>
            </a:extLst>
          </p:cNvPr>
          <p:cNvSpPr/>
          <p:nvPr/>
        </p:nvSpPr>
        <p:spPr>
          <a:xfrm>
            <a:off x="6248400" y="4419600"/>
            <a:ext cx="563880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21" name="Picture 21">
            <a:extLst>
              <a:ext uri="{FF2B5EF4-FFF2-40B4-BE49-F238E27FC236}">
                <a16:creationId xmlns:a16="http://schemas.microsoft.com/office/drawing/2014/main" id="{B1668188-3FF5-4DA8-B4A0-A8351FF44A8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0" y="4514850"/>
            <a:ext cx="5334000" cy="14097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B0D5951B-F5FD-4AC7-A1A1-0A64BE1467E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配色与色调工具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C93AA85-D9EA-4031-A81C-9934EEED2A5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46 / 86</a:t>
            </a:r>
          </a:p>
        </p:txBody>
      </p:sp>
      <p:pic>
        <p:nvPicPr>
          <p:cNvPr id="24" name="Picture 24">
            <a:extLst>
              <a:ext uri="{FF2B5EF4-FFF2-40B4-BE49-F238E27FC236}">
                <a16:creationId xmlns:a16="http://schemas.microsoft.com/office/drawing/2014/main" id="{AE7CA3F9-98F4-497F-B505-187CA95D3CD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414C8C6-B263-4BAC-8B73-BA8A3B947A9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AD52F09-1664-4D6A-BC07-6AA5ACA82A5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AEC307E-2129-4981-B352-9332F287C53C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立体感、矢量图标与专业绘图工具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FD80E52-A4C5-4808-940D-A004FF473209}"/>
              </a:ext>
            </a:extLst>
          </p:cNvPr>
          <p:cNvSpPr/>
          <p:nvPr/>
        </p:nvSpPr>
        <p:spPr>
          <a:xfrm>
            <a:off x="304800" y="952500"/>
            <a:ext cx="2762250" cy="2314575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D88B868-E7D7-4D09-8E1B-13E118102E7F}"/>
              </a:ext>
            </a:extLst>
          </p:cNvPr>
          <p:cNvSpPr/>
          <p:nvPr/>
        </p:nvSpPr>
        <p:spPr>
          <a:xfrm>
            <a:off x="3257550" y="952500"/>
            <a:ext cx="276225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BB6B312B-68E2-4EBF-BA98-6BC4AB080D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876300"/>
            <a:ext cx="2457450" cy="1876425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8387E82-161B-4CE2-9C3C-400AB2F44E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09950" y="762000"/>
            <a:ext cx="2457450" cy="2505075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4191E6CC-80A0-4978-95EC-FBDB75639629}"/>
              </a:ext>
            </a:extLst>
          </p:cNvPr>
          <p:cNvSpPr txBox="1"/>
          <p:nvPr/>
        </p:nvSpPr>
        <p:spPr>
          <a:xfrm>
            <a:off x="304800" y="3733800"/>
            <a:ext cx="276225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增加阴影：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通过增加阴影、不同形状的线条，增加图像的立体感。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92A27E-CE22-4F66-B7E6-D4B939C4320F}"/>
              </a:ext>
            </a:extLst>
          </p:cNvPr>
          <p:cNvSpPr txBox="1"/>
          <p:nvPr/>
        </p:nvSpPr>
        <p:spPr>
          <a:xfrm>
            <a:off x="3257550" y="3733800"/>
            <a:ext cx="276225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形状变化：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用轮廓与阴影做出层次，线条用实线、虚线区分不同含义。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759311E-2B25-4A32-88A8-E7B2DDE73020}"/>
              </a:ext>
            </a:extLst>
          </p:cNvPr>
          <p:cNvSpPr/>
          <p:nvPr/>
        </p:nvSpPr>
        <p:spPr>
          <a:xfrm>
            <a:off x="304800" y="4629150"/>
            <a:ext cx="5715000" cy="552450"/>
          </a:xfrm>
          <a:prstGeom prst="roundRect">
            <a:avLst>
              <a:gd name="adj" fmla="val 1250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B6DC01C-CE05-40E0-8C22-73C13F959F86}"/>
              </a:ext>
            </a:extLst>
          </p:cNvPr>
          <p:cNvSpPr txBox="1"/>
          <p:nvPr/>
        </p:nvSpPr>
        <p:spPr>
          <a:xfrm>
            <a:off x="457200" y="4762500"/>
            <a:ext cx="55245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绘图工具最需要：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强大的对齐、吸附和连线功能，确保箭头没有交叉、方向统一。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41EF90B-1937-4CE4-93D1-80710E96BAB5}"/>
              </a:ext>
            </a:extLst>
          </p:cNvPr>
          <p:cNvSpPr txBox="1"/>
          <p:nvPr/>
        </p:nvSpPr>
        <p:spPr>
          <a:xfrm>
            <a:off x="6248400" y="952500"/>
            <a:ext cx="5638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华文中宋"/>
              </a:rPr>
              <a:t>矢量图标与素材库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5DE29A3-DEF9-4B46-82BF-30C0CE13D8CF}"/>
              </a:ext>
            </a:extLst>
          </p:cNvPr>
          <p:cNvSpPr txBox="1"/>
          <p:nvPr/>
        </p:nvSpPr>
        <p:spPr>
          <a:xfrm>
            <a:off x="6248400" y="1238250"/>
            <a:ext cx="5638800" cy="54864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概览图和流程图需要大量概念性图标（服务器、大脑、数据流、对比符号），统一风格的矢量图标是保证字体统一、风格一致的关键。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D3E9251-92ED-47B5-9BBC-1CA685B5A339}"/>
              </a:ext>
            </a:extLst>
          </p:cNvPr>
          <p:cNvSpPr/>
          <p:nvPr/>
        </p:nvSpPr>
        <p:spPr>
          <a:xfrm>
            <a:off x="6248400" y="1733550"/>
            <a:ext cx="5638800" cy="533400"/>
          </a:xfrm>
          <a:prstGeom prst="roundRect">
            <a:avLst>
              <a:gd name="adj" fmla="val 17857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56830D3-2923-4189-865E-262F6A7DEF91}"/>
              </a:ext>
            </a:extLst>
          </p:cNvPr>
          <p:cNvSpPr/>
          <p:nvPr/>
        </p:nvSpPr>
        <p:spPr>
          <a:xfrm>
            <a:off x="6248400" y="2305050"/>
            <a:ext cx="5638800" cy="533400"/>
          </a:xfrm>
          <a:prstGeom prst="roundRect">
            <a:avLst>
              <a:gd name="adj" fmla="val 17857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7C75506-0C84-433D-B5A0-90B8005D3B50}"/>
              </a:ext>
            </a:extLst>
          </p:cNvPr>
          <p:cNvSpPr/>
          <p:nvPr/>
        </p:nvSpPr>
        <p:spPr>
          <a:xfrm>
            <a:off x="6248400" y="2876550"/>
            <a:ext cx="5638800" cy="533400"/>
          </a:xfrm>
          <a:prstGeom prst="roundRect">
            <a:avLst>
              <a:gd name="adj" fmla="val 17857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00C3121-0AAB-4990-A04F-3752BF2A9238}"/>
              </a:ext>
            </a:extLst>
          </p:cNvPr>
          <p:cNvSpPr/>
          <p:nvPr/>
        </p:nvSpPr>
        <p:spPr>
          <a:xfrm>
            <a:off x="6248400" y="3448050"/>
            <a:ext cx="5638800" cy="533400"/>
          </a:xfrm>
          <a:prstGeom prst="roundRect">
            <a:avLst>
              <a:gd name="adj" fmla="val 17857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FE2407A-A003-4563-88AF-7750FD842637}"/>
              </a:ext>
            </a:extLst>
          </p:cNvPr>
          <p:cNvSpPr txBox="1"/>
          <p:nvPr/>
        </p:nvSpPr>
        <p:spPr>
          <a:xfrm>
            <a:off x="6438900" y="1809750"/>
            <a:ext cx="5257800" cy="5013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Flaticon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全球最大的免费矢量图标库，建议搜索图标包以保证整张图风格统一。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3FB0C8B-E47B-4E52-9BB0-095BBB491F08}"/>
              </a:ext>
            </a:extLst>
          </p:cNvPr>
          <p:cNvSpPr txBox="1"/>
          <p:nvPr/>
        </p:nvSpPr>
        <p:spPr>
          <a:xfrm>
            <a:off x="6400800" y="2381250"/>
            <a:ext cx="5334000" cy="400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iconfont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阿里巴巴图标库，中文搜索极度友好，可免登录下载矢量格式素材。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42144CB-3E76-4D8B-8789-CE50812720E7}"/>
              </a:ext>
            </a:extLst>
          </p:cNvPr>
          <p:cNvSpPr txBox="1"/>
          <p:nvPr/>
        </p:nvSpPr>
        <p:spPr>
          <a:xfrm>
            <a:off x="6400800" y="2952750"/>
            <a:ext cx="5334000" cy="400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The Noun Project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主打极致简约、高度概括的黑白符号图标。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6C3ACB4-E6CA-4332-AE49-6A7BE502A94C}"/>
              </a:ext>
            </a:extLst>
          </p:cNvPr>
          <p:cNvSpPr txBox="1"/>
          <p:nvPr/>
        </p:nvSpPr>
        <p:spPr>
          <a:xfrm>
            <a:off x="6400800" y="3524250"/>
            <a:ext cx="5334000" cy="400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BioRender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海量专业的细胞、分子、实验设备矢量素材，支持拖拽拼装。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458E3A3-1F69-4B38-9E9F-75349B56515A}"/>
              </a:ext>
            </a:extLst>
          </p:cNvPr>
          <p:cNvSpPr txBox="1"/>
          <p:nvPr/>
        </p:nvSpPr>
        <p:spPr>
          <a:xfrm>
            <a:off x="6248400" y="4114800"/>
            <a:ext cx="5638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华文中宋"/>
              </a:rPr>
              <a:t>专业流程图与架构绘图工具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86371DE-A05A-4656-8F1A-0B0292554B9B}"/>
              </a:ext>
            </a:extLst>
          </p:cNvPr>
          <p:cNvSpPr/>
          <p:nvPr/>
        </p:nvSpPr>
        <p:spPr>
          <a:xfrm>
            <a:off x="6248400" y="4419600"/>
            <a:ext cx="5638800" cy="628650"/>
          </a:xfrm>
          <a:prstGeom prst="roundRect">
            <a:avLst>
              <a:gd name="adj" fmla="val 15151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F7F339CC-0EB2-4FE7-A346-69D801624E0C}"/>
              </a:ext>
            </a:extLst>
          </p:cNvPr>
          <p:cNvSpPr/>
          <p:nvPr/>
        </p:nvSpPr>
        <p:spPr>
          <a:xfrm>
            <a:off x="6248400" y="5086350"/>
            <a:ext cx="5638800" cy="628650"/>
          </a:xfrm>
          <a:prstGeom prst="roundRect">
            <a:avLst>
              <a:gd name="adj" fmla="val 15151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047799A9-EE4C-4A93-9E0B-CF5C557FA9AF}"/>
              </a:ext>
            </a:extLst>
          </p:cNvPr>
          <p:cNvSpPr/>
          <p:nvPr/>
        </p:nvSpPr>
        <p:spPr>
          <a:xfrm>
            <a:off x="6248400" y="5753100"/>
            <a:ext cx="5638800" cy="628650"/>
          </a:xfrm>
          <a:prstGeom prst="roundRect">
            <a:avLst>
              <a:gd name="adj" fmla="val 15151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0FE0DCA-083A-4DB6-839A-45D2B4085785}"/>
              </a:ext>
            </a:extLst>
          </p:cNvPr>
          <p:cNvSpPr txBox="1"/>
          <p:nvPr/>
        </p:nvSpPr>
        <p:spPr>
          <a:xfrm>
            <a:off x="6400800" y="4514850"/>
            <a:ext cx="5334000" cy="5013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Draw.io</a:t>
            </a:r>
            <a:r>
              <a:rPr sz="1200">
                <a:solidFill>
                  <a:srgbClr val="B5743A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免费开源，组件丰富，可导出为不失真、可二次编辑的矢量格式，是替代绘图软件的绝佳选择。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4456EE4-560A-4441-A0ED-9C7E1218E390}"/>
              </a:ext>
            </a:extLst>
          </p:cNvPr>
          <p:cNvSpPr txBox="1"/>
          <p:nvPr/>
        </p:nvSpPr>
        <p:spPr>
          <a:xfrm>
            <a:off x="6400800" y="5181600"/>
            <a:ext cx="5334000" cy="5013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ProcessOn</a:t>
            </a:r>
            <a:r>
              <a:rPr sz="1200">
                <a:solidFill>
                  <a:srgbClr val="B5743A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国内主流在线作图工具，模板中心有大量学者分享的流程图与架构图，可直接克隆修改。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AE26D5C-772E-442F-870B-4CF2BC74CD13}"/>
              </a:ext>
            </a:extLst>
          </p:cNvPr>
          <p:cNvSpPr txBox="1"/>
          <p:nvPr/>
        </p:nvSpPr>
        <p:spPr>
          <a:xfrm>
            <a:off x="6400800" y="5848350"/>
            <a:ext cx="5334000" cy="5013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Lucidchart</a:t>
            </a:r>
            <a:r>
              <a:rPr sz="1200">
                <a:solidFill>
                  <a:srgbClr val="B5743A"/>
                </a:solidFill>
                <a:latin typeface="Times New Roman"/>
                <a:ea typeface="Times New Roman"/>
              </a:rPr>
              <a:t> · 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团队协作绘图软件，连线智能避让、排版对齐强大，适合复杂的多模块交互图。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7E1F579-DDB1-4131-8CE0-E6EC7D2E907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素材与工具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4F82081-A57F-433D-95FE-514058799574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47 / 86</a:t>
            </a:r>
          </a:p>
        </p:txBody>
      </p:sp>
      <p:pic>
        <p:nvPicPr>
          <p:cNvPr id="33" name="Picture 33">
            <a:extLst>
              <a:ext uri="{FF2B5EF4-FFF2-40B4-BE49-F238E27FC236}">
                <a16:creationId xmlns:a16="http://schemas.microsoft.com/office/drawing/2014/main" id="{3DB838FD-8461-4017-95A7-6BCC4AB62DD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1E9146B-EFD0-4864-9C05-A9EC772849E6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53522DB-A705-43CA-9EC6-7DA46CF7E8B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D4821A-50F3-44AE-8AD3-854498D0004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代码生成图表、草图灵感与素材使用铁律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216E82C-4AFD-4679-8443-B45E428625BE}"/>
              </a:ext>
            </a:extLst>
          </p:cNvPr>
          <p:cNvSpPr/>
          <p:nvPr/>
        </p:nvSpPr>
        <p:spPr>
          <a:xfrm>
            <a:off x="304800" y="1181100"/>
            <a:ext cx="685800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8E05276-F79D-4B34-AF67-701D07D0110D}"/>
              </a:ext>
            </a:extLst>
          </p:cNvPr>
          <p:cNvSpPr/>
          <p:nvPr/>
        </p:nvSpPr>
        <p:spPr>
          <a:xfrm>
            <a:off x="304800" y="3657600"/>
            <a:ext cx="6858000" cy="1609725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EA9DE7-9097-43B0-9FE3-5479E9928546}"/>
              </a:ext>
            </a:extLst>
          </p:cNvPr>
          <p:cNvSpPr txBox="1"/>
          <p:nvPr/>
        </p:nvSpPr>
        <p:spPr>
          <a:xfrm>
            <a:off x="457200" y="1333500"/>
            <a:ext cx="65532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B2484"/>
                </a:solidFill>
                <a:latin typeface="Times New Roman"/>
                <a:ea typeface="华文中宋"/>
              </a:rPr>
              <a:t>实验数据图表的可视化库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EBBA2FF-0B24-44DD-A685-1D6DE1341FAC}"/>
              </a:ext>
            </a:extLst>
          </p:cNvPr>
          <p:cNvSpPr txBox="1"/>
          <p:nvPr/>
        </p:nvSpPr>
        <p:spPr>
          <a:xfrm>
            <a:off x="457200" y="1657350"/>
            <a:ext cx="6553200" cy="1695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趋势图、柱状图等都可以让代码助手写代码生成，指令里指定以下业界标杆库，能让生成的图表自带高级感。</a:t>
            </a:r>
          </a:p>
          <a:p>
            <a:pPr algn="l">
              <a:lnSpc>
                <a:spcPct val="145000"/>
              </a:lnSpc>
              <a:spcBef>
                <a:spcPts val="1540"/>
              </a:spcBef>
              <a:spcAft>
                <a:spcPts val="8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Seaborn</a:t>
            </a: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 与 </a:t>
            </a: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Matplotlib</a:t>
            </a: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科研界的老牌标杆，自带多套学术主题，默认配色更现代。</a:t>
            </a:r>
          </a:p>
          <a:p>
            <a:pPr algn="l">
              <a:lnSpc>
                <a:spcPct val="145000"/>
              </a:lnSpc>
              <a:spcBef>
                <a:spcPts val="1540"/>
              </a:spcBef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ProPlot</a:t>
            </a:r>
            <a:r>
              <a:rPr sz="1200">
                <a:solidFill>
                  <a:srgbClr val="0B56A8"/>
                </a:solidFill>
                <a:latin typeface="Times New Roman"/>
                <a:ea typeface="华文中宋"/>
              </a:rPr>
              <a:t>：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专为发表高质量论文设计，简化多子图排版对齐、标签共享与学术配色调用。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9696F3-432A-4241-BC14-0990BF132E27}"/>
              </a:ext>
            </a:extLst>
          </p:cNvPr>
          <p:cNvSpPr txBox="1"/>
          <p:nvPr/>
        </p:nvSpPr>
        <p:spPr>
          <a:xfrm>
            <a:off x="457200" y="3810000"/>
            <a:ext cx="65532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7B2484"/>
                </a:solidFill>
                <a:latin typeface="Times New Roman"/>
                <a:ea typeface="华文中宋"/>
              </a:rPr>
              <a:t>善用 </a:t>
            </a: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AI</a:t>
            </a:r>
            <a:r>
              <a:rPr sz="1400" b="1">
                <a:solidFill>
                  <a:srgbClr val="7B2484"/>
                </a:solidFill>
                <a:latin typeface="Times New Roman"/>
                <a:ea typeface="华文中宋"/>
              </a:rPr>
              <a:t> 绘图与草图生成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027C87C-EBF6-4544-802B-83B16E237629}"/>
              </a:ext>
            </a:extLst>
          </p:cNvPr>
          <p:cNvSpPr txBox="1"/>
          <p:nvPr/>
        </p:nvSpPr>
        <p:spPr>
          <a:xfrm>
            <a:off x="457200" y="4133850"/>
            <a:ext cx="6553200" cy="1866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00" b="1">
                <a:solidFill>
                  <a:srgbClr val="0B56A8"/>
                </a:solidFill>
                <a:latin typeface="Times New Roman"/>
                <a:ea typeface="Times New Roman"/>
              </a:rPr>
              <a:t>GPT-Image-2 / Midjourney / DALL-E 3</a:t>
            </a: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 · 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用提示词定义结构，获取排版与视觉引导的灵感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00" i="1">
                <a:solidFill>
                  <a:srgbClr val="5B6B7C"/>
                </a:solidFill>
                <a:latin typeface="Times New Roman"/>
                <a:ea typeface="Times New Roman"/>
              </a:rPr>
              <a:t>"A structured, 3-part scientific diagram from left to right, clean background, pastel color palette, vector style…"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草图只用于启发，最终仍要自己复现并修改。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63E42C2-FA02-4CCB-B4F5-75D954D31A7A}"/>
              </a:ext>
            </a:extLst>
          </p:cNvPr>
          <p:cNvSpPr/>
          <p:nvPr/>
        </p:nvSpPr>
        <p:spPr>
          <a:xfrm>
            <a:off x="7467600" y="1181100"/>
            <a:ext cx="4419600" cy="3848100"/>
          </a:xfrm>
          <a:prstGeom prst="rect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9B06F17-A3B2-49CA-9A2A-0076DDEDCE3B}"/>
              </a:ext>
            </a:extLst>
          </p:cNvPr>
          <p:cNvSpPr txBox="1"/>
          <p:nvPr/>
        </p:nvSpPr>
        <p:spPr>
          <a:xfrm>
            <a:off x="7620000" y="1371600"/>
            <a:ext cx="4114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素材使用铁律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C5A8F77-E515-4A37-952B-976BD54C5B43}"/>
              </a:ext>
            </a:extLst>
          </p:cNvPr>
          <p:cNvSpPr txBox="1"/>
          <p:nvPr/>
        </p:nvSpPr>
        <p:spPr>
          <a:xfrm>
            <a:off x="7620000" y="1714500"/>
            <a:ext cx="4114800" cy="3162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01 </a:t>
            </a: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格式首选矢量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  <a:spcAft>
                <a:spcPts val="1400"/>
              </a:spcAft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下载素材时务必优先选择矢量格式。只有矢量图在无限放大、或者缩小到论文实际双栏尺寸时，才能保证文字和线条绝对清晰、不掉字。</a:t>
            </a:r>
          </a:p>
          <a:p>
            <a:pPr algn="l">
              <a:spcBef>
                <a:spcPts val="20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02 </a:t>
            </a: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版权合规</a:t>
            </a:r>
          </a:p>
          <a:p>
            <a:pPr algn="l">
              <a:lnSpc>
                <a:spcPct val="145000"/>
              </a:lnSpc>
              <a:spcBef>
                <a:spcPts val="2000"/>
              </a:spcBef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免费使用商业或开源图标库时，注意查看其开源协议：按协议要求在致谢或图注中注明出处，或选择完全开源的资源，避免版权争议。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016250A-C0D1-46C3-AA20-8C80D3E7CCFF}"/>
              </a:ext>
            </a:extLst>
          </p:cNvPr>
          <p:cNvSpPr/>
          <p:nvPr/>
        </p:nvSpPr>
        <p:spPr>
          <a:xfrm>
            <a:off x="7467600" y="5181600"/>
            <a:ext cx="4419600" cy="952500"/>
          </a:xfrm>
          <a:prstGeom prst="roundRect">
            <a:avLst>
              <a:gd name="adj" fmla="val 1000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E1AFAFF-8A9B-4955-900F-5626DE02452C}"/>
              </a:ext>
            </a:extLst>
          </p:cNvPr>
          <p:cNvSpPr txBox="1"/>
          <p:nvPr/>
        </p:nvSpPr>
        <p:spPr>
          <a:xfrm>
            <a:off x="7620000" y="5353050"/>
            <a:ext cx="4114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更多内容可以阅读</a:t>
            </a: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《科研论文配图绘制指南》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github.com/datawhalechina/paper-chart-tutorial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CB9956D-AD6D-44A8-9427-B3B9EEA1EAE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第九篇 论文画图指南 · 素材与工具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D6E3EC8-E176-4724-8D41-5A671880530A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48 / 86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3FBC1572-4955-4748-9A01-6A50457515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68C0048-CB67-4B4A-B15C-13627B05B35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E9E0EA3-F810-49ED-8072-5CBB8821E20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21C96E4-F4FC-41FB-8C3A-059FF97D9A58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摘要不是论文简介，而是一份贡献说明书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80405C5-5A17-4C07-AE75-614DF04465D6}"/>
              </a:ext>
            </a:extLst>
          </p:cNvPr>
          <p:cNvSpPr/>
          <p:nvPr/>
        </p:nvSpPr>
        <p:spPr>
          <a:xfrm>
            <a:off x="304800" y="838200"/>
            <a:ext cx="11582400" cy="914400"/>
          </a:xfrm>
          <a:prstGeom prst="roundRect">
            <a:avLst>
              <a:gd name="adj" fmla="val 104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45C992B-B814-48E8-9059-9D6574B9ED10}"/>
              </a:ext>
            </a:extLst>
          </p:cNvPr>
          <p:cNvSpPr txBox="1"/>
          <p:nvPr/>
        </p:nvSpPr>
        <p:spPr>
          <a:xfrm>
            <a:off x="457200" y="933450"/>
            <a:ext cx="112776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基本思路：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摘要更应被视为一份贡献说明书：在有限篇幅内使审稿人清晰理解本文解决了什么问题、提出了什么关键思想，这些贡献对领域的意义何在。因此摘要不宜冗长，而应高度凝练、逻辑清晰。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E5B8D22-465C-499D-A1C1-BDEB528AE0B2}"/>
              </a:ext>
            </a:extLst>
          </p:cNvPr>
          <p:cNvSpPr/>
          <p:nvPr/>
        </p:nvSpPr>
        <p:spPr>
          <a:xfrm>
            <a:off x="304800" y="2152650"/>
            <a:ext cx="5638800" cy="1504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F25B6FA-DBCF-4D57-A3FC-F647ED49F884}"/>
              </a:ext>
            </a:extLst>
          </p:cNvPr>
          <p:cNvSpPr/>
          <p:nvPr/>
        </p:nvSpPr>
        <p:spPr>
          <a:xfrm>
            <a:off x="6248400" y="2152650"/>
            <a:ext cx="5638800" cy="1504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B6D8275-8B02-48EE-AF9F-A68C562407F8}"/>
              </a:ext>
            </a:extLst>
          </p:cNvPr>
          <p:cNvSpPr/>
          <p:nvPr/>
        </p:nvSpPr>
        <p:spPr>
          <a:xfrm>
            <a:off x="304800" y="4248150"/>
            <a:ext cx="5638800" cy="1504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9F5290E-E8FC-459E-B6B4-92DA8C232B8F}"/>
              </a:ext>
            </a:extLst>
          </p:cNvPr>
          <p:cNvSpPr/>
          <p:nvPr/>
        </p:nvSpPr>
        <p:spPr>
          <a:xfrm>
            <a:off x="6248400" y="4248150"/>
            <a:ext cx="5638800" cy="1504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4A2A619-6E27-4E44-93D2-F7382226ED73}"/>
              </a:ext>
            </a:extLst>
          </p:cNvPr>
          <p:cNvSpPr/>
          <p:nvPr/>
        </p:nvSpPr>
        <p:spPr>
          <a:xfrm>
            <a:off x="457200" y="228600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01 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任务背景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Context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FF574D7-BCD1-4313-BAA3-95A02A21252E}"/>
              </a:ext>
            </a:extLst>
          </p:cNvPr>
          <p:cNvSpPr/>
          <p:nvPr/>
        </p:nvSpPr>
        <p:spPr>
          <a:xfrm>
            <a:off x="6400800" y="228600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E86D35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02 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科学问题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Problem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最关键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4A7FFE5-416E-4CC6-A253-DFCFF011CF50}"/>
              </a:ext>
            </a:extLst>
          </p:cNvPr>
          <p:cNvSpPr/>
          <p:nvPr/>
        </p:nvSpPr>
        <p:spPr>
          <a:xfrm>
            <a:off x="457200" y="438150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03 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方法创新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Methodology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0C0AA32-B65E-4C95-8F7B-8691FA34F5C9}"/>
              </a:ext>
            </a:extLst>
          </p:cNvPr>
          <p:cNvSpPr/>
          <p:nvPr/>
        </p:nvSpPr>
        <p:spPr>
          <a:xfrm>
            <a:off x="6400800" y="4381500"/>
            <a:ext cx="5334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04 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结论与贡献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Results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54DC550-ECE9-4E28-B927-B145AF54C863}"/>
              </a:ext>
            </a:extLst>
          </p:cNvPr>
          <p:cNvSpPr txBox="1"/>
          <p:nvPr/>
        </p:nvSpPr>
        <p:spPr>
          <a:xfrm>
            <a:off x="457200" y="27051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用最精炼的语言描述论文的大方向与任务范畴，让审稿人第一时间判断所属领域与核心问题。不要铺垫过多常识，直接切入主题。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B60ACA7-6E61-432D-BE26-1BF1CB48498B}"/>
              </a:ext>
            </a:extLst>
          </p:cNvPr>
          <p:cNvSpPr txBox="1"/>
          <p:nvPr/>
        </p:nvSpPr>
        <p:spPr>
          <a:xfrm>
            <a:off x="6400800" y="27051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要讲出现有研究的挑战与痛点：最好是一个结构性问题，而不是经验现象（例如只说模型在某任务上失败，会让人觉得修修补补、贡献不大）。要从现象上升到机理：是理论有缺陷、泛化能力弱，还是稳健性不足？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96DBD01-FC5C-4D5D-91DF-8354D296459D}"/>
              </a:ext>
            </a:extLst>
          </p:cNvPr>
          <p:cNvSpPr txBox="1"/>
          <p:nvPr/>
        </p:nvSpPr>
        <p:spPr>
          <a:xfrm>
            <a:off x="457200" y="48006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提出核心解决方案，尽可能凝练出思想，不要堆太多细节：新的架构？新的损失？还是新的数据合成方法？核心思想是什么？关键在于让审稿人理解，为什么这种方法在逻辑上能够解决前述问题。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11D985F-78C7-48D0-A3A5-9E15794A1291}"/>
              </a:ext>
            </a:extLst>
          </p:cNvPr>
          <p:cNvSpPr txBox="1"/>
          <p:nvPr/>
        </p:nvSpPr>
        <p:spPr>
          <a:xfrm>
            <a:off x="6400800" y="48006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实验描述以具体、可量化的指标为主，只写一句“性能显著提升”很普通，因为所有论文都可以这么写。明确在多少个数据集、对比了哪些代表性方法、在什么指标上提升了多少；结论要回应前文的科学问题。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D26F0D1-C927-405A-A221-F71870E4AA60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第十篇 如何写论文 ·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Abstract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E9E5FD5-EAC5-4AEB-B261-6885AF0511C9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49 / 86</a:t>
            </a: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F67FDD19-EA6C-4412-8B03-2590C370E6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E65CB8E-D9AA-4E12-8934-70645DD88FB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9BF7102-8BC8-46A6-94C6-903DE34B5ABE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7371BD-1486-4DC4-BC8C-877E4EC29203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优秀案例：摘要怎么把几句话写实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A523F7F-DA17-4B99-AAAC-EFCFD1D925D0}"/>
              </a:ext>
            </a:extLst>
          </p:cNvPr>
          <p:cNvSpPr/>
          <p:nvPr/>
        </p:nvSpPr>
        <p:spPr>
          <a:xfrm>
            <a:off x="304800" y="914400"/>
            <a:ext cx="3733800" cy="3238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8952E82-35A1-43EE-A636-EBAAEE055ED6}"/>
              </a:ext>
            </a:extLst>
          </p:cNvPr>
          <p:cNvSpPr/>
          <p:nvPr/>
        </p:nvSpPr>
        <p:spPr>
          <a:xfrm>
            <a:off x="4229100" y="914400"/>
            <a:ext cx="3733800" cy="3238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A5C1A8-4478-4218-A4A7-B00EBC460C68}"/>
              </a:ext>
            </a:extLst>
          </p:cNvPr>
          <p:cNvSpPr/>
          <p:nvPr/>
        </p:nvSpPr>
        <p:spPr>
          <a:xfrm>
            <a:off x="8153400" y="914400"/>
            <a:ext cx="3733800" cy="3238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8F16B35-6875-42DC-B655-F039446388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3475" y="1028700"/>
            <a:ext cx="2066925" cy="30099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7F16A84D-2F7B-48E4-847B-B6B73F9926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7775" y="1028700"/>
            <a:ext cx="2066925" cy="30099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88203AA-DB51-4CA4-93F5-9FD291B6D61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191625" y="1028700"/>
            <a:ext cx="1647825" cy="30099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C6DD3B67-2D68-4B8C-8808-B645D6A52F96}"/>
              </a:ext>
            </a:extLst>
          </p:cNvPr>
          <p:cNvSpPr txBox="1"/>
          <p:nvPr/>
        </p:nvSpPr>
        <p:spPr>
          <a:xfrm>
            <a:off x="457200" y="4267200"/>
            <a:ext cx="34290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例一 · 从问题分析出发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问题部分非常明确和本质：训练时换得推理时的灵活；结论有说服力：从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7%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到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90%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，超越了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7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倍参数量的模型。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121CB53-713A-46B2-B355-BD101B638CFF}"/>
              </a:ext>
            </a:extLst>
          </p:cNvPr>
          <p:cNvSpPr txBox="1"/>
          <p:nvPr/>
        </p:nvSpPr>
        <p:spPr>
          <a:xfrm>
            <a:off x="4381500" y="4267200"/>
            <a:ext cx="34290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例二 · 解决现有方法的某个问题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一句话确定背景（推理加速很重要），两句话指出问题（现有方法要求两个模型共享词表），一句话讲清本文工作，实验结果回应加速问题。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3A7026-882E-43D6-9818-C19190D6D6A7}"/>
              </a:ext>
            </a:extLst>
          </p:cNvPr>
          <p:cNvSpPr txBox="1"/>
          <p:nvPr/>
        </p:nvSpPr>
        <p:spPr>
          <a:xfrm>
            <a:off x="8305800" y="4267200"/>
            <a:ext cx="34290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例三 · 基准类论文</a:t>
            </a:r>
          </a:p>
          <a:p>
            <a:pPr algn="l">
              <a:lnSpc>
                <a:spcPct val="145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一句话确定背景，两句话说明问题，再用数字交代覆盖多少问题、几个领域、哪些类别，最后说清评估了多少模型、发现了什么现象。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CB05113-E016-4D79-9656-8DED2492A7B1}"/>
              </a:ext>
            </a:extLst>
          </p:cNvPr>
          <p:cNvSpPr/>
          <p:nvPr/>
        </p:nvSpPr>
        <p:spPr>
          <a:xfrm>
            <a:off x="304800" y="5486400"/>
            <a:ext cx="11582400" cy="609600"/>
          </a:xfrm>
          <a:prstGeom prst="roundRect">
            <a:avLst>
              <a:gd name="adj" fmla="val 15625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9E7D823-26C1-4E73-84C2-0F89C842D6C5}"/>
              </a:ext>
            </a:extLst>
          </p:cNvPr>
          <p:cNvSpPr txBox="1"/>
          <p:nvPr/>
        </p:nvSpPr>
        <p:spPr>
          <a:xfrm>
            <a:off x="457200" y="5638800"/>
            <a:ext cx="112776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三篇摘要的共同点：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问题讲得本质，方法一句话凝练出思想，结论用具体数字回应前文提出的问题，而不是泛泛而谈。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0E98E8B-FE15-4D74-8981-0005DD9729B2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第十篇 如何写论文 ·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Abstract</a:t>
            </a:r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 · 配图引自手册原文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C63647D-3AB5-4DCD-B310-F16E65AFC3ED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50 / 86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B635D191-F9F6-408B-9E8C-5CAA8B98C34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1FC99B1-23C1-4031-9806-5ED4B72BCE50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03FC9F3-B871-41B1-9826-EC16A30FF703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D837162-CBE9-4160-A820-7B99D9B5C9E7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Introduction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基本是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Abstract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的扩写版本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C727806-D027-4351-A607-2FC8D066AB52}"/>
              </a:ext>
            </a:extLst>
          </p:cNvPr>
          <p:cNvSpPr/>
          <p:nvPr/>
        </p:nvSpPr>
        <p:spPr>
          <a:xfrm>
            <a:off x="304800" y="838200"/>
            <a:ext cx="11582400" cy="1047750"/>
          </a:xfrm>
          <a:prstGeom prst="roundRect">
            <a:avLst>
              <a:gd name="adj" fmla="val 909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E43A8BD-38AA-4FF9-9F42-930A953CDD7C}"/>
              </a:ext>
            </a:extLst>
          </p:cNvPr>
          <p:cNvSpPr txBox="1"/>
          <p:nvPr/>
        </p:nvSpPr>
        <p:spPr>
          <a:xfrm>
            <a:off x="457200" y="952500"/>
            <a:ext cx="1127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四段式逻辑链 · 从摘要继承下来的骨架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734AFC3-ECCC-48DC-B5D5-F7731BB2E67C}"/>
              </a:ext>
            </a:extLst>
          </p:cNvPr>
          <p:cNvSpPr/>
          <p:nvPr/>
        </p:nvSpPr>
        <p:spPr>
          <a:xfrm>
            <a:off x="533400" y="1295400"/>
            <a:ext cx="238125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研究领域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44ACB1E-870A-4D95-9B57-C5977CCC42A5}"/>
              </a:ext>
            </a:extLst>
          </p:cNvPr>
          <p:cNvSpPr/>
          <p:nvPr/>
        </p:nvSpPr>
        <p:spPr>
          <a:xfrm>
            <a:off x="3200400" y="1295400"/>
            <a:ext cx="238125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已有工作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59759DA-AA49-48C7-91F5-0AF212EAD970}"/>
              </a:ext>
            </a:extLst>
          </p:cNvPr>
          <p:cNvSpPr/>
          <p:nvPr/>
        </p:nvSpPr>
        <p:spPr>
          <a:xfrm>
            <a:off x="5867400" y="1295400"/>
            <a:ext cx="238125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未解决问题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4113B88-BE47-43A4-A4BA-9DC59EB45794}"/>
              </a:ext>
            </a:extLst>
          </p:cNvPr>
          <p:cNvSpPr/>
          <p:nvPr/>
        </p:nvSpPr>
        <p:spPr>
          <a:xfrm>
            <a:off x="8534400" y="1295400"/>
            <a:ext cx="238125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本文工作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A1A3584-D751-4940-BDA6-7C4DB062E30A}"/>
              </a:ext>
            </a:extLst>
          </p:cNvPr>
          <p:cNvSpPr txBox="1"/>
          <p:nvPr/>
        </p:nvSpPr>
        <p:spPr>
          <a:xfrm>
            <a:off x="2914650" y="1390650"/>
            <a:ext cx="28575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C845"/>
                </a:solidFill>
                <a:latin typeface="Times New Roman"/>
                <a:ea typeface="Times New Roman"/>
              </a:rPr>
              <a:t>→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C215BFB-2BF7-4B5E-964B-6F1F1C058EA2}"/>
              </a:ext>
            </a:extLst>
          </p:cNvPr>
          <p:cNvSpPr txBox="1"/>
          <p:nvPr/>
        </p:nvSpPr>
        <p:spPr>
          <a:xfrm>
            <a:off x="5581650" y="1390650"/>
            <a:ext cx="28575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C845"/>
                </a:solidFill>
                <a:latin typeface="Times New Roman"/>
                <a:ea typeface="Times New Roman"/>
              </a:rPr>
              <a:t>→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F10A863-A9E0-4B31-B26D-AB6B7293E5AD}"/>
              </a:ext>
            </a:extLst>
          </p:cNvPr>
          <p:cNvSpPr txBox="1"/>
          <p:nvPr/>
        </p:nvSpPr>
        <p:spPr>
          <a:xfrm>
            <a:off x="8248650" y="1390650"/>
            <a:ext cx="28575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C845"/>
                </a:solidFill>
                <a:latin typeface="Times New Roman"/>
                <a:ea typeface="Times New Roman"/>
              </a:rPr>
              <a:t>→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89A82B8-A7F5-4724-9AFB-AF94C1969C79}"/>
              </a:ext>
            </a:extLst>
          </p:cNvPr>
          <p:cNvSpPr/>
          <p:nvPr/>
        </p:nvSpPr>
        <p:spPr>
          <a:xfrm>
            <a:off x="304800" y="2038350"/>
            <a:ext cx="5638800" cy="10382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CADC0E2-796A-4326-AAFC-4C427A02489E}"/>
              </a:ext>
            </a:extLst>
          </p:cNvPr>
          <p:cNvSpPr/>
          <p:nvPr/>
        </p:nvSpPr>
        <p:spPr>
          <a:xfrm>
            <a:off x="6248400" y="2038350"/>
            <a:ext cx="5638800" cy="10382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E2A2DBF-F10B-4F87-8C41-05CE23380935}"/>
              </a:ext>
            </a:extLst>
          </p:cNvPr>
          <p:cNvSpPr/>
          <p:nvPr/>
        </p:nvSpPr>
        <p:spPr>
          <a:xfrm>
            <a:off x="304800" y="3857625"/>
            <a:ext cx="5638800" cy="10382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0E6366A-4F75-4AEB-AD46-8947E442AC0D}"/>
              </a:ext>
            </a:extLst>
          </p:cNvPr>
          <p:cNvSpPr/>
          <p:nvPr/>
        </p:nvSpPr>
        <p:spPr>
          <a:xfrm>
            <a:off x="6248400" y="3857625"/>
            <a:ext cx="5638800" cy="103822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DC8C0A2-8DB1-47EC-9C19-89F95553A84D}"/>
              </a:ext>
            </a:extLst>
          </p:cNvPr>
          <p:cNvSpPr txBox="1"/>
          <p:nvPr/>
        </p:nvSpPr>
        <p:spPr>
          <a:xfrm>
            <a:off x="457200" y="22479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01 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说明研究领域为什么重要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先让读者理解这个问题为什么重要，不要一上来就写自己的方法。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8941E8A-5E32-4AA2-AF7D-CDD949F91693}"/>
              </a:ext>
            </a:extLst>
          </p:cNvPr>
          <p:cNvSpPr txBox="1"/>
          <p:nvPr/>
        </p:nvSpPr>
        <p:spPr>
          <a:xfrm>
            <a:off x="6400800" y="2247900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02 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总结已有研究已经做了什么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不是写完整文献综述，而是选择与本文最相关的工作，为后面的空缺做铺垫。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6BE7CFF-4FF8-4CC1-BF70-4329B736FC88}"/>
              </a:ext>
            </a:extLst>
          </p:cNvPr>
          <p:cNvSpPr txBox="1"/>
          <p:nvPr/>
        </p:nvSpPr>
        <p:spPr>
          <a:xfrm>
            <a:off x="457200" y="4067175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03 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指出仍然存在的问题、空缺或不足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这一段是关键：既然已有研究这么多，为什么还需要这篇论文？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7B6E584-460D-407A-881A-8B1B07D52BE5}"/>
              </a:ext>
            </a:extLst>
          </p:cNvPr>
          <p:cNvSpPr txBox="1"/>
          <p:nvPr/>
        </p:nvSpPr>
        <p:spPr>
          <a:xfrm>
            <a:off x="6400800" y="4067175"/>
            <a:ext cx="5334000" cy="1238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04 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说明本文要做什么、怎么做的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以及取得了什么样的结果。要清楚、直接，不要再继续铺垫。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DAA883A8-43AF-4C98-8322-67290C8ECBDE}"/>
              </a:ext>
            </a:extLst>
          </p:cNvPr>
          <p:cNvSpPr/>
          <p:nvPr/>
        </p:nvSpPr>
        <p:spPr>
          <a:xfrm>
            <a:off x="304800" y="5715000"/>
            <a:ext cx="11582400" cy="571500"/>
          </a:xfrm>
          <a:prstGeom prst="roundRect">
            <a:avLst/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7900567-8BE0-4D2F-9FEB-0FDF5B9CF866}"/>
              </a:ext>
            </a:extLst>
          </p:cNvPr>
          <p:cNvSpPr txBox="1"/>
          <p:nvPr/>
        </p:nvSpPr>
        <p:spPr>
          <a:xfrm>
            <a:off x="457200" y="5848350"/>
            <a:ext cx="112776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一个好的 </a:t>
            </a:r>
            <a:r>
              <a:rPr sz="1300" b="1">
                <a:solidFill>
                  <a:srgbClr val="0B56A8"/>
                </a:solidFill>
                <a:latin typeface="Times New Roman"/>
                <a:ea typeface="Times New Roman"/>
              </a:rPr>
              <a:t>Introduction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，通常要完成四件事：说明领域为什么重要、已有研究做了什么、仍然缺什么、本文做了什么。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8DD55D9-066F-4D2E-9490-C2661FD9DE2F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第十一篇 如何写论文 · </a:t>
            </a:r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Introduction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D642866-E953-4861-A1E6-3820A2C6532B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51 / 86</a:t>
            </a:r>
          </a:p>
        </p:txBody>
      </p:sp>
      <p:pic>
        <p:nvPicPr>
          <p:cNvPr id="27" name="Picture 27">
            <a:extLst>
              <a:ext uri="{FF2B5EF4-FFF2-40B4-BE49-F238E27FC236}">
                <a16:creationId xmlns:a16="http://schemas.microsoft.com/office/drawing/2014/main" id="{71CC6DF9-AE4F-43A0-917C-11F09ABF6F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F534020-508C-4343-9607-A8FDDF7085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CC1A2018-0A78-4312-A1F6-CD6FCE54254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A913732-39AE-42E2-90A0-C269FFD09643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B11572-F410-4A04-9374-B1F36F5941BC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7B2484"/>
                </a:solidFill>
                <a:latin typeface="Times New Roman"/>
                <a:ea typeface="华文中宋"/>
              </a:rPr>
              <a:t>四段式结构（上）：建立研究领域、回顾已有研究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19A205-6E37-4EF4-B33A-5858790C9CB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第十一篇 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6FFB8B-594A-4C4A-98DE-CB5C528A2B06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52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9EDF10B-EE2D-46AC-8858-6F2A4F9867EA}"/>
              </a:ext>
            </a:extLst>
          </p:cNvPr>
          <p:cNvSpPr/>
          <p:nvPr/>
        </p:nvSpPr>
        <p:spPr>
          <a:xfrm>
            <a:off x="304800" y="838200"/>
            <a:ext cx="56388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AAB455A-4D6D-41E3-B383-FEF141A850F1}"/>
              </a:ext>
            </a:extLst>
          </p:cNvPr>
          <p:cNvSpPr txBox="1"/>
          <p:nvPr/>
        </p:nvSpPr>
        <p:spPr>
          <a:xfrm>
            <a:off x="457200" y="914400"/>
            <a:ext cx="53340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1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 建立研究领域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EAA69A7-09DE-4CA8-A3D4-B8E25AACC232}"/>
              </a:ext>
            </a:extLst>
          </p:cNvPr>
          <p:cNvSpPr txBox="1"/>
          <p:nvPr/>
        </p:nvSpPr>
        <p:spPr>
          <a:xfrm>
            <a:off x="457200" y="13144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要回答：这个领域为什么值得关注？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45F25FE-5D0C-4276-9EAA-499D2C7F7F24}"/>
              </a:ext>
            </a:extLst>
          </p:cNvPr>
          <p:cNvSpPr txBox="1"/>
          <p:nvPr/>
        </p:nvSpPr>
        <p:spPr>
          <a:xfrm>
            <a:off x="457200" y="161925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可以写：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02B7D0B-9D52-4357-9A46-48F83098A2A2}"/>
              </a:ext>
            </a:extLst>
          </p:cNvPr>
          <p:cNvSpPr txBox="1"/>
          <p:nvPr/>
        </p:nvSpPr>
        <p:spPr>
          <a:xfrm>
            <a:off x="457200" y="1866900"/>
            <a:ext cx="5334000" cy="1181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该问题在科学、工程、医学、社会或产业中的重要性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该方向近年来受到关注的原因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该任务的应用场景或理论意义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基本概念、对象或现象的简要定义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2576121-17CB-4A05-AB42-3D3326E2A088}"/>
              </a:ext>
            </a:extLst>
          </p:cNvPr>
          <p:cNvSpPr/>
          <p:nvPr/>
        </p:nvSpPr>
        <p:spPr>
          <a:xfrm>
            <a:off x="304800" y="3162300"/>
            <a:ext cx="5638800" cy="609600"/>
          </a:xfrm>
          <a:prstGeom prst="roundRect">
            <a:avLst>
              <a:gd name="adj" fmla="val 15625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8D995B7-C098-4821-B4D7-CF74FF74EB75}"/>
              </a:ext>
            </a:extLst>
          </p:cNvPr>
          <p:cNvSpPr txBox="1"/>
          <p:nvPr/>
        </p:nvSpPr>
        <p:spPr>
          <a:xfrm>
            <a:off x="457200" y="3248025"/>
            <a:ext cx="5334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注意：不要一上来就写自己的方法，先让读者理解这个问题为什么重要。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C0C65A5-40CA-486B-88B4-6BD95D35EBB6}"/>
              </a:ext>
            </a:extLst>
          </p:cNvPr>
          <p:cNvSpPr/>
          <p:nvPr/>
        </p:nvSpPr>
        <p:spPr>
          <a:xfrm>
            <a:off x="304800" y="3924300"/>
            <a:ext cx="5638800" cy="1685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7266B64-695C-418E-A2A4-97E99EA41F14}"/>
              </a:ext>
            </a:extLst>
          </p:cNvPr>
          <p:cNvSpPr txBox="1"/>
          <p:nvPr/>
        </p:nvSpPr>
        <p:spPr>
          <a:xfrm>
            <a:off x="457200" y="40767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常见句式功能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2A82CB4-D320-4E76-B8D9-9A613BFA1E3F}"/>
              </a:ext>
            </a:extLst>
          </p:cNvPr>
          <p:cNvSpPr txBox="1"/>
          <p:nvPr/>
        </p:nvSpPr>
        <p:spPr>
          <a:xfrm>
            <a:off x="457200" y="4343400"/>
            <a:ext cx="5334000" cy="1181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X is important because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X has received increasing attention due to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X plays a central role in ...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Recent advances in Y have made it possible to ...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2B257C9-731D-4FD0-A58B-42569B047A60}"/>
              </a:ext>
            </a:extLst>
          </p:cNvPr>
          <p:cNvSpPr/>
          <p:nvPr/>
        </p:nvSpPr>
        <p:spPr>
          <a:xfrm>
            <a:off x="6248400" y="838200"/>
            <a:ext cx="56388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31468E9-A519-4C9F-8089-8F7A7D573AB0}"/>
              </a:ext>
            </a:extLst>
          </p:cNvPr>
          <p:cNvSpPr txBox="1"/>
          <p:nvPr/>
        </p:nvSpPr>
        <p:spPr>
          <a:xfrm>
            <a:off x="6400800" y="914400"/>
            <a:ext cx="53340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2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 回顾已有研究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C82DEF5-2155-462D-8227-E3852ACA1E35}"/>
              </a:ext>
            </a:extLst>
          </p:cNvPr>
          <p:cNvSpPr txBox="1"/>
          <p:nvPr/>
        </p:nvSpPr>
        <p:spPr>
          <a:xfrm>
            <a:off x="6400800" y="13144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要回答：别人已经做了什么？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CB6F564-112C-4BE6-8F67-6AC2B8F64619}"/>
              </a:ext>
            </a:extLst>
          </p:cNvPr>
          <p:cNvSpPr txBox="1"/>
          <p:nvPr/>
        </p:nvSpPr>
        <p:spPr>
          <a:xfrm>
            <a:off x="6400800" y="161925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可以写：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126D5D4-0AF1-49CD-AF2E-E20EB051949B}"/>
              </a:ext>
            </a:extLst>
          </p:cNvPr>
          <p:cNvSpPr txBox="1"/>
          <p:nvPr/>
        </p:nvSpPr>
        <p:spPr>
          <a:xfrm>
            <a:off x="6400800" y="1866900"/>
            <a:ext cx="5334000" cy="1181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已有方法的主要类别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代表性工作解决了哪些问题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这些工作带来了什么进展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当前主流范式是什么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B20FE86C-2D03-4A6D-9A03-17C9D2C1FDD8}"/>
              </a:ext>
            </a:extLst>
          </p:cNvPr>
          <p:cNvSpPr/>
          <p:nvPr/>
        </p:nvSpPr>
        <p:spPr>
          <a:xfrm>
            <a:off x="6248400" y="3162300"/>
            <a:ext cx="5638800" cy="609600"/>
          </a:xfrm>
          <a:prstGeom prst="roundRect">
            <a:avLst>
              <a:gd name="adj" fmla="val 15625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4FD49BD-8E42-4267-AF2B-0FF6C0D70F0B}"/>
              </a:ext>
            </a:extLst>
          </p:cNvPr>
          <p:cNvSpPr txBox="1"/>
          <p:nvPr/>
        </p:nvSpPr>
        <p:spPr>
          <a:xfrm>
            <a:off x="6400800" y="3248025"/>
            <a:ext cx="54483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这里不是写完整文献综述，而是选择与本文最相关的工作，为后面的空缺做铺垫。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D4B3279-41FF-4A51-859C-4EB8FD1FDC20}"/>
              </a:ext>
            </a:extLst>
          </p:cNvPr>
          <p:cNvSpPr/>
          <p:nvPr/>
        </p:nvSpPr>
        <p:spPr>
          <a:xfrm>
            <a:off x="6248400" y="3924300"/>
            <a:ext cx="5638800" cy="1685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24A4D6D-F9A0-4253-B6F6-9295806BA9E2}"/>
              </a:ext>
            </a:extLst>
          </p:cNvPr>
          <p:cNvSpPr txBox="1"/>
          <p:nvPr/>
        </p:nvSpPr>
        <p:spPr>
          <a:xfrm>
            <a:off x="6400800" y="40767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常见句式功能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9FCA8E1-D77F-4B4B-9212-8B3A68BC949C}"/>
              </a:ext>
            </a:extLst>
          </p:cNvPr>
          <p:cNvSpPr txBox="1"/>
          <p:nvPr/>
        </p:nvSpPr>
        <p:spPr>
          <a:xfrm>
            <a:off x="6400800" y="4343400"/>
            <a:ext cx="5334000" cy="1181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Previous studies have investigated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Several methods have been proposed to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Existing approaches typically rely on ...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- Recent work has shown that ...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6EFFC991-8B39-4FE9-A154-A195D7C418E8}"/>
              </a:ext>
            </a:extLst>
          </p:cNvPr>
          <p:cNvSpPr/>
          <p:nvPr/>
        </p:nvSpPr>
        <p:spPr>
          <a:xfrm>
            <a:off x="304800" y="5848350"/>
            <a:ext cx="11582400" cy="476250"/>
          </a:xfrm>
          <a:prstGeom prst="roundRect">
            <a:avLst>
              <a:gd name="adj" fmla="val 1724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304F268-73E4-4C09-9A70-73B0B479B69F}"/>
              </a:ext>
            </a:extLst>
          </p:cNvPr>
          <p:cNvSpPr txBox="1"/>
          <p:nvPr/>
        </p:nvSpPr>
        <p:spPr>
          <a:xfrm>
            <a:off x="457200" y="5972175"/>
            <a:ext cx="11277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前两段的任务：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把读者带到问题上，再收窄到本文关注的场景，为第三段的“问题 / 空缺”做铺垫。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B0C1FA6-5F5F-4E85-9B8B-3CC87AE58A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6E9D3B5F-7B0A-4F5C-B66B-7308C1CA817E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8DD68C8-62B6-4AEB-B5C9-8E71EEF11566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4429D3-4345-4E8F-9472-CAB8E29FC5B3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7B2484"/>
                </a:solidFill>
                <a:latin typeface="Times New Roman"/>
                <a:ea typeface="华文中宋"/>
              </a:rPr>
              <a:t>指出问题与研究空缺：这一段的成败在于“具体”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563C943-7105-4B98-B779-517E57510EC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第十一篇 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A56CA5B-1E5B-4FDA-A8B4-5DDFFF08B76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53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1980AD2-C109-49EF-956D-6EB8BA7C4AD6}"/>
              </a:ext>
            </a:extLst>
          </p:cNvPr>
          <p:cNvSpPr/>
          <p:nvPr/>
        </p:nvSpPr>
        <p:spPr>
          <a:xfrm>
            <a:off x="304800" y="838200"/>
            <a:ext cx="115824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001208B-F08D-495C-BD89-C32724DA3742}"/>
              </a:ext>
            </a:extLst>
          </p:cNvPr>
          <p:cNvSpPr txBox="1"/>
          <p:nvPr/>
        </p:nvSpPr>
        <p:spPr>
          <a:xfrm>
            <a:off x="457200" y="933450"/>
            <a:ext cx="11277600" cy="25908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FC845"/>
                </a:solidFill>
                <a:latin typeface="Times New Roman"/>
                <a:ea typeface="Times New Roman"/>
              </a:rPr>
              <a:t>3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 指出问题或研究空缺 · </a:t>
            </a:r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Introduction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的关键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EA4198-D0E9-47E8-8AB2-68F9175D6182}"/>
              </a:ext>
            </a:extLst>
          </p:cNvPr>
          <p:cNvSpPr txBox="1"/>
          <p:nvPr/>
        </p:nvSpPr>
        <p:spPr>
          <a:xfrm>
            <a:off x="304800" y="1352550"/>
            <a:ext cx="115824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要回答：既然已有研究这么多，为什么还需要这篇论文？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443B9D8-AFBD-41CF-A19D-294E1F75C4DC}"/>
              </a:ext>
            </a:extLst>
          </p:cNvPr>
          <p:cNvSpPr/>
          <p:nvPr/>
        </p:nvSpPr>
        <p:spPr>
          <a:xfrm>
            <a:off x="304800" y="1676400"/>
            <a:ext cx="56388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8E8812E-B0AE-4E8D-89EF-6D91091AE9AA}"/>
              </a:ext>
            </a:extLst>
          </p:cNvPr>
          <p:cNvSpPr txBox="1"/>
          <p:nvPr/>
        </p:nvSpPr>
        <p:spPr>
          <a:xfrm>
            <a:off x="457200" y="18288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可以指出：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BA2E1FC-F870-44AD-BD95-8F7F64CA0862}"/>
              </a:ext>
            </a:extLst>
          </p:cNvPr>
          <p:cNvSpPr txBox="1"/>
          <p:nvPr/>
        </p:nvSpPr>
        <p:spPr>
          <a:xfrm>
            <a:off x="457200" y="2095500"/>
            <a:ext cx="5334000" cy="1447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现有方法仍然不能解决某类场景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已有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无法准确评估某种能力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现有数据、模型或理论存在限制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过去工作忽略了某个重要变量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现有结论尚不一致；某个问题仍缺乏系统研究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2006B55-B651-43D0-8681-215AAA9A8265}"/>
              </a:ext>
            </a:extLst>
          </p:cNvPr>
          <p:cNvSpPr/>
          <p:nvPr/>
        </p:nvSpPr>
        <p:spPr>
          <a:xfrm>
            <a:off x="6248400" y="1676400"/>
            <a:ext cx="56388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F4C51C4-FD83-4A95-900C-7FDF3D2A7A29}"/>
              </a:ext>
            </a:extLst>
          </p:cNvPr>
          <p:cNvSpPr txBox="1"/>
          <p:nvPr/>
        </p:nvSpPr>
        <p:spPr>
          <a:xfrm>
            <a:off x="6400800" y="18288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E86D35"/>
                </a:solidFill>
                <a:latin typeface="Times New Roman"/>
                <a:ea typeface="华文中宋"/>
              </a:rPr>
              <a:t>更好的写法是：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77B95A2-EC22-4F1E-A603-970DDA72AA2A}"/>
              </a:ext>
            </a:extLst>
          </p:cNvPr>
          <p:cNvSpPr txBox="1"/>
          <p:nvPr/>
        </p:nvSpPr>
        <p:spPr>
          <a:xfrm>
            <a:off x="6400800" y="2095500"/>
            <a:ext cx="5334000" cy="1447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哪类场景下失败？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哪个假设不成立？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哪个能力没有被测到？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哪种成本过高？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哪类数据缺失？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哪个机制尚不清楚？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6BE268A-C646-4EDD-BA30-6D9D40CC3A79}"/>
              </a:ext>
            </a:extLst>
          </p:cNvPr>
          <p:cNvSpPr/>
          <p:nvPr/>
        </p:nvSpPr>
        <p:spPr>
          <a:xfrm>
            <a:off x="304800" y="3733800"/>
            <a:ext cx="5638800" cy="1905000"/>
          </a:xfrm>
          <a:prstGeom prst="roundRect">
            <a:avLst>
              <a:gd name="adj" fmla="val 500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43FF1A-4185-40BC-9C21-8B356BE8E245}"/>
              </a:ext>
            </a:extLst>
          </p:cNvPr>
          <p:cNvSpPr txBox="1"/>
          <p:nvPr/>
        </p:nvSpPr>
        <p:spPr>
          <a:xfrm>
            <a:off x="457200" y="4038600"/>
            <a:ext cx="5334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这一段要写得具体，不能只写：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“However, this problem remains challenging.”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要说明到底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challenging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 在哪里。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94722D6-A569-4424-8FB7-3833F37A7C66}"/>
              </a:ext>
            </a:extLst>
          </p:cNvPr>
          <p:cNvSpPr/>
          <p:nvPr/>
        </p:nvSpPr>
        <p:spPr>
          <a:xfrm>
            <a:off x="6248400" y="3733800"/>
            <a:ext cx="56388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C38E6B3-8198-40C6-BEE8-69164DA0B1AC}"/>
              </a:ext>
            </a:extLst>
          </p:cNvPr>
          <p:cNvSpPr txBox="1"/>
          <p:nvPr/>
        </p:nvSpPr>
        <p:spPr>
          <a:xfrm>
            <a:off x="6400800" y="38862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常见句式功能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68E0112-797D-439A-B2B3-DC18BF3B22B5}"/>
              </a:ext>
            </a:extLst>
          </p:cNvPr>
          <p:cNvSpPr txBox="1"/>
          <p:nvPr/>
        </p:nvSpPr>
        <p:spPr>
          <a:xfrm>
            <a:off x="6400800" y="4152900"/>
            <a:ext cx="5334000" cy="1390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However, little is known about ...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Nevertheless, existing methods still suffer from ...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Despite these advances, ... remains unclear.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A key limitation of current approaches is ...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To date, few studies have systematically examined ...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0D88606-F33B-4BBD-84B1-4DD51809A922}"/>
              </a:ext>
            </a:extLst>
          </p:cNvPr>
          <p:cNvSpPr/>
          <p:nvPr/>
        </p:nvSpPr>
        <p:spPr>
          <a:xfrm>
            <a:off x="304800" y="5848350"/>
            <a:ext cx="11582400" cy="476250"/>
          </a:xfrm>
          <a:prstGeom prst="roundRect">
            <a:avLst>
              <a:gd name="adj" fmla="val 1724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0210AC1-E871-4188-A758-8E3D2E7BA9E3}"/>
              </a:ext>
            </a:extLst>
          </p:cNvPr>
          <p:cNvSpPr txBox="1"/>
          <p:nvPr/>
        </p:nvSpPr>
        <p:spPr>
          <a:xfrm>
            <a:off x="457200" y="5972175"/>
            <a:ext cx="112776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只说“困难仍待解决”不足以支撑论文：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要说清是哪类场景失败、哪个假设不成立、哪项成本过高。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099A74C-AB16-40AA-B5FE-D4FDC9D805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59F981F3-4C9D-4F38-863B-BD066D11FE8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CBFE0DF-ABB8-44AD-A84E-C055DDEDF3B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71224B-979D-4DDC-878A-7DE60EA44957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引出本文工作，并按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4-6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段组织全篇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5CC151F-A0B6-49F3-9A65-E576CFA7A87F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第十一篇 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6ACFFE1-9D7D-4BEF-BE0C-EE5F7B9DFD9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54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A2F3B6D-7279-43E4-B3CC-517D48D936A3}"/>
              </a:ext>
            </a:extLst>
          </p:cNvPr>
          <p:cNvSpPr/>
          <p:nvPr/>
        </p:nvSpPr>
        <p:spPr>
          <a:xfrm>
            <a:off x="304800" y="838200"/>
            <a:ext cx="11582400" cy="4953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EA604E3-AE55-4F0F-A854-C8C19796B84B}"/>
              </a:ext>
            </a:extLst>
          </p:cNvPr>
          <p:cNvSpPr txBox="1"/>
          <p:nvPr/>
        </p:nvSpPr>
        <p:spPr>
          <a:xfrm>
            <a:off x="457200" y="952500"/>
            <a:ext cx="112776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4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 引出本文工作 · </a:t>
            </a:r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Introduction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最后一部分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583FE1-A21F-4B87-9815-5E7D9B729992}"/>
              </a:ext>
            </a:extLst>
          </p:cNvPr>
          <p:cNvSpPr txBox="1"/>
          <p:nvPr/>
        </p:nvSpPr>
        <p:spPr>
          <a:xfrm>
            <a:off x="304800" y="1543050"/>
            <a:ext cx="115824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要回答：本文具体做了什么？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D547513-5131-4F93-B269-D9692F154F9A}"/>
              </a:ext>
            </a:extLst>
          </p:cNvPr>
          <p:cNvSpPr txBox="1"/>
          <p:nvPr/>
        </p:nvSpPr>
        <p:spPr>
          <a:xfrm>
            <a:off x="457200" y="18669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通常包括：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5067B8F-A309-4CF3-9F29-07326F37047B}"/>
              </a:ext>
            </a:extLst>
          </p:cNvPr>
          <p:cNvSpPr txBox="1"/>
          <p:nvPr/>
        </p:nvSpPr>
        <p:spPr>
          <a:xfrm>
            <a:off x="457200" y="2114550"/>
            <a:ext cx="5334000" cy="1219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本文目标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本文方法或研究对象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本文主要贡献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本文与已有工作的区别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如有必要，简要说明论文结构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DE729C2-B712-4967-A6D2-94125DE890E2}"/>
              </a:ext>
            </a:extLst>
          </p:cNvPr>
          <p:cNvSpPr/>
          <p:nvPr/>
        </p:nvSpPr>
        <p:spPr>
          <a:xfrm>
            <a:off x="6248400" y="1809750"/>
            <a:ext cx="5638800" cy="17621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D5AED5F-7630-435D-8446-F24D33169117}"/>
              </a:ext>
            </a:extLst>
          </p:cNvPr>
          <p:cNvSpPr txBox="1"/>
          <p:nvPr/>
        </p:nvSpPr>
        <p:spPr>
          <a:xfrm>
            <a:off x="6400800" y="19431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E86D35"/>
                </a:solidFill>
                <a:latin typeface="Times New Roman"/>
                <a:ea typeface="华文中宋"/>
              </a:rPr>
              <a:t>可以写：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9B6F9A7-E56B-4019-8495-63A82C5A99EA}"/>
              </a:ext>
            </a:extLst>
          </p:cNvPr>
          <p:cNvSpPr txBox="1"/>
          <p:nvPr/>
        </p:nvSpPr>
        <p:spPr>
          <a:xfrm>
            <a:off x="6400800" y="2190750"/>
            <a:ext cx="5334000" cy="1409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In this paper, we propose ...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Here, we investigate ...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We introduce a new benchmark for ...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Our approach differs from previous work in ...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The main contributions of this work are ...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76AD181-46DF-4EE8-A47A-BB2DBA7C6B16}"/>
              </a:ext>
            </a:extLst>
          </p:cNvPr>
          <p:cNvSpPr/>
          <p:nvPr/>
        </p:nvSpPr>
        <p:spPr>
          <a:xfrm>
            <a:off x="304800" y="3810000"/>
            <a:ext cx="11582400" cy="419100"/>
          </a:xfrm>
          <a:prstGeom prst="roundRect">
            <a:avLst>
              <a:gd name="adj" fmla="val 22727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E900C12-418D-4F9D-8912-DF02C7CA67C5}"/>
              </a:ext>
            </a:extLst>
          </p:cNvPr>
          <p:cNvSpPr txBox="1"/>
          <p:nvPr/>
        </p:nvSpPr>
        <p:spPr>
          <a:xfrm>
            <a:off x="457200" y="3905250"/>
            <a:ext cx="1127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注意：这一部分要清楚、直接，不要再继续铺垫；一段只讲一个核心观点，每段第一句是主题句（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Topic Sentence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），后面围绕它展开。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9430D63-3EA0-4982-8E36-0D7821DCB18A}"/>
              </a:ext>
            </a:extLst>
          </p:cNvPr>
          <p:cNvSpPr txBox="1"/>
          <p:nvPr/>
        </p:nvSpPr>
        <p:spPr>
          <a:xfrm>
            <a:off x="304800" y="4362450"/>
            <a:ext cx="11582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段落组织建议：一篇常规 </a:t>
            </a:r>
            <a:r>
              <a:rPr sz="1600" b="1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 可以按 </a:t>
            </a:r>
            <a:r>
              <a:rPr sz="1600" b="1">
                <a:solidFill>
                  <a:srgbClr val="7B2484"/>
                </a:solidFill>
                <a:latin typeface="Times New Roman"/>
                <a:ea typeface="Times New Roman"/>
              </a:rPr>
              <a:t>4-6</a:t>
            </a: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 段组织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7C707C2-7A7C-4794-8BCA-607E2A11D7C9}"/>
              </a:ext>
            </a:extLst>
          </p:cNvPr>
          <p:cNvSpPr/>
          <p:nvPr/>
        </p:nvSpPr>
        <p:spPr>
          <a:xfrm>
            <a:off x="304800" y="4705350"/>
            <a:ext cx="1800225" cy="10191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E4E6E53-9B3A-44F3-80F4-9F96F23784DE}"/>
              </a:ext>
            </a:extLst>
          </p:cNvPr>
          <p:cNvSpPr/>
          <p:nvPr/>
        </p:nvSpPr>
        <p:spPr>
          <a:xfrm>
            <a:off x="2247900" y="4705350"/>
            <a:ext cx="1800225" cy="10191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C4A525C-77AF-4931-8159-0DD9A127299B}"/>
              </a:ext>
            </a:extLst>
          </p:cNvPr>
          <p:cNvSpPr/>
          <p:nvPr/>
        </p:nvSpPr>
        <p:spPr>
          <a:xfrm>
            <a:off x="4191000" y="4705350"/>
            <a:ext cx="1800225" cy="10191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3638169-3D5D-4D16-9437-6E8D346FD5BB}"/>
              </a:ext>
            </a:extLst>
          </p:cNvPr>
          <p:cNvSpPr/>
          <p:nvPr/>
        </p:nvSpPr>
        <p:spPr>
          <a:xfrm>
            <a:off x="6134100" y="4705350"/>
            <a:ext cx="1800225" cy="10191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DC6B353-662D-449A-9D55-F8304389EE67}"/>
              </a:ext>
            </a:extLst>
          </p:cNvPr>
          <p:cNvSpPr/>
          <p:nvPr/>
        </p:nvSpPr>
        <p:spPr>
          <a:xfrm>
            <a:off x="8077200" y="4705350"/>
            <a:ext cx="1800225" cy="10191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B269536-5191-466F-9F65-7893C3708112}"/>
              </a:ext>
            </a:extLst>
          </p:cNvPr>
          <p:cNvSpPr/>
          <p:nvPr/>
        </p:nvSpPr>
        <p:spPr>
          <a:xfrm>
            <a:off x="10020300" y="4705350"/>
            <a:ext cx="1800225" cy="101917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57FDE79-68E2-4DAE-AD12-66C396B7819B}"/>
              </a:ext>
            </a:extLst>
          </p:cNvPr>
          <p:cNvSpPr txBox="1"/>
          <p:nvPr/>
        </p:nvSpPr>
        <p:spPr>
          <a:xfrm>
            <a:off x="419100" y="4857750"/>
            <a:ext cx="15716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第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1</a:t>
            </a: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 段 · 大背景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9CE2389-5009-45CF-ADA0-DD1DF76B1978}"/>
              </a:ext>
            </a:extLst>
          </p:cNvPr>
          <p:cNvSpPr txBox="1"/>
          <p:nvPr/>
        </p:nvSpPr>
        <p:spPr>
          <a:xfrm>
            <a:off x="2362200" y="4857750"/>
            <a:ext cx="15716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第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2</a:t>
            </a: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 段 · 工作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149699A-64AB-49DC-A54D-1966ED3BAAF6}"/>
              </a:ext>
            </a:extLst>
          </p:cNvPr>
          <p:cNvSpPr txBox="1"/>
          <p:nvPr/>
        </p:nvSpPr>
        <p:spPr>
          <a:xfrm>
            <a:off x="4305300" y="4857750"/>
            <a:ext cx="15716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第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3</a:t>
            </a: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 段 · 不足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ABCBC22-9315-4D60-AFFE-E41788E2BF0C}"/>
              </a:ext>
            </a:extLst>
          </p:cNvPr>
          <p:cNvSpPr txBox="1"/>
          <p:nvPr/>
        </p:nvSpPr>
        <p:spPr>
          <a:xfrm>
            <a:off x="6248400" y="4857750"/>
            <a:ext cx="15716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第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4</a:t>
            </a: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 段 · 方法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CF432CB-E8D2-478D-ACBC-31E642417F6A}"/>
              </a:ext>
            </a:extLst>
          </p:cNvPr>
          <p:cNvSpPr txBox="1"/>
          <p:nvPr/>
        </p:nvSpPr>
        <p:spPr>
          <a:xfrm>
            <a:off x="8191500" y="4857750"/>
            <a:ext cx="15716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第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5</a:t>
            </a: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 段 · 贡献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40DBF3C-42EE-461A-B4CA-C7A5A08CB4A6}"/>
              </a:ext>
            </a:extLst>
          </p:cNvPr>
          <p:cNvSpPr txBox="1"/>
          <p:nvPr/>
        </p:nvSpPr>
        <p:spPr>
          <a:xfrm>
            <a:off x="10134600" y="4857750"/>
            <a:ext cx="1571625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第 </a:t>
            </a:r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6</a:t>
            </a: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 段 · 结构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CC3E73A-D1DB-4DF3-A40F-8D2F0B7D7858}"/>
              </a:ext>
            </a:extLst>
          </p:cNvPr>
          <p:cNvSpPr txBox="1"/>
          <p:nvPr/>
        </p:nvSpPr>
        <p:spPr>
          <a:xfrm>
            <a:off x="419100" y="5124450"/>
            <a:ext cx="157162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说明研究领域的重要性和基本问题。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A9EC139-D56A-4A07-8029-7351BC95D33D}"/>
              </a:ext>
            </a:extLst>
          </p:cNvPr>
          <p:cNvSpPr txBox="1"/>
          <p:nvPr/>
        </p:nvSpPr>
        <p:spPr>
          <a:xfrm>
            <a:off x="2362200" y="5124450"/>
            <a:ext cx="157162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总结已有方法、数据、理论或系统。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36993BC-B051-41CD-BADC-762C600822A0}"/>
              </a:ext>
            </a:extLst>
          </p:cNvPr>
          <p:cNvSpPr txBox="1"/>
          <p:nvPr/>
        </p:nvSpPr>
        <p:spPr>
          <a:xfrm>
            <a:off x="4305300" y="5124450"/>
            <a:ext cx="157162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指出已有工作的限制，把问题收窄到本文。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D782196-427D-491B-90E2-0C135D14CEE4}"/>
              </a:ext>
            </a:extLst>
          </p:cNvPr>
          <p:cNvSpPr txBox="1"/>
          <p:nvPr/>
        </p:nvSpPr>
        <p:spPr>
          <a:xfrm>
            <a:off x="6248400" y="5124450"/>
            <a:ext cx="157162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说明本文提出的方法、数据集或理论分析。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423AEA98-790D-45E9-82C4-B8CD7AD251DB}"/>
              </a:ext>
            </a:extLst>
          </p:cNvPr>
          <p:cNvSpPr txBox="1"/>
          <p:nvPr/>
        </p:nvSpPr>
        <p:spPr>
          <a:xfrm>
            <a:off x="8191500" y="5124450"/>
            <a:ext cx="157162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列出 </a:t>
            </a: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2-4</a:t>
            </a: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 条具体、可验证的贡献。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54E9546-8482-4B38-9497-F1A1D59662F9}"/>
              </a:ext>
            </a:extLst>
          </p:cNvPr>
          <p:cNvSpPr txBox="1"/>
          <p:nvPr/>
        </p:nvSpPr>
        <p:spPr>
          <a:xfrm>
            <a:off x="10134600" y="5124450"/>
            <a:ext cx="157162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可选。长论文说明后文安排；会议论文可省。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B4C7E91D-1F15-4C7E-8B84-51C285CCE0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367454C1-C09C-4E94-BDC2-BD4644CE48E7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68C866C-AF03-40B3-85DB-0FAFC4996D5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53C3E45-6D28-4083-B87A-E4828D6F939B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一个可复用的写作框架：五段填空式模板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A544167-0E09-4015-85EF-A5D1DA979560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第十一篇 Introduction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79122EF-0D07-4BFB-A789-43F59F23E79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55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E44D603-A98C-48EE-A4DC-6673683879A1}"/>
              </a:ext>
            </a:extLst>
          </p:cNvPr>
          <p:cNvSpPr/>
          <p:nvPr/>
        </p:nvSpPr>
        <p:spPr>
          <a:xfrm>
            <a:off x="304800" y="876300"/>
            <a:ext cx="11582400" cy="89535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85F9399-1BC5-4CEF-BBC8-7174006810C0}"/>
              </a:ext>
            </a:extLst>
          </p:cNvPr>
          <p:cNvSpPr/>
          <p:nvPr/>
        </p:nvSpPr>
        <p:spPr>
          <a:xfrm>
            <a:off x="495300" y="1162050"/>
            <a:ext cx="4191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0BC018C-0C33-4B29-A574-C68BDEE4E998}"/>
              </a:ext>
            </a:extLst>
          </p:cNvPr>
          <p:cNvSpPr txBox="1"/>
          <p:nvPr/>
        </p:nvSpPr>
        <p:spPr>
          <a:xfrm>
            <a:off x="495300" y="1247775"/>
            <a:ext cx="41910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FC52EF7-1B3C-4AEF-A939-48B5CDE05982}"/>
              </a:ext>
            </a:extLst>
          </p:cNvPr>
          <p:cNvSpPr txBox="1"/>
          <p:nvPr/>
        </p:nvSpPr>
        <p:spPr>
          <a:xfrm>
            <a:off x="1066800" y="102870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大背景 · 说明领域为什么重要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25A7D54-60F4-4EFF-A063-A99719A94B38}"/>
              </a:ext>
            </a:extLst>
          </p:cNvPr>
          <p:cNvSpPr txBox="1"/>
          <p:nvPr/>
        </p:nvSpPr>
        <p:spPr>
          <a:xfrm>
            <a:off x="1066800" y="137160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近年来，……问题在……领域中变得越来越重要。该问题的核心在于……，它对于……具有重要意义。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C47310F-BA82-4A34-A531-2E676CBCFF07}"/>
              </a:ext>
            </a:extLst>
          </p:cNvPr>
          <p:cNvSpPr/>
          <p:nvPr/>
        </p:nvSpPr>
        <p:spPr>
          <a:xfrm>
            <a:off x="304800" y="1981200"/>
            <a:ext cx="115824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452DF0B-1E77-408B-AFAD-7CBE5DCF0FE3}"/>
              </a:ext>
            </a:extLst>
          </p:cNvPr>
          <p:cNvSpPr/>
          <p:nvPr/>
        </p:nvSpPr>
        <p:spPr>
          <a:xfrm>
            <a:off x="495300" y="2266950"/>
            <a:ext cx="4191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C49AED0-9F76-4C1D-A396-6DCFB477C13E}"/>
              </a:ext>
            </a:extLst>
          </p:cNvPr>
          <p:cNvSpPr txBox="1"/>
          <p:nvPr/>
        </p:nvSpPr>
        <p:spPr>
          <a:xfrm>
            <a:off x="495300" y="2352675"/>
            <a:ext cx="41910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26D1B35-EC46-49C1-B983-BA0CD5B14D39}"/>
              </a:ext>
            </a:extLst>
          </p:cNvPr>
          <p:cNvSpPr txBox="1"/>
          <p:nvPr/>
        </p:nvSpPr>
        <p:spPr>
          <a:xfrm>
            <a:off x="1066800" y="211455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已有工作 · 总结前人进展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46A89FE-F329-4A84-8027-8D9525D628B0}"/>
              </a:ext>
            </a:extLst>
          </p:cNvPr>
          <p:cNvSpPr txBox="1"/>
          <p:nvPr/>
        </p:nvSpPr>
        <p:spPr>
          <a:xfrm>
            <a:off x="1066800" y="2400300"/>
            <a:ext cx="106680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已有研究主要从……角度解决该问题。例如，……方法关注……，……方法进一步……。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这些工作推动了……的发展。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F2AB6F8-FDC6-44A3-BE5B-B95A953699B6}"/>
              </a:ext>
            </a:extLst>
          </p:cNvPr>
          <p:cNvSpPr/>
          <p:nvPr/>
        </p:nvSpPr>
        <p:spPr>
          <a:xfrm>
            <a:off x="304800" y="3086100"/>
            <a:ext cx="11582400" cy="990600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EE0ECBE8-8CEA-4369-AD6F-A06FE12CFEF0}"/>
              </a:ext>
            </a:extLst>
          </p:cNvPr>
          <p:cNvSpPr/>
          <p:nvPr/>
        </p:nvSpPr>
        <p:spPr>
          <a:xfrm>
            <a:off x="495300" y="3371850"/>
            <a:ext cx="4191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34E001A-7D19-4CAB-9593-7496E35FD6D5}"/>
              </a:ext>
            </a:extLst>
          </p:cNvPr>
          <p:cNvSpPr txBox="1"/>
          <p:nvPr/>
        </p:nvSpPr>
        <p:spPr>
          <a:xfrm>
            <a:off x="495300" y="3457575"/>
            <a:ext cx="41910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1F76AA2-CC11-466F-B902-84DB7BBE3745}"/>
              </a:ext>
            </a:extLst>
          </p:cNvPr>
          <p:cNvSpPr txBox="1"/>
          <p:nvPr/>
        </p:nvSpPr>
        <p:spPr>
          <a:xfrm>
            <a:off x="1066800" y="321945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限制与空缺 · 把问题收窄到本文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EA63F3A-4549-4546-A09B-7664A3E417E5}"/>
              </a:ext>
            </a:extLst>
          </p:cNvPr>
          <p:cNvSpPr txBox="1"/>
          <p:nvPr/>
        </p:nvSpPr>
        <p:spPr>
          <a:xfrm>
            <a:off x="1066800" y="3505200"/>
            <a:ext cx="106680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然而，现有研究仍存在一个关键限制：……。具体而言，……。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因此，在……场景下，已有方法难以……。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DA4E1102-487D-4185-B664-97BFB6C12EE8}"/>
              </a:ext>
            </a:extLst>
          </p:cNvPr>
          <p:cNvSpPr/>
          <p:nvPr/>
        </p:nvSpPr>
        <p:spPr>
          <a:xfrm>
            <a:off x="304800" y="4191000"/>
            <a:ext cx="115824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DE1C1B8-641F-4480-A048-83C70D32C50C}"/>
              </a:ext>
            </a:extLst>
          </p:cNvPr>
          <p:cNvSpPr/>
          <p:nvPr/>
        </p:nvSpPr>
        <p:spPr>
          <a:xfrm>
            <a:off x="495300" y="4476750"/>
            <a:ext cx="4191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6A2573D-9BAB-4B3A-A12D-1392942FEE71}"/>
              </a:ext>
            </a:extLst>
          </p:cNvPr>
          <p:cNvSpPr txBox="1"/>
          <p:nvPr/>
        </p:nvSpPr>
        <p:spPr>
          <a:xfrm>
            <a:off x="495300" y="4562475"/>
            <a:ext cx="41910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D0AE164-3C29-48CD-92D9-887E2FE05751}"/>
              </a:ext>
            </a:extLst>
          </p:cNvPr>
          <p:cNvSpPr txBox="1"/>
          <p:nvPr/>
        </p:nvSpPr>
        <p:spPr>
          <a:xfrm>
            <a:off x="1066800" y="432435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本文做法 · 说清楚怎么解决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E0CFEDA-F17F-4AD4-8412-E1CD1A74A397}"/>
              </a:ext>
            </a:extLst>
          </p:cNvPr>
          <p:cNvSpPr txBox="1"/>
          <p:nvPr/>
        </p:nvSpPr>
        <p:spPr>
          <a:xfrm>
            <a:off x="1066800" y="4610100"/>
            <a:ext cx="106680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为了解决这一问题，本文提出……。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我们设计 / 构建 / 分析……，并通过……验证其有效性。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D67CA49F-3251-4E5D-8FD5-BB326963E129}"/>
              </a:ext>
            </a:extLst>
          </p:cNvPr>
          <p:cNvSpPr/>
          <p:nvPr/>
        </p:nvSpPr>
        <p:spPr>
          <a:xfrm>
            <a:off x="304800" y="5295900"/>
            <a:ext cx="11582400" cy="89535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3D25CA9C-34AA-460A-8C99-F7E4A3F48353}"/>
              </a:ext>
            </a:extLst>
          </p:cNvPr>
          <p:cNvSpPr/>
          <p:nvPr/>
        </p:nvSpPr>
        <p:spPr>
          <a:xfrm>
            <a:off x="495300" y="5581650"/>
            <a:ext cx="419100" cy="4191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D075C5A-9CD3-4764-A650-CE6404EBB52B}"/>
              </a:ext>
            </a:extLst>
          </p:cNvPr>
          <p:cNvSpPr txBox="1"/>
          <p:nvPr/>
        </p:nvSpPr>
        <p:spPr>
          <a:xfrm>
            <a:off x="495300" y="5667375"/>
            <a:ext cx="41910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2621E82-8DE0-40D9-ACE6-D95FBCC5904B}"/>
              </a:ext>
            </a:extLst>
          </p:cNvPr>
          <p:cNvSpPr txBox="1"/>
          <p:nvPr/>
        </p:nvSpPr>
        <p:spPr>
          <a:xfrm>
            <a:off x="1066800" y="542925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贡献总结 · 列出 </a:t>
            </a:r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2-4</a:t>
            </a:r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 条具体、可验证的贡献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BED813B-09DA-49EF-9CAB-4859F4587C6E}"/>
              </a:ext>
            </a:extLst>
          </p:cNvPr>
          <p:cNvSpPr txBox="1"/>
          <p:nvPr/>
        </p:nvSpPr>
        <p:spPr>
          <a:xfrm>
            <a:off x="1066800" y="57340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本文的主要贡献包括：第一，……；第二，……；第三，……。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E0DC3029-94B3-4ADF-A773-EE8D1E87D4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7A23622F-E7B2-43CF-986F-1AFA285B25DD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764D133-862A-4A33-8723-0D21B549AE6F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60ABC2-3239-4DD4-8DCC-59979DBB0F75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Related Work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不是文献罗列，而是替读者画地图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586B4BB-131A-4C76-B6C2-DE894D428453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第十二篇 Related Works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3F1556-7794-4AE0-98BF-AADED4AF359D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56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93D9923-E44E-414E-BF67-2ED97A94CDBD}"/>
              </a:ext>
            </a:extLst>
          </p:cNvPr>
          <p:cNvSpPr/>
          <p:nvPr/>
        </p:nvSpPr>
        <p:spPr>
          <a:xfrm>
            <a:off x="304800" y="838200"/>
            <a:ext cx="11582400" cy="838200"/>
          </a:xfrm>
          <a:prstGeom prst="roundRect">
            <a:avLst>
              <a:gd name="adj" fmla="val 1136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EE45624-8762-4C65-9653-5AD278D5DD08}"/>
              </a:ext>
            </a:extLst>
          </p:cNvPr>
          <p:cNvSpPr txBox="1"/>
          <p:nvPr/>
        </p:nvSpPr>
        <p:spPr>
          <a:xfrm>
            <a:off x="457200" y="971550"/>
            <a:ext cx="112776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一句话说，</a:t>
            </a: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Related Work</a:t>
            </a: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 要回答：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“别人已经做了什么？我们的工作和他们有什么关系？为什么还需要我们的工作？”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2EFAF49-FC2F-4183-A4DD-386F3E2C4DD0}"/>
              </a:ext>
            </a:extLst>
          </p:cNvPr>
          <p:cNvSpPr/>
          <p:nvPr/>
        </p:nvSpPr>
        <p:spPr>
          <a:xfrm>
            <a:off x="304800" y="1866900"/>
            <a:ext cx="5638800" cy="13239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3F74042-A727-4C89-9858-D4E4181EF848}"/>
              </a:ext>
            </a:extLst>
          </p:cNvPr>
          <p:cNvSpPr txBox="1"/>
          <p:nvPr/>
        </p:nvSpPr>
        <p:spPr>
          <a:xfrm>
            <a:off x="457200" y="2038350"/>
            <a:ext cx="5334000" cy="1466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1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本文处在什么研究脉络中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Related Work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的核心任务是帮助读者理解位置，而不是把读过的论文逐篇摘要，也不是文献罗列。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69471D6-4D3D-4F8B-AD17-22AC501BAF45}"/>
              </a:ext>
            </a:extLst>
          </p:cNvPr>
          <p:cNvSpPr/>
          <p:nvPr/>
        </p:nvSpPr>
        <p:spPr>
          <a:xfrm>
            <a:off x="6248400" y="1866900"/>
            <a:ext cx="5638800" cy="13239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048E44A-2611-4F7A-B536-F112F9BD70D0}"/>
              </a:ext>
            </a:extLst>
          </p:cNvPr>
          <p:cNvSpPr txBox="1"/>
          <p:nvPr/>
        </p:nvSpPr>
        <p:spPr>
          <a:xfrm>
            <a:off x="6400800" y="2038350"/>
            <a:ext cx="5334000" cy="1466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2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已有方法可以分成哪些主要路线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每一条路线要写清它建立在什么假设上，优势与限制分别是什么；分类清楚比引用数量更重要。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8252F92-4903-4C19-9EB0-1802707BCB74}"/>
              </a:ext>
            </a:extLst>
          </p:cNvPr>
          <p:cNvSpPr/>
          <p:nvPr/>
        </p:nvSpPr>
        <p:spPr>
          <a:xfrm>
            <a:off x="304800" y="3810000"/>
            <a:ext cx="5638800" cy="13144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46643ED-C35C-4DF9-AFDB-7166267E51C2}"/>
              </a:ext>
            </a:extLst>
          </p:cNvPr>
          <p:cNvSpPr txBox="1"/>
          <p:nvPr/>
        </p:nvSpPr>
        <p:spPr>
          <a:xfrm>
            <a:off x="457200" y="3981450"/>
            <a:ext cx="5334000" cy="1466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3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每条路线解决了什么，又留下什么不足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语气应当客观：重点是定位本文，而不是证明别人都不行。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67F7058-D9DA-4C12-A0BB-B2C55C6D01E7}"/>
              </a:ext>
            </a:extLst>
          </p:cNvPr>
          <p:cNvSpPr/>
          <p:nvPr/>
        </p:nvSpPr>
        <p:spPr>
          <a:xfrm>
            <a:off x="6248400" y="3810000"/>
            <a:ext cx="5638800" cy="13144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99FEDFE-74CB-4D2D-B6ED-2507088A853A}"/>
              </a:ext>
            </a:extLst>
          </p:cNvPr>
          <p:cNvSpPr txBox="1"/>
          <p:nvPr/>
        </p:nvSpPr>
        <p:spPr>
          <a:xfrm>
            <a:off x="6400800" y="3981450"/>
            <a:ext cx="5334000" cy="1466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4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本文与已有工作的关系是什么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延续、区别、补充还是超越：不必总说“我们比别人更好”，而是更精确地说明关系。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E2C7199-F393-4860-BEC2-E98807964303}"/>
              </a:ext>
            </a:extLst>
          </p:cNvPr>
          <p:cNvSpPr/>
          <p:nvPr/>
        </p:nvSpPr>
        <p:spPr>
          <a:xfrm>
            <a:off x="304800" y="5772150"/>
            <a:ext cx="11582400" cy="514350"/>
          </a:xfrm>
          <a:prstGeom prst="roundRect">
            <a:avLst>
              <a:gd name="adj" fmla="val 185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7AAA94E-B0F5-4DE7-B13D-00B597168A03}"/>
              </a:ext>
            </a:extLst>
          </p:cNvPr>
          <p:cNvSpPr txBox="1"/>
          <p:nvPr/>
        </p:nvSpPr>
        <p:spPr>
          <a:xfrm>
            <a:off x="457200" y="5895975"/>
            <a:ext cx="11277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Related Work = </a:t>
            </a:r>
            <a:r>
              <a:rPr sz="1600" b="1">
                <a:solidFill>
                  <a:srgbClr val="FFFFFF"/>
                </a:solidFill>
                <a:latin typeface="Times New Roman"/>
                <a:ea typeface="华文中宋"/>
              </a:rPr>
              <a:t>分类 + 概括 + 代表工作 + 局限 + 本文定位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DAE1100-1B87-43C8-B315-79856E6298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D45CC2F1-2FA6-4C13-8370-584E7AD730E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53F3375-6306-40D5-A374-AB392E51EC6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B220A80-56C5-4E1E-A5C5-69550D40700B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区别、组织结构与段落写法：先定位，再展开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806D458-62BC-4631-9E6B-5426581AF4D5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第十二篇 Related Works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B467B57-E8D5-435B-9EE8-DF44CEC91CD0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57 / 86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2DC3CD-13DC-4896-8599-C75ADA4AD1B0}"/>
              </a:ext>
            </a:extLst>
          </p:cNvPr>
          <p:cNvSpPr txBox="1"/>
          <p:nvPr/>
        </p:nvSpPr>
        <p:spPr>
          <a:xfrm>
            <a:off x="304800" y="838200"/>
            <a:ext cx="857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Related Work</a:t>
            </a: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 和 </a:t>
            </a:r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 的区别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4C1FE3F-96C6-42AF-AA3D-733B91A56889}"/>
              </a:ext>
            </a:extLst>
          </p:cNvPr>
          <p:cNvSpPr/>
          <p:nvPr/>
        </p:nvSpPr>
        <p:spPr>
          <a:xfrm>
            <a:off x="304800" y="1181100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48D723-3154-4B2F-BA5C-BF8A01464B66}"/>
              </a:ext>
            </a:extLst>
          </p:cNvPr>
          <p:cNvSpPr txBox="1"/>
          <p:nvPr/>
        </p:nvSpPr>
        <p:spPr>
          <a:xfrm>
            <a:off x="457200" y="1314450"/>
            <a:ext cx="5334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Introduction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：讲故事，建立动机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也会提到已有工作，但目的主要是引出研究问题和空缺。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432D591-3361-4D58-AC4A-A9502339A634}"/>
              </a:ext>
            </a:extLst>
          </p:cNvPr>
          <p:cNvSpPr/>
          <p:nvPr/>
        </p:nvSpPr>
        <p:spPr>
          <a:xfrm>
            <a:off x="6248400" y="1181100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F8ABE25-B9DF-43E0-BCDB-553B74825751}"/>
              </a:ext>
            </a:extLst>
          </p:cNvPr>
          <p:cNvSpPr txBox="1"/>
          <p:nvPr/>
        </p:nvSpPr>
        <p:spPr>
          <a:xfrm>
            <a:off x="6400800" y="1314450"/>
            <a:ext cx="5334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Related Work：画地图，说明位置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目的更具体：系统梳理与本文最相关的研究脉络，并定位本文贡献。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259CB4A-8CF9-46F5-A678-E7B38774023C}"/>
              </a:ext>
            </a:extLst>
          </p:cNvPr>
          <p:cNvSpPr txBox="1"/>
          <p:nvPr/>
        </p:nvSpPr>
        <p:spPr>
          <a:xfrm>
            <a:off x="304800" y="2324100"/>
            <a:ext cx="857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常见的两种组织结构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DF42B0D-DA50-444A-9462-551074F1E493}"/>
              </a:ext>
            </a:extLst>
          </p:cNvPr>
          <p:cNvSpPr/>
          <p:nvPr/>
        </p:nvSpPr>
        <p:spPr>
          <a:xfrm>
            <a:off x="304800" y="2667000"/>
            <a:ext cx="5638800" cy="120015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BDA24EC-1976-4CF3-9530-6839885F05B3}"/>
              </a:ext>
            </a:extLst>
          </p:cNvPr>
          <p:cNvSpPr txBox="1"/>
          <p:nvPr/>
        </p:nvSpPr>
        <p:spPr>
          <a:xfrm>
            <a:off x="457200" y="2800350"/>
            <a:ext cx="5334000" cy="971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7B2484"/>
                </a:solidFill>
                <a:latin typeface="Times New Roman"/>
                <a:ea typeface="Times New Roman"/>
              </a:rPr>
              <a:t>1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按研究方向组织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适合大多数论文，每一节对应一个研究方向。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12F9A46-FE42-4DD2-AB5F-9EF3F37F3DB9}"/>
              </a:ext>
            </a:extLst>
          </p:cNvPr>
          <p:cNvSpPr/>
          <p:nvPr/>
        </p:nvSpPr>
        <p:spPr>
          <a:xfrm>
            <a:off x="6248400" y="2667000"/>
            <a:ext cx="5638800" cy="120015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D23508A-305E-42E1-B267-E70212C9BDE4}"/>
              </a:ext>
            </a:extLst>
          </p:cNvPr>
          <p:cNvSpPr txBox="1"/>
          <p:nvPr/>
        </p:nvSpPr>
        <p:spPr>
          <a:xfrm>
            <a:off x="6400800" y="2800350"/>
            <a:ext cx="5334000" cy="1085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5B6B7C"/>
                </a:solidFill>
                <a:latin typeface="Times New Roman"/>
                <a:ea typeface="华文中宋"/>
              </a:rPr>
              <a:t>2  按方法类别组织</a:t>
            </a:r>
          </a:p>
          <a:p>
            <a:pPr algn="l">
              <a:lnSpc>
                <a:spcPct val="145000"/>
              </a:lnSpc>
            </a:pPr>
            <a:r>
              <a:rPr sz="1600">
                <a:solidFill>
                  <a:srgbClr val="5B6B7C"/>
                </a:solidFill>
                <a:latin typeface="Times New Roman"/>
                <a:ea typeface="华文中宋"/>
              </a:rPr>
              <a:t>针对同一问题已有大量方法时，按技术路线组织，重点比较不同路线的假设、优势和限制。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8590008-959F-4117-A04D-6C9CBB4804B2}"/>
              </a:ext>
            </a:extLst>
          </p:cNvPr>
          <p:cNvSpPr txBox="1"/>
          <p:nvPr/>
        </p:nvSpPr>
        <p:spPr>
          <a:xfrm>
            <a:off x="304800" y="3924300"/>
            <a:ext cx="857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每一段的推荐写法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E91ED33-3403-4ABE-8168-67F3445611B7}"/>
              </a:ext>
            </a:extLst>
          </p:cNvPr>
          <p:cNvSpPr/>
          <p:nvPr/>
        </p:nvSpPr>
        <p:spPr>
          <a:xfrm>
            <a:off x="304800" y="4267200"/>
            <a:ext cx="2781300" cy="914400"/>
          </a:xfrm>
          <a:prstGeom prst="roundRect">
            <a:avLst>
              <a:gd name="adj" fmla="val 104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40060AE-5F45-447B-B41D-53711217B55A}"/>
              </a:ext>
            </a:extLst>
          </p:cNvPr>
          <p:cNvSpPr/>
          <p:nvPr/>
        </p:nvSpPr>
        <p:spPr>
          <a:xfrm>
            <a:off x="3238500" y="4267200"/>
            <a:ext cx="2781300" cy="914400"/>
          </a:xfrm>
          <a:prstGeom prst="roundRect">
            <a:avLst>
              <a:gd name="adj" fmla="val 104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C93D06D-2736-492A-A5C0-14C2B8421312}"/>
              </a:ext>
            </a:extLst>
          </p:cNvPr>
          <p:cNvSpPr/>
          <p:nvPr/>
        </p:nvSpPr>
        <p:spPr>
          <a:xfrm>
            <a:off x="6172200" y="4267200"/>
            <a:ext cx="2781300" cy="914400"/>
          </a:xfrm>
          <a:prstGeom prst="roundRect">
            <a:avLst>
              <a:gd name="adj" fmla="val 104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2E8EB31-E55C-44CF-8847-159D65E80581}"/>
              </a:ext>
            </a:extLst>
          </p:cNvPr>
          <p:cNvSpPr/>
          <p:nvPr/>
        </p:nvSpPr>
        <p:spPr>
          <a:xfrm>
            <a:off x="9105900" y="4267200"/>
            <a:ext cx="2781300" cy="914400"/>
          </a:xfrm>
          <a:prstGeom prst="roundRect">
            <a:avLst>
              <a:gd name="adj" fmla="val 1041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F3F5B07-8666-43D6-BED5-2D990C6F45BE}"/>
              </a:ext>
            </a:extLst>
          </p:cNvPr>
          <p:cNvSpPr txBox="1"/>
          <p:nvPr/>
        </p:nvSpPr>
        <p:spPr>
          <a:xfrm>
            <a:off x="457200" y="440055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Step 1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先概括一个研究方向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20C3A03-22E3-444D-A11E-3A6ECB37516F}"/>
              </a:ext>
            </a:extLst>
          </p:cNvPr>
          <p:cNvSpPr txBox="1"/>
          <p:nvPr/>
        </p:nvSpPr>
        <p:spPr>
          <a:xfrm>
            <a:off x="3390900" y="440055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Step 2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再列举代表性工作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5EB664F-0751-4398-AB7E-4ED9CDC1A4EB}"/>
              </a:ext>
            </a:extLst>
          </p:cNvPr>
          <p:cNvSpPr txBox="1"/>
          <p:nvPr/>
        </p:nvSpPr>
        <p:spPr>
          <a:xfrm>
            <a:off x="6324600" y="440055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Step 3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然后总结这些工作的特点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0001A20-0590-4450-A012-8776937BF796}"/>
              </a:ext>
            </a:extLst>
          </p:cNvPr>
          <p:cNvSpPr txBox="1"/>
          <p:nvPr/>
        </p:nvSpPr>
        <p:spPr>
          <a:xfrm>
            <a:off x="9258300" y="440055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Step 4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最后指出与本文的关系或局限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0670A0FB-3E08-48DD-9DFF-551C9BC94F93}"/>
              </a:ext>
            </a:extLst>
          </p:cNvPr>
          <p:cNvSpPr/>
          <p:nvPr/>
        </p:nvSpPr>
        <p:spPr>
          <a:xfrm>
            <a:off x="304800" y="5353050"/>
            <a:ext cx="11582400" cy="952500"/>
          </a:xfrm>
          <a:prstGeom prst="roundRect">
            <a:avLst>
              <a:gd name="adj" fmla="val 10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3C5CB12-2557-4AE0-8A33-494AD3F1EAB4}"/>
              </a:ext>
            </a:extLst>
          </p:cNvPr>
          <p:cNvSpPr txBox="1"/>
          <p:nvPr/>
        </p:nvSpPr>
        <p:spPr>
          <a:xfrm>
            <a:off x="533400" y="5467350"/>
            <a:ext cx="11125200" cy="86004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例如：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已有研究从……角度研究了该问题。早期工作主要……；近期方法进一步……。这些方法在……方面取得了进展，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但通常依赖……，因此难以处理……。与这些工作不同，本文关注……。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099D647-F166-463D-AA46-0A90C3BF83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3D952BB-D5F7-409B-918C-E650EDD14BD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ADCC33F-92FF-4364-AE0D-1C97AB5D540E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A359A7B-9E44-494D-AD88-F355DF8D0192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写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Related Work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时要避免的五个问题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ADA1914-84C3-48BB-AE35-38D3D32AA304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第十二篇 Related Works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5DA0DE-5F7F-46C1-93DB-D54F4BFD37C3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58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1D104C6-C041-41C8-A54F-8E5A8473C8F6}"/>
              </a:ext>
            </a:extLst>
          </p:cNvPr>
          <p:cNvSpPr/>
          <p:nvPr/>
        </p:nvSpPr>
        <p:spPr>
          <a:xfrm>
            <a:off x="304800" y="876300"/>
            <a:ext cx="11582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2CD771A-EBD2-4307-B0CC-21CBFC7A44FB}"/>
              </a:ext>
            </a:extLst>
          </p:cNvPr>
          <p:cNvSpPr/>
          <p:nvPr/>
        </p:nvSpPr>
        <p:spPr>
          <a:xfrm>
            <a:off x="495300" y="11334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3B62484-EFE9-4F93-ABD2-2F9C09B75EBE}"/>
              </a:ext>
            </a:extLst>
          </p:cNvPr>
          <p:cNvSpPr txBox="1"/>
          <p:nvPr/>
        </p:nvSpPr>
        <p:spPr>
          <a:xfrm>
            <a:off x="495300" y="1209675"/>
            <a:ext cx="381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9F09B8B-23BB-49EA-A449-9EF5BC3B6D3C}"/>
              </a:ext>
            </a:extLst>
          </p:cNvPr>
          <p:cNvSpPr txBox="1"/>
          <p:nvPr/>
        </p:nvSpPr>
        <p:spPr>
          <a:xfrm>
            <a:off x="1066800" y="99060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不要逐篇论文平铺直叙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7E4332-D438-459A-962B-0C48DD68BFE6}"/>
              </a:ext>
            </a:extLst>
          </p:cNvPr>
          <p:cNvSpPr txBox="1"/>
          <p:nvPr/>
        </p:nvSpPr>
        <p:spPr>
          <a:xfrm>
            <a:off x="1066800" y="1314450"/>
            <a:ext cx="10287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错误写法：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做了什么，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做了什么，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做了什么。更好的写法：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属于同一类方法，它们共同解决了什么问题，但仍存在什么限制。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CDB5D09-8001-407E-8F54-8960B3EF9C3B}"/>
              </a:ext>
            </a:extLst>
          </p:cNvPr>
          <p:cNvSpPr/>
          <p:nvPr/>
        </p:nvSpPr>
        <p:spPr>
          <a:xfrm>
            <a:off x="304800" y="1866900"/>
            <a:ext cx="11582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B1B737D-C2F4-4CF3-B85A-FBD4A7E93E4E}"/>
              </a:ext>
            </a:extLst>
          </p:cNvPr>
          <p:cNvSpPr/>
          <p:nvPr/>
        </p:nvSpPr>
        <p:spPr>
          <a:xfrm>
            <a:off x="495300" y="21240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4AC5317-0C16-4D98-8F0B-9CB4C7D0DE1B}"/>
              </a:ext>
            </a:extLst>
          </p:cNvPr>
          <p:cNvSpPr txBox="1"/>
          <p:nvPr/>
        </p:nvSpPr>
        <p:spPr>
          <a:xfrm>
            <a:off x="495300" y="2200275"/>
            <a:ext cx="381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F6FAA5D-E1D5-41B3-8CE3-F33C47B3257F}"/>
              </a:ext>
            </a:extLst>
          </p:cNvPr>
          <p:cNvSpPr txBox="1"/>
          <p:nvPr/>
        </p:nvSpPr>
        <p:spPr>
          <a:xfrm>
            <a:off x="1066800" y="198120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不要只夸别人，也不要只批评别人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8320CB0-CFA0-446F-BCD9-7CE7420CE526}"/>
              </a:ext>
            </a:extLst>
          </p:cNvPr>
          <p:cNvSpPr txBox="1"/>
          <p:nvPr/>
        </p:nvSpPr>
        <p:spPr>
          <a:xfrm>
            <a:off x="1066800" y="2305050"/>
            <a:ext cx="10287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Related Work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的语气应当客观。重点是定位本文，而不是证明别人都不行。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77C9CF2-B4F4-4432-BAC6-4502E63782F0}"/>
              </a:ext>
            </a:extLst>
          </p:cNvPr>
          <p:cNvSpPr/>
          <p:nvPr/>
        </p:nvSpPr>
        <p:spPr>
          <a:xfrm>
            <a:off x="304800" y="2857500"/>
            <a:ext cx="11582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C36A15D-F880-41A5-81A2-0E4DC7223F1B}"/>
              </a:ext>
            </a:extLst>
          </p:cNvPr>
          <p:cNvSpPr/>
          <p:nvPr/>
        </p:nvSpPr>
        <p:spPr>
          <a:xfrm>
            <a:off x="495300" y="31146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AB94C2F-491D-4237-8142-36691419D393}"/>
              </a:ext>
            </a:extLst>
          </p:cNvPr>
          <p:cNvSpPr txBox="1"/>
          <p:nvPr/>
        </p:nvSpPr>
        <p:spPr>
          <a:xfrm>
            <a:off x="495300" y="3190875"/>
            <a:ext cx="381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E42B245-5751-419A-A699-BF35D833528E}"/>
              </a:ext>
            </a:extLst>
          </p:cNvPr>
          <p:cNvSpPr txBox="1"/>
          <p:nvPr/>
        </p:nvSpPr>
        <p:spPr>
          <a:xfrm>
            <a:off x="1066800" y="297180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不要引用过多但没有分类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5A7C50-B6F0-4027-9898-95007C1102F8}"/>
              </a:ext>
            </a:extLst>
          </p:cNvPr>
          <p:cNvSpPr txBox="1"/>
          <p:nvPr/>
        </p:nvSpPr>
        <p:spPr>
          <a:xfrm>
            <a:off x="1066800" y="3295650"/>
            <a:ext cx="10287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引用多不等于相关工作写得好。分类清楚比引用数量更重要。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2A100909-98EF-4F66-B0DE-309ACFCBE4A7}"/>
              </a:ext>
            </a:extLst>
          </p:cNvPr>
          <p:cNvSpPr/>
          <p:nvPr/>
        </p:nvSpPr>
        <p:spPr>
          <a:xfrm>
            <a:off x="304800" y="3848100"/>
            <a:ext cx="11582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500D1DA-A886-4110-90A1-74418CA0C0AF}"/>
              </a:ext>
            </a:extLst>
          </p:cNvPr>
          <p:cNvSpPr/>
          <p:nvPr/>
        </p:nvSpPr>
        <p:spPr>
          <a:xfrm>
            <a:off x="495300" y="41052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37197AE-48A1-47F4-BF7E-5271AE5BF2CC}"/>
              </a:ext>
            </a:extLst>
          </p:cNvPr>
          <p:cNvSpPr txBox="1"/>
          <p:nvPr/>
        </p:nvSpPr>
        <p:spPr>
          <a:xfrm>
            <a:off x="495300" y="4181475"/>
            <a:ext cx="381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DE68123-918F-4B4D-843E-B117B45734A2}"/>
              </a:ext>
            </a:extLst>
          </p:cNvPr>
          <p:cNvSpPr txBox="1"/>
          <p:nvPr/>
        </p:nvSpPr>
        <p:spPr>
          <a:xfrm>
            <a:off x="1066800" y="396240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不要把 </a:t>
            </a:r>
            <a:r>
              <a:rPr sz="1500" b="1">
                <a:solidFill>
                  <a:srgbClr val="1A2430"/>
                </a:solidFill>
                <a:latin typeface="Times New Roman"/>
                <a:ea typeface="Times New Roman"/>
              </a:rPr>
              <a:t>Related Work</a:t>
            </a:r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 写成 </a:t>
            </a:r>
            <a:r>
              <a:rPr sz="1500" b="1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 的重复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59B03D7-1143-4F9D-B229-F6441D630D00}"/>
              </a:ext>
            </a:extLst>
          </p:cNvPr>
          <p:cNvSpPr txBox="1"/>
          <p:nvPr/>
        </p:nvSpPr>
        <p:spPr>
          <a:xfrm>
            <a:off x="1066800" y="4286250"/>
            <a:ext cx="10287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Introduction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已经讲过动机，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Related Work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应进一步展开技术路线和差异。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CF2B1ED5-0B81-4E40-8AF3-B3CE30F29561}"/>
              </a:ext>
            </a:extLst>
          </p:cNvPr>
          <p:cNvSpPr/>
          <p:nvPr/>
        </p:nvSpPr>
        <p:spPr>
          <a:xfrm>
            <a:off x="304800" y="4838700"/>
            <a:ext cx="11582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070F727E-831C-41BD-B60E-5F8FF799A907}"/>
              </a:ext>
            </a:extLst>
          </p:cNvPr>
          <p:cNvSpPr/>
          <p:nvPr/>
        </p:nvSpPr>
        <p:spPr>
          <a:xfrm>
            <a:off x="495300" y="50958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A6DB857-0E6C-45D1-A4A6-DA76B156D84B}"/>
              </a:ext>
            </a:extLst>
          </p:cNvPr>
          <p:cNvSpPr txBox="1"/>
          <p:nvPr/>
        </p:nvSpPr>
        <p:spPr>
          <a:xfrm>
            <a:off x="495300" y="5172075"/>
            <a:ext cx="381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41FD6B4-737B-4C33-B8B7-A9595CEA8253}"/>
              </a:ext>
            </a:extLst>
          </p:cNvPr>
          <p:cNvSpPr txBox="1"/>
          <p:nvPr/>
        </p:nvSpPr>
        <p:spPr>
          <a:xfrm>
            <a:off x="1066800" y="495300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不要只写相似工作，不写差异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DDA8259-9A7B-4BA9-9521-62ECD33B3739}"/>
              </a:ext>
            </a:extLst>
          </p:cNvPr>
          <p:cNvSpPr txBox="1"/>
          <p:nvPr/>
        </p:nvSpPr>
        <p:spPr>
          <a:xfrm>
            <a:off x="1066800" y="5276850"/>
            <a:ext cx="10287000" cy="438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读者最关心的是：你的工作和这些论文到底有什么不同。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8A468F90-9952-41A0-8B8B-770464389C87}"/>
              </a:ext>
            </a:extLst>
          </p:cNvPr>
          <p:cNvSpPr/>
          <p:nvPr/>
        </p:nvSpPr>
        <p:spPr>
          <a:xfrm>
            <a:off x="304800" y="5829300"/>
            <a:ext cx="11582400" cy="495300"/>
          </a:xfrm>
          <a:prstGeom prst="roundRect">
            <a:avLst>
              <a:gd name="adj" fmla="val 1923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A5CFBB4-4080-476E-8E2C-7D3AB0ED8F64}"/>
              </a:ext>
            </a:extLst>
          </p:cNvPr>
          <p:cNvSpPr txBox="1"/>
          <p:nvPr/>
        </p:nvSpPr>
        <p:spPr>
          <a:xfrm>
            <a:off x="457200" y="5953125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一句话记住：</a:t>
            </a:r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Related Work</a:t>
            </a: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 的成败在于分类与定位，而不在于引了多少篇文献。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B83FDE70-51E3-4B00-B385-F52FD15A25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F7B807D8-8F51-4A94-9B4B-7FF3997B8E6D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D8981FC-9FF3-406B-9400-03FEBB67A10C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53F3C9-DA77-46CB-82AC-FBA5E808CCD8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常用表达方式：四类句式各管一件事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21BF54-9CDD-4F72-B348-42A17B41DBF4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第十二篇 Related Works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49B3429-8146-496D-BF8E-0B8518583871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59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EC87D28-5810-4CDB-AF06-0E07895E469F}"/>
              </a:ext>
            </a:extLst>
          </p:cNvPr>
          <p:cNvSpPr/>
          <p:nvPr/>
        </p:nvSpPr>
        <p:spPr>
          <a:xfrm>
            <a:off x="304800" y="1181100"/>
            <a:ext cx="5638800" cy="17811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FD33426-740D-4EF5-8556-303B8D566C31}"/>
              </a:ext>
            </a:extLst>
          </p:cNvPr>
          <p:cNvSpPr/>
          <p:nvPr/>
        </p:nvSpPr>
        <p:spPr>
          <a:xfrm>
            <a:off x="457200" y="1333500"/>
            <a:ext cx="1905000" cy="304800"/>
          </a:xfrm>
          <a:prstGeom prst="roundRect">
            <a:avLst>
              <a:gd name="adj" fmla="val 31250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45CF92A-891C-4020-A19D-C83EF4E40E61}"/>
              </a:ext>
            </a:extLst>
          </p:cNvPr>
          <p:cNvSpPr txBox="1"/>
          <p:nvPr/>
        </p:nvSpPr>
        <p:spPr>
          <a:xfrm>
            <a:off x="457200" y="1381125"/>
            <a:ext cx="1905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引入一个研究方向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C0E58DD-FB11-4502-8348-351B1A29C69C}"/>
              </a:ext>
            </a:extLst>
          </p:cNvPr>
          <p:cNvSpPr txBox="1"/>
          <p:nvPr/>
        </p:nvSpPr>
        <p:spPr>
          <a:xfrm>
            <a:off x="457200" y="1771650"/>
            <a:ext cx="5334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A large body of work has studied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Prior research on X can be broadly divided into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Existing approaches to X typically fall into three categories.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Recent studies have explored X from the perspective of ...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89BEC1C-C5FD-4BFA-B319-39B79DD4F7C0}"/>
              </a:ext>
            </a:extLst>
          </p:cNvPr>
          <p:cNvSpPr/>
          <p:nvPr/>
        </p:nvSpPr>
        <p:spPr>
          <a:xfrm>
            <a:off x="6248400" y="1181100"/>
            <a:ext cx="5638800" cy="17811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8EE035A-7780-4534-8829-1CED9FB6FD19}"/>
              </a:ext>
            </a:extLst>
          </p:cNvPr>
          <p:cNvSpPr/>
          <p:nvPr/>
        </p:nvSpPr>
        <p:spPr>
          <a:xfrm>
            <a:off x="6400800" y="1333500"/>
            <a:ext cx="1905000" cy="304800"/>
          </a:xfrm>
          <a:prstGeom prst="roundRect">
            <a:avLst>
              <a:gd name="adj" fmla="val 31250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8D2659D-26A8-458F-944D-DAC1B1F6D5BA}"/>
              </a:ext>
            </a:extLst>
          </p:cNvPr>
          <p:cNvSpPr txBox="1"/>
          <p:nvPr/>
        </p:nvSpPr>
        <p:spPr>
          <a:xfrm>
            <a:off x="6400800" y="1381125"/>
            <a:ext cx="1905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总结已有方法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DF77E85-5523-477D-B304-F92C4DC1A335}"/>
              </a:ext>
            </a:extLst>
          </p:cNvPr>
          <p:cNvSpPr txBox="1"/>
          <p:nvPr/>
        </p:nvSpPr>
        <p:spPr>
          <a:xfrm>
            <a:off x="6400800" y="1771650"/>
            <a:ext cx="5334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These methods generally rely on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Most existing approaches assume that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A common strategy is to ...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Previous work has mainly focused on ...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8B842C7-2B0F-45CB-9F57-1412F1312DAB}"/>
              </a:ext>
            </a:extLst>
          </p:cNvPr>
          <p:cNvSpPr/>
          <p:nvPr/>
        </p:nvSpPr>
        <p:spPr>
          <a:xfrm>
            <a:off x="304800" y="3714750"/>
            <a:ext cx="5638800" cy="2019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BD90329-6F7F-4A7C-812D-698FE3DD4A24}"/>
              </a:ext>
            </a:extLst>
          </p:cNvPr>
          <p:cNvSpPr/>
          <p:nvPr/>
        </p:nvSpPr>
        <p:spPr>
          <a:xfrm>
            <a:off x="457200" y="3867150"/>
            <a:ext cx="1905000" cy="304800"/>
          </a:xfrm>
          <a:prstGeom prst="roundRect">
            <a:avLst>
              <a:gd name="adj" fmla="val 31250"/>
            </a:avLst>
          </a:prstGeom>
          <a:solidFill>
            <a:srgbClr val="E86D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6AB693C-003E-4D3D-B118-7A7434DFD5B8}"/>
              </a:ext>
            </a:extLst>
          </p:cNvPr>
          <p:cNvSpPr txBox="1"/>
          <p:nvPr/>
        </p:nvSpPr>
        <p:spPr>
          <a:xfrm>
            <a:off x="457200" y="3914775"/>
            <a:ext cx="1905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指出不足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723DF63-D4A9-478E-BB3D-7C8D9E78F1DF}"/>
              </a:ext>
            </a:extLst>
          </p:cNvPr>
          <p:cNvSpPr txBox="1"/>
          <p:nvPr/>
        </p:nvSpPr>
        <p:spPr>
          <a:xfrm>
            <a:off x="457200" y="4305300"/>
            <a:ext cx="5334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However, these methods are limited in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Despite their success, they often fail to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This line of work does not explicitly consider ...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Few studies have systematically examined ...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54C24CA-4440-4A10-BC3B-CA6737D294DB}"/>
              </a:ext>
            </a:extLst>
          </p:cNvPr>
          <p:cNvSpPr/>
          <p:nvPr/>
        </p:nvSpPr>
        <p:spPr>
          <a:xfrm>
            <a:off x="6248400" y="3714750"/>
            <a:ext cx="5638800" cy="20193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AB5580B-D302-422E-8DE6-76F5CAD92A3B}"/>
              </a:ext>
            </a:extLst>
          </p:cNvPr>
          <p:cNvSpPr/>
          <p:nvPr/>
        </p:nvSpPr>
        <p:spPr>
          <a:xfrm>
            <a:off x="6400800" y="3867150"/>
            <a:ext cx="1905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78C1E2D-838B-4A33-9871-8A45C2900D06}"/>
              </a:ext>
            </a:extLst>
          </p:cNvPr>
          <p:cNvSpPr txBox="1"/>
          <p:nvPr/>
        </p:nvSpPr>
        <p:spPr>
          <a:xfrm>
            <a:off x="6400800" y="3914775"/>
            <a:ext cx="1905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说明本文区别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03C5B4D-AB9B-443D-9108-06E491672FF9}"/>
              </a:ext>
            </a:extLst>
          </p:cNvPr>
          <p:cNvSpPr txBox="1"/>
          <p:nvPr/>
        </p:nvSpPr>
        <p:spPr>
          <a:xfrm>
            <a:off x="6400800" y="4305300"/>
            <a:ext cx="5334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In contrast, our work focuses on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Unlike prior work, we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Our work is complementary to ...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While these studies address ..., we investigate ...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Times New Roman"/>
              </a:rPr>
              <a:t>- The closest work to ours is ..., but it differs in ...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3661830-843F-4F1B-819D-AB2155029B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0B39846-8032-490F-8664-34BFE87D95CC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3B7ECD1-912B-4E60-82E4-9EBD956CCC32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6C5C52E-0ED8-4E53-8C8D-9CC9E21143B1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贡献定位的五种关系，与何时用表格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61B748-BB23-49C4-8FB9-F1B92F8FF3D5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第十二篇 Related Works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17CEB5A-030F-4709-B2B6-8C9ED61582D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60 / 86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12067A5-0303-476B-B5F5-EC951538791C}"/>
              </a:ext>
            </a:extLst>
          </p:cNvPr>
          <p:cNvSpPr txBox="1"/>
          <p:nvPr/>
        </p:nvSpPr>
        <p:spPr>
          <a:xfrm>
            <a:off x="304800" y="8382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贡献定位的几种关系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3B7FD5-442F-4534-AC54-787550E6FF30}"/>
              </a:ext>
            </a:extLst>
          </p:cNvPr>
          <p:cNvSpPr txBox="1"/>
          <p:nvPr/>
        </p:nvSpPr>
        <p:spPr>
          <a:xfrm>
            <a:off x="304800" y="11239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不一定总要说“我们比别人更好”，可以更精确地说明关系。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467CB00-32BA-491B-966E-21D414730A38}"/>
              </a:ext>
            </a:extLst>
          </p:cNvPr>
          <p:cNvSpPr/>
          <p:nvPr/>
        </p:nvSpPr>
        <p:spPr>
          <a:xfrm>
            <a:off x="304800" y="1428750"/>
            <a:ext cx="5638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A60D91-00FC-4D4A-9368-44524DA96E16}"/>
              </a:ext>
            </a:extLst>
          </p:cNvPr>
          <p:cNvSpPr txBox="1"/>
          <p:nvPr/>
        </p:nvSpPr>
        <p:spPr>
          <a:xfrm>
            <a:off x="457200" y="154305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1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  Extension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本文扩展了已有工作，例如扩展到新场景、新任务、新数据或新模型。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220B71A-72FC-4FCB-B407-AFAE9E8EC745}"/>
              </a:ext>
            </a:extLst>
          </p:cNvPr>
          <p:cNvSpPr/>
          <p:nvPr/>
        </p:nvSpPr>
        <p:spPr>
          <a:xfrm>
            <a:off x="304800" y="2305050"/>
            <a:ext cx="5638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6396C13-F104-4CA8-8895-AC2A28F1B39A}"/>
              </a:ext>
            </a:extLst>
          </p:cNvPr>
          <p:cNvSpPr txBox="1"/>
          <p:nvPr/>
        </p:nvSpPr>
        <p:spPr>
          <a:xfrm>
            <a:off x="457200" y="241935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2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  Complement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本文与已有工作互补，例如已有工作研究方法，本文研究评测。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6E9B7C8-14BE-423B-BFF5-8D557AB01A19}"/>
              </a:ext>
            </a:extLst>
          </p:cNvPr>
          <p:cNvSpPr/>
          <p:nvPr/>
        </p:nvSpPr>
        <p:spPr>
          <a:xfrm>
            <a:off x="304800" y="3181350"/>
            <a:ext cx="5638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64B2F2-B235-4EED-B232-9E17A90D2976}"/>
              </a:ext>
            </a:extLst>
          </p:cNvPr>
          <p:cNvSpPr txBox="1"/>
          <p:nvPr/>
        </p:nvSpPr>
        <p:spPr>
          <a:xfrm>
            <a:off x="457200" y="329565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3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  Contrast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本文与已有工作不同，例如假设、任务定义、评价目标不同。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F029C2D-2298-4078-959E-2249A722BDAB}"/>
              </a:ext>
            </a:extLst>
          </p:cNvPr>
          <p:cNvSpPr/>
          <p:nvPr/>
        </p:nvSpPr>
        <p:spPr>
          <a:xfrm>
            <a:off x="304800" y="4057650"/>
            <a:ext cx="5638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574EA2E-2B7B-41C5-9F53-B5B7FF4F2520}"/>
              </a:ext>
            </a:extLst>
          </p:cNvPr>
          <p:cNvSpPr txBox="1"/>
          <p:nvPr/>
        </p:nvSpPr>
        <p:spPr>
          <a:xfrm>
            <a:off x="457200" y="417195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4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  Unification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本文统一了多个过去分散的问题或方法。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C53A7FA-4479-44B8-97D4-3F5C691C15A8}"/>
              </a:ext>
            </a:extLst>
          </p:cNvPr>
          <p:cNvSpPr/>
          <p:nvPr/>
        </p:nvSpPr>
        <p:spPr>
          <a:xfrm>
            <a:off x="304800" y="4933950"/>
            <a:ext cx="5638800" cy="8001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1882944-D20C-49A3-A32E-6190A4D596FF}"/>
              </a:ext>
            </a:extLst>
          </p:cNvPr>
          <p:cNvSpPr txBox="1"/>
          <p:nvPr/>
        </p:nvSpPr>
        <p:spPr>
          <a:xfrm>
            <a:off x="457200" y="504825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5</a:t>
            </a: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  Re-evaluation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5B6B7C"/>
                </a:solidFill>
                <a:latin typeface="Times New Roman"/>
                <a:ea typeface="华文中宋"/>
              </a:rPr>
              <a:t>本文重新评估已有方法，发现过去评价存在遗漏或偏差。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6AAEF9D-ABEA-457C-8060-09262F10C075}"/>
              </a:ext>
            </a:extLst>
          </p:cNvPr>
          <p:cNvSpPr txBox="1"/>
          <p:nvPr/>
        </p:nvSpPr>
        <p:spPr>
          <a:xfrm>
            <a:off x="6248400" y="8382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图表：什么时候用表格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20F9EF6F-729A-473A-9806-9D86BC4F37AA}"/>
              </a:ext>
            </a:extLst>
          </p:cNvPr>
          <p:cNvSpPr/>
          <p:nvPr/>
        </p:nvSpPr>
        <p:spPr>
          <a:xfrm>
            <a:off x="6248400" y="1181100"/>
            <a:ext cx="5638800" cy="10477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C4F7616-7DB9-4E43-A5BF-A97BBF57C276}"/>
              </a:ext>
            </a:extLst>
          </p:cNvPr>
          <p:cNvSpPr txBox="1"/>
          <p:nvPr/>
        </p:nvSpPr>
        <p:spPr>
          <a:xfrm>
            <a:off x="6400800" y="1314450"/>
            <a:ext cx="5334000" cy="8191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如果需要比较多个已有工作在若干维度上的差异，适合使用表格的方式来补充说明。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MMMU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related works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表格见下页案例。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8EF89D1E-78FF-48F8-8B63-FC69196CB253}"/>
              </a:ext>
            </a:extLst>
          </p:cNvPr>
          <p:cNvSpPr/>
          <p:nvPr/>
        </p:nvSpPr>
        <p:spPr>
          <a:xfrm>
            <a:off x="6248400" y="2381250"/>
            <a:ext cx="5638800" cy="3600450"/>
          </a:xfrm>
          <a:prstGeom prst="roundRect">
            <a:avLst>
              <a:gd name="adj" fmla="val 2645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5CDC775-E08B-4A2C-95E9-5194A1CCA9DD}"/>
              </a:ext>
            </a:extLst>
          </p:cNvPr>
          <p:cNvSpPr txBox="1"/>
          <p:nvPr/>
        </p:nvSpPr>
        <p:spPr>
          <a:xfrm>
            <a:off x="6400800" y="25336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5743A"/>
                </a:solidFill>
                <a:latin typeface="Times New Roman"/>
                <a:ea typeface="华文中宋"/>
              </a:rPr>
              <a:t>使用比较表格时要遵守两条约束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E7721EC1-F8CB-472B-BD1B-959EEE2B142E}"/>
              </a:ext>
            </a:extLst>
          </p:cNvPr>
          <p:cNvSpPr/>
          <p:nvPr/>
        </p:nvSpPr>
        <p:spPr>
          <a:xfrm>
            <a:off x="6400800" y="2895600"/>
            <a:ext cx="5334000" cy="13335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819BF54-A7A8-46A6-9AD3-1AF376B401B1}"/>
              </a:ext>
            </a:extLst>
          </p:cNvPr>
          <p:cNvSpPr txBox="1"/>
          <p:nvPr/>
        </p:nvSpPr>
        <p:spPr>
          <a:xfrm>
            <a:off x="6553200" y="3028950"/>
            <a:ext cx="502920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华文中宋"/>
              </a:rPr>
              <a:t>约束 </a:t>
            </a: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1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比较维度应当是该领域公认且合理的评价维度，并且与论文的核心问题直接相关。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AA89337B-1228-4F2A-8F5F-2AA099E98948}"/>
              </a:ext>
            </a:extLst>
          </p:cNvPr>
          <p:cNvSpPr/>
          <p:nvPr/>
        </p:nvSpPr>
        <p:spPr>
          <a:xfrm>
            <a:off x="6400800" y="4419600"/>
            <a:ext cx="5334000" cy="13335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C901844-AD44-4A01-AEFF-F973CBE3E519}"/>
              </a:ext>
            </a:extLst>
          </p:cNvPr>
          <p:cNvSpPr txBox="1"/>
          <p:nvPr/>
        </p:nvSpPr>
        <p:spPr>
          <a:xfrm>
            <a:off x="6553200" y="4552950"/>
            <a:ext cx="50292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E86D35"/>
                </a:solidFill>
                <a:latin typeface="Times New Roman"/>
                <a:ea typeface="华文中宋"/>
              </a:rPr>
              <a:t>约束 </a:t>
            </a:r>
            <a:r>
              <a:rPr sz="1200" b="1">
                <a:solidFill>
                  <a:srgbClr val="E86D35"/>
                </a:solidFill>
                <a:latin typeface="Times New Roman"/>
                <a:ea typeface="Times New Roman"/>
              </a:rPr>
              <a:t>2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应避免为了突出本文优势而临时拼凑若干“本文有、相关工作没有”的特征，否则容易让审稿人觉得比较标准不够客观，甚至是在刻意制造差异。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CBB437A0-63F0-4857-86D6-876BC98278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752E8FDA-C4F9-4E35-B2F5-1A91175F83E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62C6C5F-1D37-4F20-8A7E-017EA2E87081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98E557-E0B1-4DAD-9B60-919A1B1DF8B1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案例：用表格把差异摆到明处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CD53678-2214-4E66-8814-3C666658378F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第十二篇 Related Works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80EB15C-0B28-43AC-ACF5-6D3643C17F5A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61 / 86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4BCE1A-CEAE-4094-9A87-FD491A776605}"/>
              </a:ext>
            </a:extLst>
          </p:cNvPr>
          <p:cNvSpPr txBox="1"/>
          <p:nvPr/>
        </p:nvSpPr>
        <p:spPr>
          <a:xfrm>
            <a:off x="304800" y="13049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案例一 · 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MMMU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 的 </a:t>
            </a:r>
            <a:r>
              <a:rPr sz="1400" b="1">
                <a:solidFill>
                  <a:srgbClr val="0B56A8"/>
                </a:solidFill>
                <a:latin typeface="Times New Roman"/>
                <a:ea typeface="Times New Roman"/>
              </a:rPr>
              <a:t>related works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 表格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45FA6C72-4E28-4A84-B72F-E63EDE5139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4800" y="1628775"/>
            <a:ext cx="5638800" cy="146685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D6B38D6-9112-45E6-BD18-FD68D3189ACC}"/>
              </a:ext>
            </a:extLst>
          </p:cNvPr>
          <p:cNvSpPr txBox="1"/>
          <p:nvPr/>
        </p:nvSpPr>
        <p:spPr>
          <a:xfrm>
            <a:off x="304800" y="3228975"/>
            <a:ext cx="53340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对比多个已有工作在数据集、语言、评估模态、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CoT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、平行数据、主题、问题等维度上的差异。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7D31C2A-6802-4A46-81B8-9746F8B05A93}"/>
              </a:ext>
            </a:extLst>
          </p:cNvPr>
          <p:cNvSpPr/>
          <p:nvPr/>
        </p:nvSpPr>
        <p:spPr>
          <a:xfrm>
            <a:off x="304800" y="3914775"/>
            <a:ext cx="5638800" cy="838200"/>
          </a:xfrm>
          <a:prstGeom prst="roundRect">
            <a:avLst>
              <a:gd name="adj" fmla="val 1000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6E4754A-BB54-4911-9C8F-3D23AE01DF0E}"/>
              </a:ext>
            </a:extLst>
          </p:cNvPr>
          <p:cNvSpPr txBox="1"/>
          <p:nvPr/>
        </p:nvSpPr>
        <p:spPr>
          <a:xfrm>
            <a:off x="457200" y="4067175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这种表格很适合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benchmark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 论文参考：展示数据覆盖的学科、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subjects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subfields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image types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 等。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A436FC3-F768-48CD-B102-2BD463695795}"/>
              </a:ext>
            </a:extLst>
          </p:cNvPr>
          <p:cNvSpPr txBox="1"/>
          <p:nvPr/>
        </p:nvSpPr>
        <p:spPr>
          <a:xfrm>
            <a:off x="6248400" y="13049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86D35"/>
                </a:solidFill>
                <a:latin typeface="Times New Roman"/>
                <a:ea typeface="华文中宋"/>
              </a:rPr>
              <a:t>案例二 · 与其他现有基准测试的比较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A1798050-7E37-4E38-AE71-58BBEB4B2FC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48400" y="1628775"/>
            <a:ext cx="5638800" cy="234315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AA3C8E35-1266-4BB3-9039-7A5DD71CF338}"/>
              </a:ext>
            </a:extLst>
          </p:cNvPr>
          <p:cNvSpPr txBox="1"/>
          <p:nvPr/>
        </p:nvSpPr>
        <p:spPr>
          <a:xfrm>
            <a:off x="6248400" y="4086225"/>
            <a:ext cx="5334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左侧以深度（推理）与广度（知识）为坐标，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MMMU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位于右上角；右侧表格对比多个基准在各项维度上的覆盖。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7B2484"/>
                </a:solidFill>
                <a:latin typeface="Times New Roman"/>
                <a:ea typeface="华文中宋"/>
              </a:rPr>
              <a:t>图与表配合：图说定位，表说细节。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00B1C84-1787-4D39-B0DC-91E51584B7B7}"/>
              </a:ext>
            </a:extLst>
          </p:cNvPr>
          <p:cNvSpPr/>
          <p:nvPr/>
        </p:nvSpPr>
        <p:spPr>
          <a:xfrm>
            <a:off x="304800" y="5172075"/>
            <a:ext cx="11582400" cy="876300"/>
          </a:xfrm>
          <a:prstGeom prst="roundRect">
            <a:avLst>
              <a:gd name="adj" fmla="val 10869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9ECA82B-AD8E-4CCF-B921-5DF93C42429D}"/>
              </a:ext>
            </a:extLst>
          </p:cNvPr>
          <p:cNvSpPr txBox="1"/>
          <p:nvPr/>
        </p:nvSpPr>
        <p:spPr>
          <a:xfrm>
            <a:off x="457200" y="5305425"/>
            <a:ext cx="1127760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关键提醒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比较维度要是领域公认、合理且与核心问题直接相关的维度；临时拼“本文有、相关工作没有”的特征，反而像在刻意制造差异。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8BC4A15-D838-4846-BF03-C2B7A25A37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3C18CDDC-4244-4F1F-AB17-767F03E6DBA2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306DB74-4BE1-4AAC-BDB3-70DECC1349A4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A1C346-132A-407C-8E99-06B648C910C2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7B2484"/>
                </a:solidFill>
                <a:latin typeface="Times New Roman"/>
                <a:ea typeface="Times New Roman"/>
              </a:rPr>
              <a:t>Methods</a:t>
            </a:r>
            <a:r>
              <a:rPr sz="2400" b="1">
                <a:solidFill>
                  <a:srgbClr val="7B2484"/>
                </a:solidFill>
                <a:latin typeface="Times New Roman"/>
                <a:ea typeface="华文中宋"/>
              </a:rPr>
              <a:t> 是相对最好写的部分：它只回答一个问题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C00D029-57D3-49CA-8480-DF3214562452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第十三篇 Methods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DF41D4D-C01F-40FA-AFCD-A2486A1D78C9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62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1B0C027-9D4E-4281-A27F-54FA3CF9B996}"/>
              </a:ext>
            </a:extLst>
          </p:cNvPr>
          <p:cNvSpPr/>
          <p:nvPr/>
        </p:nvSpPr>
        <p:spPr>
          <a:xfrm>
            <a:off x="304800" y="838200"/>
            <a:ext cx="11582400" cy="571500"/>
          </a:xfrm>
          <a:prstGeom prst="roundRect">
            <a:avLst>
              <a:gd name="adj" fmla="val 14285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0D4701-BE16-4B18-8553-D9D62699B1A4}"/>
              </a:ext>
            </a:extLst>
          </p:cNvPr>
          <p:cNvSpPr txBox="1"/>
          <p:nvPr/>
        </p:nvSpPr>
        <p:spPr>
          <a:xfrm>
            <a:off x="457200" y="1000125"/>
            <a:ext cx="11277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本文的方法到底是怎么做的？对于 </a:t>
            </a:r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AI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论文，</a:t>
            </a:r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Methods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通常需要把下面五件事讲清楚。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78699E5-D2BE-4545-9872-483DB7D2AE10}"/>
              </a:ext>
            </a:extLst>
          </p:cNvPr>
          <p:cNvSpPr txBox="1"/>
          <p:nvPr/>
        </p:nvSpPr>
        <p:spPr>
          <a:xfrm>
            <a:off x="304800" y="18859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需要讲清楚的五件事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918C433-97E9-4299-BFDE-48E311164D10}"/>
              </a:ext>
            </a:extLst>
          </p:cNvPr>
          <p:cNvSpPr txBox="1"/>
          <p:nvPr/>
        </p:nvSpPr>
        <p:spPr>
          <a:xfrm>
            <a:off x="6248400" y="18859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A2430"/>
                </a:solidFill>
                <a:latin typeface="Times New Roman"/>
                <a:ea typeface="华文中宋"/>
              </a:rPr>
              <a:t>推荐采用“总分结构”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C6FCCDB-E6CD-4331-B41C-67D0645E29C2}"/>
              </a:ext>
            </a:extLst>
          </p:cNvPr>
          <p:cNvSpPr/>
          <p:nvPr/>
        </p:nvSpPr>
        <p:spPr>
          <a:xfrm>
            <a:off x="304800" y="219075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3CF04F-1856-4F7D-997B-32F0B3292C87}"/>
              </a:ext>
            </a:extLst>
          </p:cNvPr>
          <p:cNvSpPr txBox="1"/>
          <p:nvPr/>
        </p:nvSpPr>
        <p:spPr>
          <a:xfrm>
            <a:off x="457200" y="23241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0B56A8"/>
                </a:solidFill>
                <a:latin typeface="Times New Roman"/>
                <a:ea typeface="Times New Roman"/>
              </a:rPr>
              <a:t>1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   方法的核心思想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7DE2FB3-1810-4D4F-ACBE-50D5E7D675F4}"/>
              </a:ext>
            </a:extLst>
          </p:cNvPr>
          <p:cNvSpPr/>
          <p:nvPr/>
        </p:nvSpPr>
        <p:spPr>
          <a:xfrm>
            <a:off x="304800" y="278130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53F2A9-9689-4021-AB52-C4F32EE0C4FA}"/>
              </a:ext>
            </a:extLst>
          </p:cNvPr>
          <p:cNvSpPr txBox="1"/>
          <p:nvPr/>
        </p:nvSpPr>
        <p:spPr>
          <a:xfrm>
            <a:off x="457200" y="29146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0B56A8"/>
                </a:solidFill>
                <a:latin typeface="Times New Roman"/>
                <a:ea typeface="Times New Roman"/>
              </a:rPr>
              <a:t>2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   问题定义和符号系统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8798BFE-6ADF-48D3-A3F3-DD0CFA152A41}"/>
              </a:ext>
            </a:extLst>
          </p:cNvPr>
          <p:cNvSpPr/>
          <p:nvPr/>
        </p:nvSpPr>
        <p:spPr>
          <a:xfrm>
            <a:off x="304800" y="337185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A5B3619-BBFA-48A1-9EB8-1AA90458CB93}"/>
              </a:ext>
            </a:extLst>
          </p:cNvPr>
          <p:cNvSpPr txBox="1"/>
          <p:nvPr/>
        </p:nvSpPr>
        <p:spPr>
          <a:xfrm>
            <a:off x="457200" y="35052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0B56A8"/>
                </a:solidFill>
                <a:latin typeface="Times New Roman"/>
                <a:ea typeface="Times New Roman"/>
              </a:rPr>
              <a:t>3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   模型结构或算法流程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317B55E-C968-4ED9-BE71-052DF414B31E}"/>
              </a:ext>
            </a:extLst>
          </p:cNvPr>
          <p:cNvSpPr/>
          <p:nvPr/>
        </p:nvSpPr>
        <p:spPr>
          <a:xfrm>
            <a:off x="304800" y="396240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0E1F94F-34BA-43BB-BEDC-23810CC65F9C}"/>
              </a:ext>
            </a:extLst>
          </p:cNvPr>
          <p:cNvSpPr txBox="1"/>
          <p:nvPr/>
        </p:nvSpPr>
        <p:spPr>
          <a:xfrm>
            <a:off x="457200" y="40957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0B56A8"/>
                </a:solidFill>
                <a:latin typeface="Times New Roman"/>
                <a:ea typeface="Times New Roman"/>
              </a:rPr>
              <a:t>4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   关键模块的设计动机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BB4E9D88-6229-4CF3-81B7-975DCBE3B695}"/>
              </a:ext>
            </a:extLst>
          </p:cNvPr>
          <p:cNvSpPr/>
          <p:nvPr/>
        </p:nvSpPr>
        <p:spPr>
          <a:xfrm>
            <a:off x="304800" y="455295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E288A24-3002-44DE-BF6A-8DD5C226F887}"/>
              </a:ext>
            </a:extLst>
          </p:cNvPr>
          <p:cNvSpPr txBox="1"/>
          <p:nvPr/>
        </p:nvSpPr>
        <p:spPr>
          <a:xfrm>
            <a:off x="457200" y="46863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0B56A8"/>
                </a:solidFill>
                <a:latin typeface="Times New Roman"/>
                <a:ea typeface="Times New Roman"/>
              </a:rPr>
              <a:t>5</a:t>
            </a:r>
            <a:r>
              <a:rPr sz="1300" b="1">
                <a:solidFill>
                  <a:srgbClr val="1A2430"/>
                </a:solidFill>
                <a:latin typeface="Times New Roman"/>
                <a:ea typeface="华文中宋"/>
              </a:rPr>
              <a:t>   公式、目标函数、推导过程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88EB8EB-10D9-47EB-8DA3-EBCCB87041FD}"/>
              </a:ext>
            </a:extLst>
          </p:cNvPr>
          <p:cNvSpPr/>
          <p:nvPr/>
        </p:nvSpPr>
        <p:spPr>
          <a:xfrm>
            <a:off x="6248400" y="219075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3B19248-2C2A-44F3-B77F-24EDFA554D49}"/>
              </a:ext>
            </a:extLst>
          </p:cNvPr>
          <p:cNvSpPr txBox="1"/>
          <p:nvPr/>
        </p:nvSpPr>
        <p:spPr>
          <a:xfrm>
            <a:off x="6400800" y="23241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Overview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 先总体介绍方法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B955AD9F-F066-498D-A507-00F3C2B1B0C5}"/>
              </a:ext>
            </a:extLst>
          </p:cNvPr>
          <p:cNvSpPr/>
          <p:nvPr/>
        </p:nvSpPr>
        <p:spPr>
          <a:xfrm>
            <a:off x="6248400" y="278130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34DA02C-800E-43E5-BFBB-E7D1722461C5}"/>
              </a:ext>
            </a:extLst>
          </p:cNvPr>
          <p:cNvSpPr txBox="1"/>
          <p:nvPr/>
        </p:nvSpPr>
        <p:spPr>
          <a:xfrm>
            <a:off x="6400800" y="29146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Problem Formulation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 定义问题和符号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B84885ED-B61D-405B-9B7A-EBB7D688B0CA}"/>
              </a:ext>
            </a:extLst>
          </p:cNvPr>
          <p:cNvSpPr/>
          <p:nvPr/>
        </p:nvSpPr>
        <p:spPr>
          <a:xfrm>
            <a:off x="6248400" y="337185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84B8F84-74B4-4382-B2E2-63F9DF69DAED}"/>
              </a:ext>
            </a:extLst>
          </p:cNvPr>
          <p:cNvSpPr txBox="1"/>
          <p:nvPr/>
        </p:nvSpPr>
        <p:spPr>
          <a:xfrm>
            <a:off x="6400800" y="35052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Method Details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 分模块讲方法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1F41C5C9-93E0-4ED5-A891-0F460811F8B3}"/>
              </a:ext>
            </a:extLst>
          </p:cNvPr>
          <p:cNvSpPr/>
          <p:nvPr/>
        </p:nvSpPr>
        <p:spPr>
          <a:xfrm>
            <a:off x="6248400" y="396240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94C8DDF-35EA-4D4F-B25C-E97D53C2A615}"/>
              </a:ext>
            </a:extLst>
          </p:cNvPr>
          <p:cNvSpPr txBox="1"/>
          <p:nvPr/>
        </p:nvSpPr>
        <p:spPr>
          <a:xfrm>
            <a:off x="6400800" y="40957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Training / Optimization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 讲训练目标和优化方式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A09D11AA-7045-43CA-98F5-3978B6C19263}"/>
              </a:ext>
            </a:extLst>
          </p:cNvPr>
          <p:cNvSpPr/>
          <p:nvPr/>
        </p:nvSpPr>
        <p:spPr>
          <a:xfrm>
            <a:off x="6248400" y="4552950"/>
            <a:ext cx="5638800" cy="514350"/>
          </a:xfrm>
          <a:prstGeom prst="roundRect">
            <a:avLst>
              <a:gd name="adj" fmla="val 18518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9F38BE9-AD83-4A20-B624-770CAB655F47}"/>
              </a:ext>
            </a:extLst>
          </p:cNvPr>
          <p:cNvSpPr txBox="1"/>
          <p:nvPr/>
        </p:nvSpPr>
        <p:spPr>
          <a:xfrm>
            <a:off x="6400800" y="46863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Inference / Deployment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  讲测试或使用阶段如何运行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46E96B8-3E87-416B-B924-F4AD6C95640A}"/>
              </a:ext>
            </a:extLst>
          </p:cNvPr>
          <p:cNvSpPr/>
          <p:nvPr/>
        </p:nvSpPr>
        <p:spPr>
          <a:xfrm>
            <a:off x="304800" y="5276850"/>
            <a:ext cx="11582400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364E9B36-3BC3-4F36-B879-56505E383288}"/>
              </a:ext>
            </a:extLst>
          </p:cNvPr>
          <p:cNvSpPr/>
          <p:nvPr/>
        </p:nvSpPr>
        <p:spPr>
          <a:xfrm>
            <a:off x="533400" y="5429250"/>
            <a:ext cx="57150" cy="571500"/>
          </a:xfrm>
          <a:prstGeom prst="roundRect">
            <a:avLst>
              <a:gd name="adj" fmla="val 50000"/>
            </a:avLst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1881326-C378-4D3C-B9E8-19EE7E6F7B4A}"/>
              </a:ext>
            </a:extLst>
          </p:cNvPr>
          <p:cNvSpPr txBox="1"/>
          <p:nvPr/>
        </p:nvSpPr>
        <p:spPr>
          <a:xfrm>
            <a:off x="762000" y="5429250"/>
            <a:ext cx="10668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这种结构的好处：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读者先看到方法全貌，再逐步进入细节，不会一开始就被公式、符号和模块名称淹没。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E2D2FD2-F17C-40D6-8319-2C5AC4C513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EDC5C576-429B-4D04-A422-A7982D5C928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888F0B2-0B2C-41FA-9E50-FC9B98664653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E44F4DA-971D-40E6-B132-D10606C7733D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先写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Overview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，再单独定义问题与符号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12084D5-5E77-43F2-91A9-8F9D4213DE4D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第十三篇 Methods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3592497-4143-44A3-ADB9-CC8725BF70A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63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290C911-E740-4054-A619-7C002A7D5DA7}"/>
              </a:ext>
            </a:extLst>
          </p:cNvPr>
          <p:cNvSpPr/>
          <p:nvPr/>
        </p:nvSpPr>
        <p:spPr>
          <a:xfrm>
            <a:off x="304800" y="838200"/>
            <a:ext cx="56388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0C264E-2CF7-4862-BD8A-5D050781043F}"/>
              </a:ext>
            </a:extLst>
          </p:cNvPr>
          <p:cNvSpPr txBox="1"/>
          <p:nvPr/>
        </p:nvSpPr>
        <p:spPr>
          <a:xfrm>
            <a:off x="457200" y="136207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1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  Overview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185B589-CDFC-4C71-93EB-9E6F6C07D587}"/>
              </a:ext>
            </a:extLst>
          </p:cNvPr>
          <p:cNvSpPr/>
          <p:nvPr/>
        </p:nvSpPr>
        <p:spPr>
          <a:xfrm>
            <a:off x="6248400" y="838200"/>
            <a:ext cx="56388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CD617AB-CA4F-44C7-8A55-64E0CBA1B81C}"/>
              </a:ext>
            </a:extLst>
          </p:cNvPr>
          <p:cNvSpPr txBox="1"/>
          <p:nvPr/>
        </p:nvSpPr>
        <p:spPr>
          <a:xfrm>
            <a:off x="6400800" y="136207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2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  Problem Formulation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CF2F897-82E6-41B4-9E49-F02A7826D84F}"/>
              </a:ext>
            </a:extLst>
          </p:cNvPr>
          <p:cNvSpPr txBox="1"/>
          <p:nvPr/>
        </p:nvSpPr>
        <p:spPr>
          <a:xfrm>
            <a:off x="304800" y="1781175"/>
            <a:ext cx="5334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开头先写一段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Overview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介绍方法的核心思想。不需要太多细节，而是要回答：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F62BF5C-C0C7-4B07-8F99-712C61C1C3FB}"/>
              </a:ext>
            </a:extLst>
          </p:cNvPr>
          <p:cNvSpPr txBox="1"/>
          <p:nvPr/>
        </p:nvSpPr>
        <p:spPr>
          <a:xfrm>
            <a:off x="304800" y="2352675"/>
            <a:ext cx="5334000" cy="1485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本文方法要解决什么问题？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方法的基本出发点是什么？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方法由哪些主要模块组成？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每个模块大致负责什么？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整体流程如何从输入走到输出？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9732F28-23BA-4162-8AAC-18C753C6915A}"/>
              </a:ext>
            </a:extLst>
          </p:cNvPr>
          <p:cNvSpPr txBox="1"/>
          <p:nvPr/>
        </p:nvSpPr>
        <p:spPr>
          <a:xfrm>
            <a:off x="6248400" y="1781175"/>
            <a:ext cx="5334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AI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论文常出现大量字母、符号、变量、集合、函数和下标。不提前定义清楚，读者后面读公式会非常吃力。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9D5BACC-5A5B-4C7C-A90E-5886871036FC}"/>
              </a:ext>
            </a:extLst>
          </p:cNvPr>
          <p:cNvSpPr txBox="1"/>
          <p:nvPr/>
        </p:nvSpPr>
        <p:spPr>
          <a:xfrm>
            <a:off x="6248400" y="24098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这一节需要说明：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FDEC776-7741-4E5D-95DB-66F834C6DDE0}"/>
              </a:ext>
            </a:extLst>
          </p:cNvPr>
          <p:cNvSpPr txBox="1"/>
          <p:nvPr/>
        </p:nvSpPr>
        <p:spPr>
          <a:xfrm>
            <a:off x="6248400" y="2714625"/>
            <a:ext cx="5334000" cy="1485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输入是什么、输出是什么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训练数据如何表示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模型或函数如何表示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目标是什么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关键变量、集合、索引和符号分别代表什么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1F45E86-0C8F-4686-8DD3-4438AB13D96C}"/>
              </a:ext>
            </a:extLst>
          </p:cNvPr>
          <p:cNvSpPr/>
          <p:nvPr/>
        </p:nvSpPr>
        <p:spPr>
          <a:xfrm>
            <a:off x="304800" y="4010025"/>
            <a:ext cx="5638800" cy="800100"/>
          </a:xfrm>
          <a:prstGeom prst="roundRect">
            <a:avLst>
              <a:gd name="adj" fmla="val 11904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E222350-41E7-4B84-9C3C-C3956F093D0F}"/>
              </a:ext>
            </a:extLst>
          </p:cNvPr>
          <p:cNvSpPr txBox="1"/>
          <p:nvPr/>
        </p:nvSpPr>
        <p:spPr>
          <a:xfrm>
            <a:off x="457200" y="4143375"/>
            <a:ext cx="5334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B5743A"/>
                </a:solidFill>
                <a:latin typeface="Times New Roman"/>
                <a:ea typeface="Times New Roman"/>
              </a:rPr>
              <a:t>Overview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 应该和方法的主图配合使用：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主图负责让读者“看见方法”；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Overview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负责让读者“理解这张图”。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E5071E1-2C99-4183-B2DE-E4B14F4002D7}"/>
              </a:ext>
            </a:extLst>
          </p:cNvPr>
          <p:cNvSpPr/>
          <p:nvPr/>
        </p:nvSpPr>
        <p:spPr>
          <a:xfrm>
            <a:off x="304800" y="5191125"/>
            <a:ext cx="11582400" cy="495300"/>
          </a:xfrm>
          <a:prstGeom prst="roundRect">
            <a:avLst>
              <a:gd name="adj" fmla="val 1923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5E51551-5450-4E3A-9E0A-1B80F4E49D37}"/>
              </a:ext>
            </a:extLst>
          </p:cNvPr>
          <p:cNvSpPr txBox="1"/>
          <p:nvPr/>
        </p:nvSpPr>
        <p:spPr>
          <a:xfrm>
            <a:off x="457200" y="5314950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两节分工：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Overview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让读者看懂方法全貌，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Problem Formulation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把符号固定下来，后面的公式才读得动。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3BBD7603-3B9E-49E7-8521-FE92C16E00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BFED04A5-FBD1-4CD7-A4C4-0F0BC5F3AE5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EFC86DA-B245-40C5-9EF4-3E4758C0E692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A2410CD-18C5-41AD-AE8F-E7B916C8BB48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7B2484"/>
                </a:solidFill>
                <a:latin typeface="Times New Roman"/>
                <a:ea typeface="华文中宋"/>
              </a:rPr>
              <a:t>所有公式都要被解释：前说为什么，后说符号与作用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B3F3DF9-37BD-4417-ABC0-06331707CBAF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第十三篇 Methods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2631982-A09D-49F5-9B35-4357E12CFD00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64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A9796E7-6697-4858-AFBD-495A38362DB5}"/>
              </a:ext>
            </a:extLst>
          </p:cNvPr>
          <p:cNvSpPr/>
          <p:nvPr/>
        </p:nvSpPr>
        <p:spPr>
          <a:xfrm>
            <a:off x="304800" y="838200"/>
            <a:ext cx="3733800" cy="10477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6232CF0-6E16-418E-A532-E72A48F618AB}"/>
              </a:ext>
            </a:extLst>
          </p:cNvPr>
          <p:cNvSpPr/>
          <p:nvPr/>
        </p:nvSpPr>
        <p:spPr>
          <a:xfrm>
            <a:off x="4191000" y="838200"/>
            <a:ext cx="3733800" cy="10477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FE63D26-F456-43AB-AEAD-861BC784A6AB}"/>
              </a:ext>
            </a:extLst>
          </p:cNvPr>
          <p:cNvSpPr/>
          <p:nvPr/>
        </p:nvSpPr>
        <p:spPr>
          <a:xfrm>
            <a:off x="8077200" y="838200"/>
            <a:ext cx="3733800" cy="104775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8FA25B-161A-4E5B-98C8-27DA987DC9EA}"/>
              </a:ext>
            </a:extLst>
          </p:cNvPr>
          <p:cNvSpPr txBox="1"/>
          <p:nvPr/>
        </p:nvSpPr>
        <p:spPr>
          <a:xfrm>
            <a:off x="457200" y="981075"/>
            <a:ext cx="3429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要求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1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公式前要说明为什么需要这个公式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EA8B832-5D1D-4FA2-B07F-C6F58789CAA3}"/>
              </a:ext>
            </a:extLst>
          </p:cNvPr>
          <p:cNvSpPr txBox="1"/>
          <p:nvPr/>
        </p:nvSpPr>
        <p:spPr>
          <a:xfrm>
            <a:off x="4343400" y="981075"/>
            <a:ext cx="3429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要求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2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公式后要解释公式中每个关键符号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A1B740-EBF1-41CA-8025-756BAB3C9707}"/>
              </a:ext>
            </a:extLst>
          </p:cNvPr>
          <p:cNvSpPr txBox="1"/>
          <p:nvPr/>
        </p:nvSpPr>
        <p:spPr>
          <a:xfrm>
            <a:off x="8229600" y="981075"/>
            <a:ext cx="3429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要求 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3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公式后要说明它在方法中起什么作用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0CDACD6-A2CC-4BF3-A5B5-5ED26657E165}"/>
              </a:ext>
            </a:extLst>
          </p:cNvPr>
          <p:cNvSpPr/>
          <p:nvPr/>
        </p:nvSpPr>
        <p:spPr>
          <a:xfrm>
            <a:off x="304800" y="2400300"/>
            <a:ext cx="11582400" cy="438150"/>
          </a:xfrm>
          <a:prstGeom prst="roundRect">
            <a:avLst>
              <a:gd name="adj" fmla="val 21739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8EEE2E4-C797-44BF-812B-84233368DFE3}"/>
              </a:ext>
            </a:extLst>
          </p:cNvPr>
          <p:cNvSpPr txBox="1"/>
          <p:nvPr/>
        </p:nvSpPr>
        <p:spPr>
          <a:xfrm>
            <a:off x="457200" y="2505075"/>
            <a:ext cx="11277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B5743A"/>
                </a:solidFill>
                <a:latin typeface="Times New Roman"/>
                <a:ea typeface="华文中宋"/>
              </a:rPr>
              <a:t>不要突然扔出一个公式，让读者自己猜它的意义。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C79907F-4EEA-4386-95EA-C4F0268A4500}"/>
              </a:ext>
            </a:extLst>
          </p:cNvPr>
          <p:cNvSpPr txBox="1"/>
          <p:nvPr/>
        </p:nvSpPr>
        <p:spPr>
          <a:xfrm>
            <a:off x="304800" y="3009900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推荐的写法结构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DBF47AF-8F6F-4953-B256-9A180F79A309}"/>
              </a:ext>
            </a:extLst>
          </p:cNvPr>
          <p:cNvSpPr/>
          <p:nvPr/>
        </p:nvSpPr>
        <p:spPr>
          <a:xfrm>
            <a:off x="304800" y="3333750"/>
            <a:ext cx="2781300" cy="1143000"/>
          </a:xfrm>
          <a:prstGeom prst="roundRect">
            <a:avLst>
              <a:gd name="adj" fmla="val 833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ECB1D0C-B036-4676-8883-18F707D31542}"/>
              </a:ext>
            </a:extLst>
          </p:cNvPr>
          <p:cNvSpPr/>
          <p:nvPr/>
        </p:nvSpPr>
        <p:spPr>
          <a:xfrm>
            <a:off x="3238500" y="3333750"/>
            <a:ext cx="2781300" cy="1143000"/>
          </a:xfrm>
          <a:prstGeom prst="roundRect">
            <a:avLst>
              <a:gd name="adj" fmla="val 833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C0A348B-9C28-4E3A-81C8-DD5FA0510A4F}"/>
              </a:ext>
            </a:extLst>
          </p:cNvPr>
          <p:cNvSpPr/>
          <p:nvPr/>
        </p:nvSpPr>
        <p:spPr>
          <a:xfrm>
            <a:off x="6172200" y="3333750"/>
            <a:ext cx="2781300" cy="1143000"/>
          </a:xfrm>
          <a:prstGeom prst="roundRect">
            <a:avLst>
              <a:gd name="adj" fmla="val 833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1900A54-88B6-4E8F-8898-82AD7E9CB7E3}"/>
              </a:ext>
            </a:extLst>
          </p:cNvPr>
          <p:cNvSpPr/>
          <p:nvPr/>
        </p:nvSpPr>
        <p:spPr>
          <a:xfrm>
            <a:off x="9105900" y="3333750"/>
            <a:ext cx="2781300" cy="1143000"/>
          </a:xfrm>
          <a:prstGeom prst="roundRect">
            <a:avLst>
              <a:gd name="adj" fmla="val 833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8D338FB-E88A-4E50-A65D-71A6D1195088}"/>
              </a:ext>
            </a:extLst>
          </p:cNvPr>
          <p:cNvSpPr txBox="1"/>
          <p:nvPr/>
        </p:nvSpPr>
        <p:spPr>
          <a:xfrm>
            <a:off x="457200" y="3486150"/>
            <a:ext cx="2476500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① 先写一句引导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To model ..., we define ...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46A7791-268A-4754-A8E8-5B573EA76D28}"/>
              </a:ext>
            </a:extLst>
          </p:cNvPr>
          <p:cNvSpPr txBox="1"/>
          <p:nvPr/>
        </p:nvSpPr>
        <p:spPr>
          <a:xfrm>
            <a:off x="3390900" y="3486150"/>
            <a:ext cx="2476500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② 然后给出公式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华文中宋"/>
              </a:rPr>
              <a:t>公式本体单独成行、编号，便于后文引用。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DC6BD6C-C7B3-4C65-A528-5144D8B8F223}"/>
              </a:ext>
            </a:extLst>
          </p:cNvPr>
          <p:cNvSpPr txBox="1"/>
          <p:nvPr/>
        </p:nvSpPr>
        <p:spPr>
          <a:xfrm>
            <a:off x="6324600" y="3486150"/>
            <a:ext cx="2590800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③ 公式之后解释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where ... denotes ..., and ... represents ....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55D0F0A-1648-4B86-8DB2-56CA017F9003}"/>
              </a:ext>
            </a:extLst>
          </p:cNvPr>
          <p:cNvSpPr txBox="1"/>
          <p:nvPr/>
        </p:nvSpPr>
        <p:spPr>
          <a:xfrm>
            <a:off x="9258300" y="3486150"/>
            <a:ext cx="2476500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④ 最后说明作用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This objective encourages the model to ...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321E674-556C-4815-A027-409CEE9ED0B0}"/>
              </a:ext>
            </a:extLst>
          </p:cNvPr>
          <p:cNvSpPr txBox="1"/>
          <p:nvPr/>
        </p:nvSpPr>
        <p:spPr>
          <a:xfrm>
            <a:off x="304800" y="4705350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尤其需要注意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33245457-BD09-471E-B981-C77F96E45BBB}"/>
              </a:ext>
            </a:extLst>
          </p:cNvPr>
          <p:cNvSpPr/>
          <p:nvPr/>
        </p:nvSpPr>
        <p:spPr>
          <a:xfrm>
            <a:off x="304800" y="5048250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4D12A64A-7D8F-4BDC-A81C-015B7D5088CA}"/>
              </a:ext>
            </a:extLst>
          </p:cNvPr>
          <p:cNvSpPr/>
          <p:nvPr/>
        </p:nvSpPr>
        <p:spPr>
          <a:xfrm>
            <a:off x="6248400" y="5048250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2A4F0F6-57FC-4E2B-8B4B-DC5BBA756420}"/>
              </a:ext>
            </a:extLst>
          </p:cNvPr>
          <p:cNvSpPr txBox="1"/>
          <p:nvPr/>
        </p:nvSpPr>
        <p:spPr>
          <a:xfrm>
            <a:off x="457200" y="521970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每个符号第一次出现时必须定义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同一个符号不要在不同地方表示不同含义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A4B690D-E5BE-4F03-8BC4-0929C83D4C26}"/>
              </a:ext>
            </a:extLst>
          </p:cNvPr>
          <p:cNvSpPr txBox="1"/>
          <p:nvPr/>
        </p:nvSpPr>
        <p:spPr>
          <a:xfrm>
            <a:off x="6400800" y="5219700"/>
            <a:ext cx="53340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不要使用过多没有必要的下标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· 公式应和正文逻辑绑定，而不是为了显得“数学化”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7ABE936-36C3-4D38-9DE5-FBC60D37A8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9B2C4124-48FB-445D-A518-74947C28BA94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BA0829A-B998-4F93-A154-43848765F232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90B5BAA-1F68-4EAF-8D90-58636AF60817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按模块展开细节，伪代码只作补充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DED9071-6CE8-4396-B123-C54BB322A88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第十三篇 Methods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B64C0A0-539C-4A65-ABA2-0479551501A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65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3C8D67D-5B2B-48F4-9907-F4E1537CD207}"/>
              </a:ext>
            </a:extLst>
          </p:cNvPr>
          <p:cNvSpPr/>
          <p:nvPr/>
        </p:nvSpPr>
        <p:spPr>
          <a:xfrm>
            <a:off x="304800" y="838200"/>
            <a:ext cx="56388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5B891D-5858-4D60-9284-9EC9E4DF7B26}"/>
              </a:ext>
            </a:extLst>
          </p:cNvPr>
          <p:cNvSpPr txBox="1"/>
          <p:nvPr/>
        </p:nvSpPr>
        <p:spPr>
          <a:xfrm>
            <a:off x="457200" y="136207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3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  Method Details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· 按模块展开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4BA25DA-9366-44C9-AC3D-C149FFDD6F96}"/>
              </a:ext>
            </a:extLst>
          </p:cNvPr>
          <p:cNvSpPr/>
          <p:nvPr/>
        </p:nvSpPr>
        <p:spPr>
          <a:xfrm>
            <a:off x="6248400" y="838200"/>
            <a:ext cx="56388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D4CBDA9-B972-4FCF-947C-D26BC6DEEBCA}"/>
              </a:ext>
            </a:extLst>
          </p:cNvPr>
          <p:cNvSpPr txBox="1"/>
          <p:nvPr/>
        </p:nvSpPr>
        <p:spPr>
          <a:xfrm>
            <a:off x="6400800" y="136207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算法可以用伪代码辅助说明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F31D48D-A33D-4DF0-A67E-1D781DA1E363}"/>
              </a:ext>
            </a:extLst>
          </p:cNvPr>
          <p:cNvSpPr txBox="1"/>
          <p:nvPr/>
        </p:nvSpPr>
        <p:spPr>
          <a:xfrm>
            <a:off x="304800" y="1781175"/>
            <a:ext cx="5334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Overview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之后，正文按模块展开方法细节。比如方法由三个模块组成，就可以写成三小节。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FDFD9F2-B241-41CC-929A-6453FBA07FEB}"/>
              </a:ext>
            </a:extLst>
          </p:cNvPr>
          <p:cNvSpPr txBox="1"/>
          <p:nvPr/>
        </p:nvSpPr>
        <p:spPr>
          <a:xfrm>
            <a:off x="304800" y="2390775"/>
            <a:ext cx="5334000" cy="18221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每个模块可以按下面顺序写：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① 这个模块解决什么问题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② 这个模块接收什么输入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③ 这个模块如何处理输入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④ 这个模块输出什么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⑤ 为什么这样设计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F83E1C7-5184-4590-8A06-0F9008467768}"/>
              </a:ext>
            </a:extLst>
          </p:cNvPr>
          <p:cNvSpPr/>
          <p:nvPr/>
        </p:nvSpPr>
        <p:spPr>
          <a:xfrm>
            <a:off x="304800" y="4200525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A48640B-6073-4ED6-9688-83AE4DC9F40B}"/>
              </a:ext>
            </a:extLst>
          </p:cNvPr>
          <p:cNvSpPr txBox="1"/>
          <p:nvPr/>
        </p:nvSpPr>
        <p:spPr>
          <a:xfrm>
            <a:off x="457200" y="4333875"/>
            <a:ext cx="5334000" cy="5191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不要只写模块名称和公式。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读者真正需要理解的是：这个模块在整个方法中承担什么功能。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92EE718-FB8C-4915-B536-341C3CEB0707}"/>
              </a:ext>
            </a:extLst>
          </p:cNvPr>
          <p:cNvSpPr txBox="1"/>
          <p:nvPr/>
        </p:nvSpPr>
        <p:spPr>
          <a:xfrm>
            <a:off x="6248400" y="1781175"/>
            <a:ext cx="5334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如果方法流程较复杂，可以加入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Algorithm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或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Pseudocode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，但伪代码不应替代正文解释。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A741C33-BFA3-4E3A-BD5A-E6F28640B7ED}"/>
              </a:ext>
            </a:extLst>
          </p:cNvPr>
          <p:cNvSpPr/>
          <p:nvPr/>
        </p:nvSpPr>
        <p:spPr>
          <a:xfrm>
            <a:off x="6248400" y="2371725"/>
            <a:ext cx="56388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F17FCFB-7A40-4E6B-ACB7-E8F9C88BF5C1}"/>
              </a:ext>
            </a:extLst>
          </p:cNvPr>
          <p:cNvSpPr/>
          <p:nvPr/>
        </p:nvSpPr>
        <p:spPr>
          <a:xfrm>
            <a:off x="6248400" y="2924175"/>
            <a:ext cx="56388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73C4FE9-A0C1-4C24-9FB2-5AE7E49EDB3E}"/>
              </a:ext>
            </a:extLst>
          </p:cNvPr>
          <p:cNvSpPr/>
          <p:nvPr/>
        </p:nvSpPr>
        <p:spPr>
          <a:xfrm>
            <a:off x="6248400" y="3476625"/>
            <a:ext cx="56388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DDFB783-8F47-40B8-9A05-411131AF7329}"/>
              </a:ext>
            </a:extLst>
          </p:cNvPr>
          <p:cNvSpPr txBox="1"/>
          <p:nvPr/>
        </p:nvSpPr>
        <p:spPr>
          <a:xfrm>
            <a:off x="6400800" y="24955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Step 1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 正文先解释算法目的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57E1713-F258-41B7-AA34-3275A02D44D6}"/>
              </a:ext>
            </a:extLst>
          </p:cNvPr>
          <p:cNvSpPr txBox="1"/>
          <p:nvPr/>
        </p:nvSpPr>
        <p:spPr>
          <a:xfrm>
            <a:off x="6400800" y="304800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Step 2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 伪代码展示完整流程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ECC8C35-C0D4-4C0A-81EF-255DFAB75B57}"/>
              </a:ext>
            </a:extLst>
          </p:cNvPr>
          <p:cNvSpPr txBox="1"/>
          <p:nvPr/>
        </p:nvSpPr>
        <p:spPr>
          <a:xfrm>
            <a:off x="6400800" y="3600450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7B2484"/>
                </a:solidFill>
                <a:latin typeface="Times New Roman"/>
                <a:ea typeface="Times New Roman"/>
              </a:rPr>
              <a:t>Step 3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 正文再解释关键步骤和设计理由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B49B6E6-77AC-42D8-88C5-D736B929078D}"/>
              </a:ext>
            </a:extLst>
          </p:cNvPr>
          <p:cNvSpPr/>
          <p:nvPr/>
        </p:nvSpPr>
        <p:spPr>
          <a:xfrm>
            <a:off x="6248400" y="4086225"/>
            <a:ext cx="56388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CDE1F74-6BDA-4FAE-90B7-BFA0DC1679CA}"/>
              </a:ext>
            </a:extLst>
          </p:cNvPr>
          <p:cNvSpPr txBox="1"/>
          <p:nvPr/>
        </p:nvSpPr>
        <p:spPr>
          <a:xfrm>
            <a:off x="6400800" y="4238625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伪代码中的变量也要和正文中的符号保持一致。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0D5E269D-95BA-4949-BF87-58024715AB3C}"/>
              </a:ext>
            </a:extLst>
          </p:cNvPr>
          <p:cNvSpPr/>
          <p:nvPr/>
        </p:nvSpPr>
        <p:spPr>
          <a:xfrm>
            <a:off x="304800" y="5191125"/>
            <a:ext cx="11582400" cy="533400"/>
          </a:xfrm>
          <a:prstGeom prst="roundRect">
            <a:avLst>
              <a:gd name="adj" fmla="val 1785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5DA8702-A904-428F-BB66-DE91E8EE4EC0}"/>
              </a:ext>
            </a:extLst>
          </p:cNvPr>
          <p:cNvSpPr txBox="1"/>
          <p:nvPr/>
        </p:nvSpPr>
        <p:spPr>
          <a:xfrm>
            <a:off x="457200" y="5324475"/>
            <a:ext cx="11277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模块写法要回答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“</a:t>
            </a: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它做什么、怎么处理、为什么这样设计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”；伪代码只是正文的补充，不是替代品。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1BC9DCB-5EBD-47B7-B6E9-BF69AC2606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BA4E789D-02A7-4F59-A743-7BC2A22341C0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C72105C-05CD-4F7A-8989-2D54260EE7A1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55B0427-76CB-48E9-8BB9-947B51B2CA2C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写清楚本文的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novelty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：新意到底在哪里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65E216-A305-4015-B579-F12B816E7F8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第十三篇 Methods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02BACA7-5E3C-4833-B64C-D452309887CC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66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974E5ED-25B1-46AA-97AF-31AD0ECDAD8C}"/>
              </a:ext>
            </a:extLst>
          </p:cNvPr>
          <p:cNvSpPr/>
          <p:nvPr/>
        </p:nvSpPr>
        <p:spPr>
          <a:xfrm>
            <a:off x="304800" y="838200"/>
            <a:ext cx="11582400" cy="838200"/>
          </a:xfrm>
          <a:prstGeom prst="roundRect">
            <a:avLst>
              <a:gd name="adj" fmla="val 1315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1AFECB0-04B2-48C4-B512-D9558772E590}"/>
              </a:ext>
            </a:extLst>
          </p:cNvPr>
          <p:cNvSpPr txBox="1"/>
          <p:nvPr/>
        </p:nvSpPr>
        <p:spPr>
          <a:xfrm>
            <a:off x="457200" y="990600"/>
            <a:ext cx="11277600" cy="59563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Methods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不能只描述方法，还要让读者知道：</a:t>
            </a:r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本文的新意在哪里。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EAD7F0"/>
                </a:solidFill>
                <a:latin typeface="Times New Roman"/>
                <a:ea typeface="华文中宋"/>
              </a:rPr>
              <a:t>可以在每个关键模块中说明下面四件事：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77A4C73-D8C2-4967-9817-36B158F64FE4}"/>
              </a:ext>
            </a:extLst>
          </p:cNvPr>
          <p:cNvSpPr/>
          <p:nvPr/>
        </p:nvSpPr>
        <p:spPr>
          <a:xfrm>
            <a:off x="304800" y="2114550"/>
            <a:ext cx="5638800" cy="6572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E868D33-7FD7-4BB2-9966-746F92D0C7F4}"/>
              </a:ext>
            </a:extLst>
          </p:cNvPr>
          <p:cNvSpPr/>
          <p:nvPr/>
        </p:nvSpPr>
        <p:spPr>
          <a:xfrm>
            <a:off x="6248400" y="2114550"/>
            <a:ext cx="5638800" cy="6572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0BCDD48-55C1-46A2-9D84-395A0DEDB3B8}"/>
              </a:ext>
            </a:extLst>
          </p:cNvPr>
          <p:cNvSpPr/>
          <p:nvPr/>
        </p:nvSpPr>
        <p:spPr>
          <a:xfrm>
            <a:off x="304800" y="3600450"/>
            <a:ext cx="5638800" cy="6572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9F2CBC6-A7E9-432A-8BB5-D31FA244F756}"/>
              </a:ext>
            </a:extLst>
          </p:cNvPr>
          <p:cNvSpPr/>
          <p:nvPr/>
        </p:nvSpPr>
        <p:spPr>
          <a:xfrm>
            <a:off x="6248400" y="3600450"/>
            <a:ext cx="5638800" cy="657225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9266DE4-4D70-4F1E-B959-DF1B0104681E}"/>
              </a:ext>
            </a:extLst>
          </p:cNvPr>
          <p:cNvSpPr txBox="1"/>
          <p:nvPr/>
        </p:nvSpPr>
        <p:spPr>
          <a:xfrm>
            <a:off x="457200" y="2200275"/>
            <a:ext cx="85725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B2484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C6EEB46-6B61-411E-B4A7-471C6BD76B58}"/>
              </a:ext>
            </a:extLst>
          </p:cNvPr>
          <p:cNvSpPr txBox="1"/>
          <p:nvPr/>
        </p:nvSpPr>
        <p:spPr>
          <a:xfrm>
            <a:off x="6400800" y="2200275"/>
            <a:ext cx="85725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B2484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6760798-5BB7-4894-A5D3-5D0EFEB63E9E}"/>
              </a:ext>
            </a:extLst>
          </p:cNvPr>
          <p:cNvSpPr txBox="1"/>
          <p:nvPr/>
        </p:nvSpPr>
        <p:spPr>
          <a:xfrm>
            <a:off x="457200" y="3686175"/>
            <a:ext cx="85725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B2484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6F13C37-0317-4C3E-9346-12973BF69757}"/>
              </a:ext>
            </a:extLst>
          </p:cNvPr>
          <p:cNvSpPr txBox="1"/>
          <p:nvPr/>
        </p:nvSpPr>
        <p:spPr>
          <a:xfrm>
            <a:off x="6400800" y="3686175"/>
            <a:ext cx="85725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7B2484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8B23F13-5D59-4B23-8BE3-906F539640D8}"/>
              </a:ext>
            </a:extLst>
          </p:cNvPr>
          <p:cNvSpPr txBox="1"/>
          <p:nvPr/>
        </p:nvSpPr>
        <p:spPr>
          <a:xfrm>
            <a:off x="1428750" y="2219325"/>
            <a:ext cx="409575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这个模块和已有方法有什么不同？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708A8F5-B0B2-4218-94F1-31843B1BBF92}"/>
              </a:ext>
            </a:extLst>
          </p:cNvPr>
          <p:cNvSpPr txBox="1"/>
          <p:nvPr/>
        </p:nvSpPr>
        <p:spPr>
          <a:xfrm>
            <a:off x="7372350" y="2219325"/>
            <a:ext cx="409575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为什么需要这个设计？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02A3DEE-8B75-4D40-8FAA-405B43F02EEF}"/>
              </a:ext>
            </a:extLst>
          </p:cNvPr>
          <p:cNvSpPr txBox="1"/>
          <p:nvPr/>
        </p:nvSpPr>
        <p:spPr>
          <a:xfrm>
            <a:off x="1428750" y="3705225"/>
            <a:ext cx="409575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它解决了什么具体问题？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8D831C5-6C73-4E33-B2E4-CAF6C5383421}"/>
              </a:ext>
            </a:extLst>
          </p:cNvPr>
          <p:cNvSpPr txBox="1"/>
          <p:nvPr/>
        </p:nvSpPr>
        <p:spPr>
          <a:xfrm>
            <a:off x="7372350" y="3705225"/>
            <a:ext cx="409575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如果没有这个模块会怎样？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AE43A345-307D-4E8D-83B8-0A9E69D21F3E}"/>
              </a:ext>
            </a:extLst>
          </p:cNvPr>
          <p:cNvSpPr/>
          <p:nvPr/>
        </p:nvSpPr>
        <p:spPr>
          <a:xfrm>
            <a:off x="304800" y="5162550"/>
            <a:ext cx="11582400" cy="800100"/>
          </a:xfrm>
          <a:prstGeom prst="roundRect">
            <a:avLst>
              <a:gd name="adj" fmla="val 11904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61A3D649-CCAA-431B-97AF-0035B5785015}"/>
              </a:ext>
            </a:extLst>
          </p:cNvPr>
          <p:cNvSpPr/>
          <p:nvPr/>
        </p:nvSpPr>
        <p:spPr>
          <a:xfrm>
            <a:off x="533400" y="5314950"/>
            <a:ext cx="57150" cy="495300"/>
          </a:xfrm>
          <a:prstGeom prst="roundRect">
            <a:avLst>
              <a:gd name="adj" fmla="val 50000"/>
            </a:avLst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03EE653-CCAC-490B-B011-31FAF559896A}"/>
              </a:ext>
            </a:extLst>
          </p:cNvPr>
          <p:cNvSpPr txBox="1"/>
          <p:nvPr/>
        </p:nvSpPr>
        <p:spPr>
          <a:xfrm>
            <a:off x="762000" y="5295900"/>
            <a:ext cx="10668000" cy="6055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但要注意：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Methods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中的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novelty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说明应当简洁，详细比较和效果证明应放在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Experiments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中。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B5743A"/>
                </a:solidFill>
                <a:latin typeface="Times New Roman"/>
                <a:ea typeface="华文中宋"/>
              </a:rPr>
              <a:t>把“为什么不一样”在 </a:t>
            </a:r>
            <a:r>
              <a:rPr sz="1300">
                <a:solidFill>
                  <a:srgbClr val="B5743A"/>
                </a:solidFill>
                <a:latin typeface="Times New Roman"/>
                <a:ea typeface="Times New Roman"/>
              </a:rPr>
              <a:t>Methods</a:t>
            </a:r>
            <a:r>
              <a:rPr sz="1300">
                <a:solidFill>
                  <a:srgbClr val="B5743A"/>
                </a:solidFill>
                <a:latin typeface="Times New Roman"/>
                <a:ea typeface="华文中宋"/>
              </a:rPr>
              <a:t> 说清楚，把“到底有多好”交给实验证明。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C30F126-A924-4AE5-947C-D423674447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D61ECC98-3E8E-4A0A-B4B0-9E205EAED38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FF9DC9A-BE1B-4E27-846F-0BCA09A9A2FD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9F9FCCF-7831-4FDA-99DB-BDE2D0C34DCD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实验章节的骨架：七个常见小节，按需取舍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83198D-6283-4D4A-BCD0-D7317633B5DE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第十四篇 Experiments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3AEA9D9-9AE7-47C9-9A79-463B49CE182A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67 / 86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5ABBA3-B697-4C86-ACA0-FE428BD4CA69}"/>
              </a:ext>
            </a:extLst>
          </p:cNvPr>
          <p:cNvSpPr txBox="1"/>
          <p:nvPr/>
        </p:nvSpPr>
        <p:spPr>
          <a:xfrm>
            <a:off x="304800" y="838200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A2430"/>
                </a:solidFill>
                <a:latin typeface="Times New Roman"/>
                <a:ea typeface="Times New Roman"/>
              </a:rPr>
              <a:t>Experiments</a:t>
            </a:r>
            <a:r>
              <a:rPr sz="1700" b="1">
                <a:solidFill>
                  <a:srgbClr val="1A2430"/>
                </a:solidFill>
                <a:latin typeface="Times New Roman"/>
                <a:ea typeface="华文中宋"/>
              </a:rPr>
              <a:t> 的大致结构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FB0F0F1-678E-41D3-AEBA-33AA027345A5}"/>
              </a:ext>
            </a:extLst>
          </p:cNvPr>
          <p:cNvSpPr/>
          <p:nvPr/>
        </p:nvSpPr>
        <p:spPr>
          <a:xfrm>
            <a:off x="304800" y="1666875"/>
            <a:ext cx="5638800" cy="857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DD5BCF0-B564-4522-AC3F-40FF8F09E3FB}"/>
              </a:ext>
            </a:extLst>
          </p:cNvPr>
          <p:cNvSpPr/>
          <p:nvPr/>
        </p:nvSpPr>
        <p:spPr>
          <a:xfrm>
            <a:off x="304800" y="2695575"/>
            <a:ext cx="5638800" cy="857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3840850-6E98-4BF7-A7D4-C032F705F49F}"/>
              </a:ext>
            </a:extLst>
          </p:cNvPr>
          <p:cNvSpPr/>
          <p:nvPr/>
        </p:nvSpPr>
        <p:spPr>
          <a:xfrm>
            <a:off x="304800" y="3724275"/>
            <a:ext cx="5638800" cy="857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1CAE4AF-E233-4813-B38C-341373137F9A}"/>
              </a:ext>
            </a:extLst>
          </p:cNvPr>
          <p:cNvSpPr/>
          <p:nvPr/>
        </p:nvSpPr>
        <p:spPr>
          <a:xfrm>
            <a:off x="304800" y="4752975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D6DC84C-2976-4D9A-A0ED-4BEFB70F5B9C}"/>
              </a:ext>
            </a:extLst>
          </p:cNvPr>
          <p:cNvSpPr/>
          <p:nvPr/>
        </p:nvSpPr>
        <p:spPr>
          <a:xfrm>
            <a:off x="6248400" y="1666875"/>
            <a:ext cx="5638800" cy="857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F2F8627-A0F1-42C1-BFB5-6DD196966E44}"/>
              </a:ext>
            </a:extLst>
          </p:cNvPr>
          <p:cNvSpPr/>
          <p:nvPr/>
        </p:nvSpPr>
        <p:spPr>
          <a:xfrm>
            <a:off x="6248400" y="2695575"/>
            <a:ext cx="5638800" cy="857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F9709B0-4D91-455D-B135-62D008F63532}"/>
              </a:ext>
            </a:extLst>
          </p:cNvPr>
          <p:cNvSpPr/>
          <p:nvPr/>
        </p:nvSpPr>
        <p:spPr>
          <a:xfrm>
            <a:off x="6248400" y="3724275"/>
            <a:ext cx="5638800" cy="857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3B81967-34CD-416B-BC1A-131119462B9A}"/>
              </a:ext>
            </a:extLst>
          </p:cNvPr>
          <p:cNvSpPr/>
          <p:nvPr/>
        </p:nvSpPr>
        <p:spPr>
          <a:xfrm>
            <a:off x="457200" y="19716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37B3227-07FD-4880-92B0-7BA6C6D42475}"/>
              </a:ext>
            </a:extLst>
          </p:cNvPr>
          <p:cNvSpPr/>
          <p:nvPr/>
        </p:nvSpPr>
        <p:spPr>
          <a:xfrm>
            <a:off x="457200" y="30003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362286E-CE51-447C-B06E-53BD6F304819}"/>
              </a:ext>
            </a:extLst>
          </p:cNvPr>
          <p:cNvSpPr/>
          <p:nvPr/>
        </p:nvSpPr>
        <p:spPr>
          <a:xfrm>
            <a:off x="457200" y="40290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090EE0B-542B-4DF9-AF6E-CDD03420A83A}"/>
              </a:ext>
            </a:extLst>
          </p:cNvPr>
          <p:cNvSpPr/>
          <p:nvPr/>
        </p:nvSpPr>
        <p:spPr>
          <a:xfrm>
            <a:off x="457200" y="50577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7309967-D4F3-4953-BAED-F3CC073837C9}"/>
              </a:ext>
            </a:extLst>
          </p:cNvPr>
          <p:cNvSpPr/>
          <p:nvPr/>
        </p:nvSpPr>
        <p:spPr>
          <a:xfrm>
            <a:off x="6400800" y="19716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1A65435-55B6-400E-A67F-779E8FCD8FE7}"/>
              </a:ext>
            </a:extLst>
          </p:cNvPr>
          <p:cNvSpPr/>
          <p:nvPr/>
        </p:nvSpPr>
        <p:spPr>
          <a:xfrm>
            <a:off x="6400800" y="30003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442EAE9-59D8-4617-A17E-A2E15381E06D}"/>
              </a:ext>
            </a:extLst>
          </p:cNvPr>
          <p:cNvSpPr/>
          <p:nvPr/>
        </p:nvSpPr>
        <p:spPr>
          <a:xfrm>
            <a:off x="6400800" y="402907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543F387-DCEF-4E2A-ADA8-D8688987AB99}"/>
              </a:ext>
            </a:extLst>
          </p:cNvPr>
          <p:cNvSpPr txBox="1"/>
          <p:nvPr/>
        </p:nvSpPr>
        <p:spPr>
          <a:xfrm>
            <a:off x="457200" y="20478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8685E4C-0FCA-4690-84C4-283462795B83}"/>
              </a:ext>
            </a:extLst>
          </p:cNvPr>
          <p:cNvSpPr txBox="1"/>
          <p:nvPr/>
        </p:nvSpPr>
        <p:spPr>
          <a:xfrm>
            <a:off x="457200" y="30765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0BF5963-74A7-4CA6-BE40-2460C5F59F2E}"/>
              </a:ext>
            </a:extLst>
          </p:cNvPr>
          <p:cNvSpPr txBox="1"/>
          <p:nvPr/>
        </p:nvSpPr>
        <p:spPr>
          <a:xfrm>
            <a:off x="457200" y="41052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F861CA8-A407-48B1-9082-F0145A256B2C}"/>
              </a:ext>
            </a:extLst>
          </p:cNvPr>
          <p:cNvSpPr txBox="1"/>
          <p:nvPr/>
        </p:nvSpPr>
        <p:spPr>
          <a:xfrm>
            <a:off x="457200" y="51339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626A6EA-C3A4-451F-8325-AF7E1689D2CA}"/>
              </a:ext>
            </a:extLst>
          </p:cNvPr>
          <p:cNvSpPr txBox="1"/>
          <p:nvPr/>
        </p:nvSpPr>
        <p:spPr>
          <a:xfrm>
            <a:off x="6400800" y="20478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6EB2093-C5E4-473C-91A8-C9856D5CC333}"/>
              </a:ext>
            </a:extLst>
          </p:cNvPr>
          <p:cNvSpPr txBox="1"/>
          <p:nvPr/>
        </p:nvSpPr>
        <p:spPr>
          <a:xfrm>
            <a:off x="6400800" y="30765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29986DA-177E-47E0-9014-836788D43059}"/>
              </a:ext>
            </a:extLst>
          </p:cNvPr>
          <p:cNvSpPr txBox="1"/>
          <p:nvPr/>
        </p:nvSpPr>
        <p:spPr>
          <a:xfrm>
            <a:off x="6400800" y="4105275"/>
            <a:ext cx="3429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B1F151C-818B-44A2-BABF-99ADA2811174}"/>
              </a:ext>
            </a:extLst>
          </p:cNvPr>
          <p:cNvSpPr txBox="1"/>
          <p:nvPr/>
        </p:nvSpPr>
        <p:spPr>
          <a:xfrm>
            <a:off x="914400" y="18383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Experimental Setup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实验设置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F5E16A0-6D59-4677-B7CD-D9D1A5798042}"/>
              </a:ext>
            </a:extLst>
          </p:cNvPr>
          <p:cNvSpPr txBox="1"/>
          <p:nvPr/>
        </p:nvSpPr>
        <p:spPr>
          <a:xfrm>
            <a:off x="914400" y="28670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Main Results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主结果，往往对应论文的主表和主图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2B69CDC-3717-4B3B-8371-7145ADA39F78}"/>
              </a:ext>
            </a:extLst>
          </p:cNvPr>
          <p:cNvSpPr txBox="1"/>
          <p:nvPr/>
        </p:nvSpPr>
        <p:spPr>
          <a:xfrm>
            <a:off x="914400" y="38957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Ablation Study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证明关键模块或设计确实有用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ABD62C3-CCE5-4334-B497-C1C630084264}"/>
              </a:ext>
            </a:extLst>
          </p:cNvPr>
          <p:cNvSpPr txBox="1"/>
          <p:nvPr/>
        </p:nvSpPr>
        <p:spPr>
          <a:xfrm>
            <a:off x="914400" y="49244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Analysis / Further Study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解释方法的行为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B6781C9-B79F-4689-9F15-611D02DDC044}"/>
              </a:ext>
            </a:extLst>
          </p:cNvPr>
          <p:cNvSpPr txBox="1"/>
          <p:nvPr/>
        </p:nvSpPr>
        <p:spPr>
          <a:xfrm>
            <a:off x="6858000" y="18383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Case Study / Visualization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数字说不清时，用案例和可视化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8816DF21-CA3F-4061-86D1-14949B4D9371}"/>
              </a:ext>
            </a:extLst>
          </p:cNvPr>
          <p:cNvSpPr txBox="1"/>
          <p:nvPr/>
        </p:nvSpPr>
        <p:spPr>
          <a:xfrm>
            <a:off x="6858000" y="28670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Robustness / Generalization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稳健性与泛化能力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4833D8D2-0B49-41FD-BDF6-C3A1414946F0}"/>
              </a:ext>
            </a:extLst>
          </p:cNvPr>
          <p:cNvSpPr txBox="1"/>
          <p:nvPr/>
        </p:nvSpPr>
        <p:spPr>
          <a:xfrm>
            <a:off x="6858000" y="3895725"/>
            <a:ext cx="48768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7B2484"/>
                </a:solidFill>
                <a:latin typeface="Times New Roman"/>
                <a:ea typeface="Times New Roman"/>
              </a:rPr>
              <a:t>Efficiency / Cost Analysis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效率与成本分析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57D6FEC1-B131-466E-A10F-432B5E00A9F4}"/>
              </a:ext>
            </a:extLst>
          </p:cNvPr>
          <p:cNvSpPr/>
          <p:nvPr/>
        </p:nvSpPr>
        <p:spPr>
          <a:xfrm>
            <a:off x="6248400" y="4752975"/>
            <a:ext cx="5638800" cy="952500"/>
          </a:xfrm>
          <a:prstGeom prst="roundRect">
            <a:avLst>
              <a:gd name="adj" fmla="val 1000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0B6721D-12AA-462D-9855-768CED7EAC07}"/>
              </a:ext>
            </a:extLst>
          </p:cNvPr>
          <p:cNvSpPr txBox="1"/>
          <p:nvPr/>
        </p:nvSpPr>
        <p:spPr>
          <a:xfrm>
            <a:off x="6400800" y="4886325"/>
            <a:ext cx="5334000" cy="8188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B5743A"/>
                </a:solidFill>
                <a:latin typeface="Times New Roman"/>
                <a:ea typeface="华文中宋"/>
              </a:rPr>
              <a:t>取舍原则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并不是每篇论文都需要全部包含。实验结构应服务于本文贡献，而不是为了显得实验很多。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58FD113-991F-4268-A013-CCA3302D6F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ABEE5478-F875-4D9B-A9AF-5300CDC5D79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D68A67E-58B2-441B-8326-677C75B2F5D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EF4B98-BC23-4CBE-9A09-961DE86E238C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7B2484"/>
                </a:solidFill>
                <a:latin typeface="Times New Roman"/>
                <a:ea typeface="Times New Roman"/>
              </a:rPr>
              <a:t>Experimental Setup</a:t>
            </a:r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：先说清楚实验在什么条件下完成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46D4C2-EEBD-40E9-9AB0-ECFD92AFAF86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第十四篇 Experiments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62CA21-1110-42F9-9FA2-2E596A5B9EC4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68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E272B09-F470-497E-8513-3CC32C950F9F}"/>
              </a:ext>
            </a:extLst>
          </p:cNvPr>
          <p:cNvSpPr/>
          <p:nvPr/>
        </p:nvSpPr>
        <p:spPr>
          <a:xfrm>
            <a:off x="304800" y="838200"/>
            <a:ext cx="11582400" cy="514350"/>
          </a:xfrm>
          <a:prstGeom prst="roundRect">
            <a:avLst>
              <a:gd name="adj" fmla="val 185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F4EAF0-A091-4DB9-9B64-ABB0DA3077AA}"/>
              </a:ext>
            </a:extLst>
          </p:cNvPr>
          <p:cNvSpPr txBox="1"/>
          <p:nvPr/>
        </p:nvSpPr>
        <p:spPr>
          <a:xfrm>
            <a:off x="457200" y="971550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Setup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是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Experiments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的基础：它的作用是</a:t>
            </a: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让读者理解实验是在什么条件下完成的。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6A5BD65-3784-44E4-810C-2EAFD1FDDD77}"/>
              </a:ext>
            </a:extLst>
          </p:cNvPr>
          <p:cNvSpPr txBox="1"/>
          <p:nvPr/>
        </p:nvSpPr>
        <p:spPr>
          <a:xfrm>
            <a:off x="304800" y="1504950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通常需要交代七件事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E7CC8C5-4D5C-428E-8C54-6A212D14705F}"/>
              </a:ext>
            </a:extLst>
          </p:cNvPr>
          <p:cNvSpPr/>
          <p:nvPr/>
        </p:nvSpPr>
        <p:spPr>
          <a:xfrm>
            <a:off x="304800" y="18669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A576C0-2FDA-4692-9C7C-820F24BE7011}"/>
              </a:ext>
            </a:extLst>
          </p:cNvPr>
          <p:cNvSpPr txBox="1"/>
          <p:nvPr/>
        </p:nvSpPr>
        <p:spPr>
          <a:xfrm>
            <a:off x="457200" y="21050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1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使用哪些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datasets / benchmarks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71C57B9-31EF-456C-86B2-7395740FE9BA}"/>
              </a:ext>
            </a:extLst>
          </p:cNvPr>
          <p:cNvSpPr/>
          <p:nvPr/>
        </p:nvSpPr>
        <p:spPr>
          <a:xfrm>
            <a:off x="304800" y="26670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AF819FA-A130-4B38-9173-CBD94EC82187}"/>
              </a:ext>
            </a:extLst>
          </p:cNvPr>
          <p:cNvSpPr txBox="1"/>
          <p:nvPr/>
        </p:nvSpPr>
        <p:spPr>
          <a:xfrm>
            <a:off x="457200" y="29051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2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比较哪些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baselines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C663C3F-D320-4AD7-8352-D530E6FC6C09}"/>
              </a:ext>
            </a:extLst>
          </p:cNvPr>
          <p:cNvSpPr/>
          <p:nvPr/>
        </p:nvSpPr>
        <p:spPr>
          <a:xfrm>
            <a:off x="304800" y="34671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A24358F-F6DB-4D51-8F2D-F2412B84C7DC}"/>
              </a:ext>
            </a:extLst>
          </p:cNvPr>
          <p:cNvSpPr txBox="1"/>
          <p:nvPr/>
        </p:nvSpPr>
        <p:spPr>
          <a:xfrm>
            <a:off x="457200" y="37052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3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使用哪些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evaluation metrics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C79B612-2070-4727-A56A-316CC97C3F9A}"/>
              </a:ext>
            </a:extLst>
          </p:cNvPr>
          <p:cNvSpPr/>
          <p:nvPr/>
        </p:nvSpPr>
        <p:spPr>
          <a:xfrm>
            <a:off x="304800" y="42672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FE64981-370B-46AB-9F23-F186FBFA4617}"/>
              </a:ext>
            </a:extLst>
          </p:cNvPr>
          <p:cNvSpPr txBox="1"/>
          <p:nvPr/>
        </p:nvSpPr>
        <p:spPr>
          <a:xfrm>
            <a:off x="457200" y="45053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4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模型实现细节是什么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F5253DAB-C7A8-4D9E-ABD0-23864942FC41}"/>
              </a:ext>
            </a:extLst>
          </p:cNvPr>
          <p:cNvSpPr/>
          <p:nvPr/>
        </p:nvSpPr>
        <p:spPr>
          <a:xfrm>
            <a:off x="6248400" y="18669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060E8BA-6B51-4815-9344-B6E1DB43AA15}"/>
              </a:ext>
            </a:extLst>
          </p:cNvPr>
          <p:cNvSpPr txBox="1"/>
          <p:nvPr/>
        </p:nvSpPr>
        <p:spPr>
          <a:xfrm>
            <a:off x="6400800" y="21050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5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训练和推理参数是什么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A11E196-53B1-42DB-929D-F28C0FF90C72}"/>
              </a:ext>
            </a:extLst>
          </p:cNvPr>
          <p:cNvSpPr/>
          <p:nvPr/>
        </p:nvSpPr>
        <p:spPr>
          <a:xfrm>
            <a:off x="6248400" y="26670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98C5408-05AA-4A6D-80D1-A08326BCCA95}"/>
              </a:ext>
            </a:extLst>
          </p:cNvPr>
          <p:cNvSpPr txBox="1"/>
          <p:nvPr/>
        </p:nvSpPr>
        <p:spPr>
          <a:xfrm>
            <a:off x="6400800" y="29051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6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实验重复次数、随机种子和统计方式是什么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FC56749C-F4E8-4EE8-835E-2DE247FA4EB8}"/>
              </a:ext>
            </a:extLst>
          </p:cNvPr>
          <p:cNvSpPr/>
          <p:nvPr/>
        </p:nvSpPr>
        <p:spPr>
          <a:xfrm>
            <a:off x="6248400" y="34671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3947311-D205-4D32-A82E-2AD37919C36A}"/>
              </a:ext>
            </a:extLst>
          </p:cNvPr>
          <p:cNvSpPr txBox="1"/>
          <p:nvPr/>
        </p:nvSpPr>
        <p:spPr>
          <a:xfrm>
            <a:off x="6400800" y="37052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7B2484"/>
                </a:solidFill>
                <a:latin typeface="Times New Roman"/>
                <a:ea typeface="Times New Roman"/>
              </a:rPr>
              <a:t>7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 所有方法是否在公平条件下比较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2A0EF68-3818-4FCA-8635-3DEE9E40DF19}"/>
              </a:ext>
            </a:extLst>
          </p:cNvPr>
          <p:cNvSpPr/>
          <p:nvPr/>
        </p:nvSpPr>
        <p:spPr>
          <a:xfrm>
            <a:off x="6248400" y="4267200"/>
            <a:ext cx="5638800" cy="723900"/>
          </a:xfrm>
          <a:prstGeom prst="roundRect">
            <a:avLst>
              <a:gd name="adj" fmla="val 13157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F2074B2-F7F4-491D-91EC-1F0AB0943BDE}"/>
              </a:ext>
            </a:extLst>
          </p:cNvPr>
          <p:cNvSpPr txBox="1"/>
          <p:nvPr/>
        </p:nvSpPr>
        <p:spPr>
          <a:xfrm>
            <a:off x="6400800" y="4505325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如果细节过多，可以在附录中进一步补充。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411C2985-551A-44CD-A63D-D62E222740E8}"/>
              </a:ext>
            </a:extLst>
          </p:cNvPr>
          <p:cNvSpPr/>
          <p:nvPr/>
        </p:nvSpPr>
        <p:spPr>
          <a:xfrm>
            <a:off x="304800" y="5219700"/>
            <a:ext cx="11582400" cy="762000"/>
          </a:xfrm>
          <a:prstGeom prst="roundRect">
            <a:avLst>
              <a:gd name="adj" fmla="val 125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32ED5F3-ADC9-4238-83FA-DE420037950D}"/>
              </a:ext>
            </a:extLst>
          </p:cNvPr>
          <p:cNvSpPr txBox="1"/>
          <p:nvPr/>
        </p:nvSpPr>
        <p:spPr>
          <a:xfrm>
            <a:off x="457200" y="5334000"/>
            <a:ext cx="11277600" cy="58572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这一部分要写得清楚、具体，避免模糊表达。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Setup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里的每一项都是审稿人判断结果是否可信的依据。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75E6E0D-8ABD-44F3-B1AD-B84885FF48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93BC1672-429D-4E38-9AF0-17162B03CE11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EADA9B5-151E-4F96-A6E1-44B9C711CA74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12B8C2-9E32-4516-8B60-7D4C828C0101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Main Results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：让结果服务于核心结论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D9B0170-000D-4007-9FD7-F1B13FA19374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第十四篇 Experiments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9E12265-509A-4C2F-A185-89C853220505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69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6EB2814-8C1E-4010-9C16-DD33F642D539}"/>
              </a:ext>
            </a:extLst>
          </p:cNvPr>
          <p:cNvSpPr/>
          <p:nvPr/>
        </p:nvSpPr>
        <p:spPr>
          <a:xfrm>
            <a:off x="304800" y="838200"/>
            <a:ext cx="11582400" cy="514350"/>
          </a:xfrm>
          <a:prstGeom prst="roundRect">
            <a:avLst>
              <a:gd name="adj" fmla="val 185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A14FEBD-F026-49B3-B9C6-ABBB73145E77}"/>
              </a:ext>
            </a:extLst>
          </p:cNvPr>
          <p:cNvSpPr txBox="1"/>
          <p:nvPr/>
        </p:nvSpPr>
        <p:spPr>
          <a:xfrm>
            <a:off x="457200" y="971550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通常是 </a:t>
            </a:r>
            <a:r>
              <a:rPr sz="1300" b="1">
                <a:solidFill>
                  <a:srgbClr val="FFC845"/>
                </a:solidFill>
                <a:latin typeface="Times New Roman"/>
                <a:ea typeface="Times New Roman"/>
              </a:rPr>
              <a:t>Experiments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中最重要的部分，往往对应论文的主表和主图。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684C618-9E5A-42F9-889A-C062DBEBB682}"/>
              </a:ext>
            </a:extLst>
          </p:cNvPr>
          <p:cNvSpPr txBox="1"/>
          <p:nvPr/>
        </p:nvSpPr>
        <p:spPr>
          <a:xfrm>
            <a:off x="304800" y="1933575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这一节要回答四个问题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E34FA9C-9A2C-447B-9607-3ECD9188DA00}"/>
              </a:ext>
            </a:extLst>
          </p:cNvPr>
          <p:cNvSpPr/>
          <p:nvPr/>
        </p:nvSpPr>
        <p:spPr>
          <a:xfrm>
            <a:off x="304800" y="2295525"/>
            <a:ext cx="56388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2BF1B7-FF88-43C7-94AB-CA70D0EAA9DA}"/>
              </a:ext>
            </a:extLst>
          </p:cNvPr>
          <p:cNvSpPr txBox="1"/>
          <p:nvPr/>
        </p:nvSpPr>
        <p:spPr>
          <a:xfrm>
            <a:off x="914400" y="2428875"/>
            <a:ext cx="50292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7B2484"/>
                </a:solidFill>
                <a:latin typeface="Times New Roman"/>
                <a:ea typeface="Times New Roman"/>
              </a:rPr>
              <a:t>Q1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本文方法是否优于已有方法？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主表要能直接回答本文的核心主张。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291B485-A306-4441-992A-AD9632007EA1}"/>
              </a:ext>
            </a:extLst>
          </p:cNvPr>
          <p:cNvSpPr/>
          <p:nvPr/>
        </p:nvSpPr>
        <p:spPr>
          <a:xfrm>
            <a:off x="304800" y="3190875"/>
            <a:ext cx="56388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7A7F80C-ED0F-485D-A99F-C84706B1E88F}"/>
              </a:ext>
            </a:extLst>
          </p:cNvPr>
          <p:cNvSpPr txBox="1"/>
          <p:nvPr/>
        </p:nvSpPr>
        <p:spPr>
          <a:xfrm>
            <a:off x="914400" y="3324225"/>
            <a:ext cx="50292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7B2484"/>
                </a:solidFill>
                <a:latin typeface="Times New Roman"/>
                <a:ea typeface="Times New Roman"/>
              </a:rPr>
              <a:t>Q2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在哪些数据集或任务上提升明显？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把提升写具体，而不是只说效果好。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1B2F7CC-830B-4197-8374-175D42BBED73}"/>
              </a:ext>
            </a:extLst>
          </p:cNvPr>
          <p:cNvSpPr/>
          <p:nvPr/>
        </p:nvSpPr>
        <p:spPr>
          <a:xfrm>
            <a:off x="304800" y="4086225"/>
            <a:ext cx="56388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7EEE23A-91CF-4779-B06C-799AB77BCEAF}"/>
              </a:ext>
            </a:extLst>
          </p:cNvPr>
          <p:cNvSpPr txBox="1"/>
          <p:nvPr/>
        </p:nvSpPr>
        <p:spPr>
          <a:xfrm>
            <a:off x="914400" y="4219575"/>
            <a:ext cx="50292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7B2484"/>
                </a:solidFill>
                <a:latin typeface="Times New Roman"/>
                <a:ea typeface="Times New Roman"/>
              </a:rPr>
              <a:t>Q3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哪些结果最能支撑论文贡献？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围绕贡献选择要展开讲的结果。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131AB05-28F0-4F14-B15A-BCE37F203E8D}"/>
              </a:ext>
            </a:extLst>
          </p:cNvPr>
          <p:cNvSpPr/>
          <p:nvPr/>
        </p:nvSpPr>
        <p:spPr>
          <a:xfrm>
            <a:off x="304800" y="4981575"/>
            <a:ext cx="56388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8190AA1-AE9B-4B9C-8A02-5A37CDCF5968}"/>
              </a:ext>
            </a:extLst>
          </p:cNvPr>
          <p:cNvSpPr txBox="1"/>
          <p:nvPr/>
        </p:nvSpPr>
        <p:spPr>
          <a:xfrm>
            <a:off x="914400" y="5114925"/>
            <a:ext cx="5029200" cy="590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7B2484"/>
                </a:solidFill>
                <a:latin typeface="Times New Roman"/>
                <a:ea typeface="Times New Roman"/>
              </a:rPr>
              <a:t>Q4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是否存在没有提升或提升较小的情况？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不回避，并说明背后的原因。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64B3F48-2B94-4625-8434-D558FD308D47}"/>
              </a:ext>
            </a:extLst>
          </p:cNvPr>
          <p:cNvSpPr/>
          <p:nvPr/>
        </p:nvSpPr>
        <p:spPr>
          <a:xfrm>
            <a:off x="6248400" y="2295525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5BB0BB6-F41D-452A-B375-A70C19A125C1}"/>
              </a:ext>
            </a:extLst>
          </p:cNvPr>
          <p:cNvSpPr txBox="1"/>
          <p:nvPr/>
        </p:nvSpPr>
        <p:spPr>
          <a:xfrm>
            <a:off x="6400800" y="2447925"/>
            <a:ext cx="5334000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不要只是写 “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Table 1 shows the results</a:t>
            </a:r>
            <a:r>
              <a:rPr sz="1200">
                <a:solidFill>
                  <a:srgbClr val="B5743A"/>
                </a:solidFill>
                <a:latin typeface="Times New Roman"/>
                <a:ea typeface="华文中宋"/>
              </a:rPr>
              <a:t>”。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应该告诉读者从表中应当看什么。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90EE515-4094-4C0A-AE97-85D511EB6C79}"/>
              </a:ext>
            </a:extLst>
          </p:cNvPr>
          <p:cNvSpPr/>
          <p:nvPr/>
        </p:nvSpPr>
        <p:spPr>
          <a:xfrm>
            <a:off x="6248400" y="3305175"/>
            <a:ext cx="5638800" cy="249555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BD3C917-8400-4B62-AC7E-5C5185B943D0}"/>
              </a:ext>
            </a:extLst>
          </p:cNvPr>
          <p:cNvSpPr txBox="1"/>
          <p:nvPr/>
        </p:nvSpPr>
        <p:spPr>
          <a:xfrm>
            <a:off x="6400800" y="3476625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0B56A8"/>
                </a:solidFill>
                <a:latin typeface="Times New Roman"/>
                <a:ea typeface="华文中宋"/>
              </a:rPr>
              <a:t>推荐的结构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8C16435-C42B-402A-8767-1B09E2BFAE1B}"/>
              </a:ext>
            </a:extLst>
          </p:cNvPr>
          <p:cNvSpPr txBox="1"/>
          <p:nvPr/>
        </p:nvSpPr>
        <p:spPr>
          <a:xfrm>
            <a:off x="6400800" y="3781425"/>
            <a:ext cx="53340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Table 1 compares our method with existing baselines on ... . Our method achieves the best performance on ... , suggesting that ...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一句话里同时完成三件事：指出在哪张表、比较了谁、结论说明了什么。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D7B03CD-F5B7-45D2-8B7E-DA30202AB8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425B5ED2-2F0A-4AB8-BE96-928DFB21EE7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3D1CDCB-02E2-4F97-B6D5-80CFF7A84448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FB1FD1-FB7C-4928-A0EE-AB169052D029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7B2484"/>
                </a:solidFill>
                <a:latin typeface="Times New Roman"/>
                <a:ea typeface="Times New Roman"/>
              </a:rPr>
              <a:t>Ablation Study</a:t>
            </a:r>
            <a:r>
              <a:rPr sz="2400" b="1">
                <a:solidFill>
                  <a:srgbClr val="7B2484"/>
                </a:solidFill>
                <a:latin typeface="Times New Roman"/>
                <a:ea typeface="华文中宋"/>
              </a:rPr>
              <a:t>：证明每个设计都不是随意加的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F020CF-EDB7-467E-BFD3-2F100C89B2BA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第十四篇 Experiments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54F783-1197-4F38-A1A7-EECCE245D97A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70 / 86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B60469C-F8CD-40FA-87FF-3D626BA53729}"/>
              </a:ext>
            </a:extLst>
          </p:cNvPr>
          <p:cNvSpPr/>
          <p:nvPr/>
        </p:nvSpPr>
        <p:spPr>
          <a:xfrm>
            <a:off x="304800" y="838200"/>
            <a:ext cx="11582400" cy="514350"/>
          </a:xfrm>
          <a:prstGeom prst="roundRect">
            <a:avLst>
              <a:gd name="adj" fmla="val 185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52028C5-8300-4430-9FE6-C33B17737E40}"/>
              </a:ext>
            </a:extLst>
          </p:cNvPr>
          <p:cNvSpPr txBox="1"/>
          <p:nvPr/>
        </p:nvSpPr>
        <p:spPr>
          <a:xfrm>
            <a:off x="457200" y="971550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任务是证明：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本文提出的关键模块或设计不是随意添加的，而是确实有用。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A969813-4D19-4F12-B877-719B6B092458}"/>
              </a:ext>
            </a:extLst>
          </p:cNvPr>
          <p:cNvSpPr txBox="1"/>
          <p:nvPr/>
        </p:nvSpPr>
        <p:spPr>
          <a:xfrm>
            <a:off x="304800" y="1466850"/>
            <a:ext cx="5715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A2430"/>
                </a:solidFill>
                <a:latin typeface="Times New Roman"/>
                <a:ea typeface="华文中宋"/>
              </a:rPr>
              <a:t>常见的六类消融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2A507D6-0C36-48DD-9C60-E87E24D55FBA}"/>
              </a:ext>
            </a:extLst>
          </p:cNvPr>
          <p:cNvSpPr/>
          <p:nvPr/>
        </p:nvSpPr>
        <p:spPr>
          <a:xfrm>
            <a:off x="304800" y="1771650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DA757F1-59D5-4B69-A265-8EE28D12FE13}"/>
              </a:ext>
            </a:extLst>
          </p:cNvPr>
          <p:cNvSpPr txBox="1"/>
          <p:nvPr/>
        </p:nvSpPr>
        <p:spPr>
          <a:xfrm>
            <a:off x="457200" y="190500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7B2484"/>
                </a:solidFill>
                <a:latin typeface="Times New Roman"/>
                <a:ea typeface="Times New Roman"/>
              </a:rPr>
              <a:t>01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去掉某个模块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看少了它性能是否下降。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E16D4E9-93D1-4E8F-9B8B-8D301EA599E9}"/>
              </a:ext>
            </a:extLst>
          </p:cNvPr>
          <p:cNvSpPr/>
          <p:nvPr/>
        </p:nvSpPr>
        <p:spPr>
          <a:xfrm>
            <a:off x="6248400" y="1771650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762BF16-580C-4455-BC87-ADC98AB7BB92}"/>
              </a:ext>
            </a:extLst>
          </p:cNvPr>
          <p:cNvSpPr txBox="1"/>
          <p:nvPr/>
        </p:nvSpPr>
        <p:spPr>
          <a:xfrm>
            <a:off x="6400800" y="190500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7B2484"/>
                </a:solidFill>
                <a:latin typeface="Times New Roman"/>
                <a:ea typeface="Times New Roman"/>
              </a:rPr>
              <a:t>02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替换某个模块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换成简单做法后对比效果。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1956496-BE2D-4BE1-B676-DD91242CF181}"/>
              </a:ext>
            </a:extLst>
          </p:cNvPr>
          <p:cNvSpPr/>
          <p:nvPr/>
        </p:nvSpPr>
        <p:spPr>
          <a:xfrm>
            <a:off x="304800" y="2781300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8892BF6-46E1-4CB2-AD2D-123ACCB9B9F3}"/>
              </a:ext>
            </a:extLst>
          </p:cNvPr>
          <p:cNvSpPr txBox="1"/>
          <p:nvPr/>
        </p:nvSpPr>
        <p:spPr>
          <a:xfrm>
            <a:off x="457200" y="291465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7B2484"/>
                </a:solidFill>
                <a:latin typeface="Times New Roman"/>
                <a:ea typeface="Times New Roman"/>
              </a:rPr>
              <a:t>03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改变某个训练目标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目标函数变了会带来什么。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B7850E6-C56E-45F4-BB04-DC2A98434BAD}"/>
              </a:ext>
            </a:extLst>
          </p:cNvPr>
          <p:cNvSpPr/>
          <p:nvPr/>
        </p:nvSpPr>
        <p:spPr>
          <a:xfrm>
            <a:off x="6248400" y="2781300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09D7165-535E-41A7-BD58-249F4F7719F1}"/>
              </a:ext>
            </a:extLst>
          </p:cNvPr>
          <p:cNvSpPr txBox="1"/>
          <p:nvPr/>
        </p:nvSpPr>
        <p:spPr>
          <a:xfrm>
            <a:off x="6400800" y="291465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7B2484"/>
                </a:solidFill>
                <a:latin typeface="Times New Roman"/>
                <a:ea typeface="Times New Roman"/>
              </a:rPr>
              <a:t>04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改变策略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prompt / retrieval / memory / ranking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F71A5D6-C2E0-494C-8468-EB7188329288}"/>
              </a:ext>
            </a:extLst>
          </p:cNvPr>
          <p:cNvSpPr/>
          <p:nvPr/>
        </p:nvSpPr>
        <p:spPr>
          <a:xfrm>
            <a:off x="304800" y="3790950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3EEDDE0-3191-4DB7-8A28-9A6484F4329A}"/>
              </a:ext>
            </a:extLst>
          </p:cNvPr>
          <p:cNvSpPr txBox="1"/>
          <p:nvPr/>
        </p:nvSpPr>
        <p:spPr>
          <a:xfrm>
            <a:off x="457200" y="392430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7B2484"/>
                </a:solidFill>
                <a:latin typeface="Times New Roman"/>
                <a:ea typeface="Times New Roman"/>
              </a:rPr>
              <a:t>05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改变数据量或训练配置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资源变化时结论是否仍成立。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1BAC276-AECD-453A-AF39-310C559989B2}"/>
              </a:ext>
            </a:extLst>
          </p:cNvPr>
          <p:cNvSpPr/>
          <p:nvPr/>
        </p:nvSpPr>
        <p:spPr>
          <a:xfrm>
            <a:off x="6248400" y="3790950"/>
            <a:ext cx="5638800" cy="9144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7B37AEA-D84C-4449-A368-5E7ED2310DF0}"/>
              </a:ext>
            </a:extLst>
          </p:cNvPr>
          <p:cNvSpPr txBox="1"/>
          <p:nvPr/>
        </p:nvSpPr>
        <p:spPr>
          <a:xfrm>
            <a:off x="6400800" y="392430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7B2484"/>
                </a:solidFill>
                <a:latin typeface="Times New Roman"/>
                <a:ea typeface="Times New Roman"/>
              </a:rPr>
              <a:t>06</a:t>
            </a: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  比较不同模型规模或参数设置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看设计能否随规模保持有效。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5E6FC38-4A9D-442F-8E3B-2CE2E2C83444}"/>
              </a:ext>
            </a:extLst>
          </p:cNvPr>
          <p:cNvSpPr/>
          <p:nvPr/>
        </p:nvSpPr>
        <p:spPr>
          <a:xfrm>
            <a:off x="304800" y="4876800"/>
            <a:ext cx="11582400" cy="1152525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8884362-B506-4038-AE93-8A9D32FE82F5}"/>
              </a:ext>
            </a:extLst>
          </p:cNvPr>
          <p:cNvSpPr txBox="1"/>
          <p:nvPr/>
        </p:nvSpPr>
        <p:spPr>
          <a:xfrm>
            <a:off x="457200" y="5029200"/>
            <a:ext cx="11277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写法应当围绕设计动机展开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2B7FD52-EA20-403E-ABE6-B5688B63AC8A}"/>
              </a:ext>
            </a:extLst>
          </p:cNvPr>
          <p:cNvSpPr txBox="1"/>
          <p:nvPr/>
        </p:nvSpPr>
        <p:spPr>
          <a:xfrm>
            <a:off x="457200" y="5334000"/>
            <a:ext cx="112776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To evaluate the contribution of ..., we remove ... and compare the resulting model with the full model.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消融不是简略罗列变体，而是要对应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Methods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里写下的设计动机。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EFF21710-CCD6-414A-BFB2-68474814A6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58982DE4-2208-4615-9B1A-A86DBF8D9C5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7128E32-29D9-443B-BC0D-9688F6D31AC1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2AA385-B393-400C-8335-A77F18882176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7B2484"/>
                </a:solidFill>
                <a:latin typeface="华文中宋"/>
                <a:ea typeface="华文中宋"/>
              </a:rPr>
              <a:t/>
            </a: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Analysis </a:t>
            </a:r>
            <a:r>
              <a:rPr sz="2000" b="1">
                <a:solidFill>
                  <a:srgbClr val="7B2484"/>
                </a:solidFill>
                <a:latin typeface="Times New Roman"/>
                <a:ea typeface="华文中宋"/>
              </a:rPr>
              <a:t>解释行为，用 </a:t>
            </a:r>
            <a:r>
              <a:rPr sz="2000" b="1">
                <a:solidFill>
                  <a:srgbClr val="7B2484"/>
                </a:solidFill>
                <a:latin typeface="Times New Roman"/>
                <a:ea typeface="Times New Roman"/>
              </a:rPr>
              <a:t>Case Study </a:t>
            </a:r>
            <a:r>
              <a:rPr sz="2000" b="1">
                <a:solidFill>
                  <a:srgbClr val="7B2484"/>
                </a:solidFill>
                <a:latin typeface="Times New Roman"/>
                <a:ea typeface="华文中宋"/>
              </a:rPr>
              <a:t>补足数字说不清的部分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C063CBF-E3C6-447B-8282-C89EA75B30CC}"/>
              </a:ext>
            </a:extLst>
          </p:cNvPr>
          <p:cNvSpPr/>
          <p:nvPr/>
        </p:nvSpPr>
        <p:spPr>
          <a:xfrm>
            <a:off x="304800" y="838200"/>
            <a:ext cx="56388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0B59E26-2FDF-4AFC-902F-3872AD527F83}"/>
              </a:ext>
            </a:extLst>
          </p:cNvPr>
          <p:cNvSpPr txBox="1"/>
          <p:nvPr/>
        </p:nvSpPr>
        <p:spPr>
          <a:xfrm>
            <a:off x="457200" y="1304925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Analysis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 用来加深理解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D156554-8AD6-40D4-ABE2-32AC8DDEDEC5}"/>
              </a:ext>
            </a:extLst>
          </p:cNvPr>
          <p:cNvSpPr/>
          <p:nvPr/>
        </p:nvSpPr>
        <p:spPr>
          <a:xfrm>
            <a:off x="6248400" y="838200"/>
            <a:ext cx="56388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5599A1-5BC0-48BB-BAAF-DE4FE86801D2}"/>
              </a:ext>
            </a:extLst>
          </p:cNvPr>
          <p:cNvSpPr txBox="1"/>
          <p:nvPr/>
        </p:nvSpPr>
        <p:spPr>
          <a:xfrm>
            <a:off x="6400800" y="1304925"/>
            <a:ext cx="5334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案例与可视化什么时候用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86E82C3-C157-42B2-A209-33A895C7B3C9}"/>
              </a:ext>
            </a:extLst>
          </p:cNvPr>
          <p:cNvSpPr txBox="1"/>
          <p:nvPr/>
        </p:nvSpPr>
        <p:spPr>
          <a:xfrm>
            <a:off x="457200" y="1743075"/>
            <a:ext cx="53340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除了主结果和消融实验，很多论文还需要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Analysis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部分，用来解释方法的行为。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20276C-D2A6-4EF0-B61B-7A7A1041614F}"/>
              </a:ext>
            </a:extLst>
          </p:cNvPr>
          <p:cNvSpPr txBox="1"/>
          <p:nvPr/>
        </p:nvSpPr>
        <p:spPr>
          <a:xfrm>
            <a:off x="457200" y="2333625"/>
            <a:ext cx="5334000" cy="22860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不同类别样本上的表现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不同难度任务上的表现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不同数据规模下的表现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不同模型规模下的趋势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不同错误类型的分布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对超参数的敏感性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对提示词、检索数量、上下文长度的敏感性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与人类表现或专家标注的一致性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B01C908-593F-424A-84A9-DBF87EDA50B0}"/>
              </a:ext>
            </a:extLst>
          </p:cNvPr>
          <p:cNvSpPr/>
          <p:nvPr/>
        </p:nvSpPr>
        <p:spPr>
          <a:xfrm>
            <a:off x="304800" y="4581525"/>
            <a:ext cx="5638800" cy="1409700"/>
          </a:xfrm>
          <a:prstGeom prst="roundRect">
            <a:avLst>
              <a:gd name="adj" fmla="val 6756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3A737E6-CC95-4C54-92E7-48478601641D}"/>
              </a:ext>
            </a:extLst>
          </p:cNvPr>
          <p:cNvSpPr txBox="1"/>
          <p:nvPr/>
        </p:nvSpPr>
        <p:spPr>
          <a:xfrm>
            <a:off x="457200" y="4733925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目标不是重复主表，而是帮助读者理解：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ABFBA27-9394-46E4-A0BF-4B644E94ABED}"/>
              </a:ext>
            </a:extLst>
          </p:cNvPr>
          <p:cNvSpPr txBox="1"/>
          <p:nvPr/>
        </p:nvSpPr>
        <p:spPr>
          <a:xfrm>
            <a:off x="457200" y="5057775"/>
            <a:ext cx="5334000" cy="9144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方法在哪些情况下更好？</a:t>
            </a:r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为什么更好？</a:t>
            </a:r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· 什么时候不够好？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D69F312-5991-401E-AD2F-A52E0B664B67}"/>
              </a:ext>
            </a:extLst>
          </p:cNvPr>
          <p:cNvSpPr txBox="1"/>
          <p:nvPr/>
        </p:nvSpPr>
        <p:spPr>
          <a:xfrm>
            <a:off x="6400800" y="1743075"/>
            <a:ext cx="5334000" cy="51435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如果方法或任务比较复杂，可以加入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case study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或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visualization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165A385-81AA-4D91-911E-5EBC1BF1AB0A}"/>
              </a:ext>
            </a:extLst>
          </p:cNvPr>
          <p:cNvSpPr/>
          <p:nvPr/>
        </p:nvSpPr>
        <p:spPr>
          <a:xfrm>
            <a:off x="6248400" y="2371725"/>
            <a:ext cx="5638800" cy="6477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75284DD-0328-40FA-A01C-C18C45D99AA6}"/>
              </a:ext>
            </a:extLst>
          </p:cNvPr>
          <p:cNvSpPr/>
          <p:nvPr/>
        </p:nvSpPr>
        <p:spPr>
          <a:xfrm>
            <a:off x="6400800" y="252412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4812A31-0A01-4E95-A458-0EE28E9D95BE}"/>
              </a:ext>
            </a:extLst>
          </p:cNvPr>
          <p:cNvSpPr txBox="1"/>
          <p:nvPr/>
        </p:nvSpPr>
        <p:spPr>
          <a:xfrm>
            <a:off x="6400800" y="2590800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FB20396-A4C9-43FF-9CF1-BA25707F64B4}"/>
              </a:ext>
            </a:extLst>
          </p:cNvPr>
          <p:cNvSpPr txBox="1"/>
          <p:nvPr/>
        </p:nvSpPr>
        <p:spPr>
          <a:xfrm>
            <a:off x="6858000" y="2581275"/>
            <a:ext cx="48768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结果难以只用数字说明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0146925-A5D2-4FAF-AF8C-E64D9B795822}"/>
              </a:ext>
            </a:extLst>
          </p:cNvPr>
          <p:cNvSpPr/>
          <p:nvPr/>
        </p:nvSpPr>
        <p:spPr>
          <a:xfrm>
            <a:off x="6248400" y="3095625"/>
            <a:ext cx="5638800" cy="6477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3FCCB0F-5946-45E9-9A9F-B9BF7C960072}"/>
              </a:ext>
            </a:extLst>
          </p:cNvPr>
          <p:cNvSpPr/>
          <p:nvPr/>
        </p:nvSpPr>
        <p:spPr>
          <a:xfrm>
            <a:off x="6400800" y="324802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26B75A4-D545-4379-8442-DC050574AFBC}"/>
              </a:ext>
            </a:extLst>
          </p:cNvPr>
          <p:cNvSpPr txBox="1"/>
          <p:nvPr/>
        </p:nvSpPr>
        <p:spPr>
          <a:xfrm>
            <a:off x="6400800" y="3314700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68B0086-7893-4738-94AD-2DAA9F535C0E}"/>
              </a:ext>
            </a:extLst>
          </p:cNvPr>
          <p:cNvSpPr txBox="1"/>
          <p:nvPr/>
        </p:nvSpPr>
        <p:spPr>
          <a:xfrm>
            <a:off x="6858000" y="3305175"/>
            <a:ext cx="48768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需要展示模型输出质量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4AB7541F-EA28-459F-A1D8-46951D2D9319}"/>
              </a:ext>
            </a:extLst>
          </p:cNvPr>
          <p:cNvSpPr/>
          <p:nvPr/>
        </p:nvSpPr>
        <p:spPr>
          <a:xfrm>
            <a:off x="6248400" y="3819525"/>
            <a:ext cx="5638800" cy="6477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41BBD90-57EF-486A-9F5E-ECCCDA8A827B}"/>
              </a:ext>
            </a:extLst>
          </p:cNvPr>
          <p:cNvSpPr/>
          <p:nvPr/>
        </p:nvSpPr>
        <p:spPr>
          <a:xfrm>
            <a:off x="6400800" y="397192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CB447E4-2702-4737-BF06-5BAC245634D0}"/>
              </a:ext>
            </a:extLst>
          </p:cNvPr>
          <p:cNvSpPr txBox="1"/>
          <p:nvPr/>
        </p:nvSpPr>
        <p:spPr>
          <a:xfrm>
            <a:off x="6400800" y="4038600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29EE17C-14DD-493A-B85F-C97CD0C94C7F}"/>
              </a:ext>
            </a:extLst>
          </p:cNvPr>
          <p:cNvSpPr txBox="1"/>
          <p:nvPr/>
        </p:nvSpPr>
        <p:spPr>
          <a:xfrm>
            <a:off x="6858000" y="4029075"/>
            <a:ext cx="48768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需要比较不同方法的行为差异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F785F14F-7B27-4896-805E-7E0E1FC8BAC3}"/>
              </a:ext>
            </a:extLst>
          </p:cNvPr>
          <p:cNvSpPr/>
          <p:nvPr/>
        </p:nvSpPr>
        <p:spPr>
          <a:xfrm>
            <a:off x="6248400" y="4543425"/>
            <a:ext cx="5638800" cy="6477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87FC69FF-FC1E-43D5-A091-7C11C5897A72}"/>
              </a:ext>
            </a:extLst>
          </p:cNvPr>
          <p:cNvSpPr/>
          <p:nvPr/>
        </p:nvSpPr>
        <p:spPr>
          <a:xfrm>
            <a:off x="6400800" y="469582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1830798-3E6E-4082-8061-8595994B4B36}"/>
              </a:ext>
            </a:extLst>
          </p:cNvPr>
          <p:cNvSpPr txBox="1"/>
          <p:nvPr/>
        </p:nvSpPr>
        <p:spPr>
          <a:xfrm>
            <a:off x="6400800" y="4762500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65532B4-424C-4812-95AF-46870F66B400}"/>
              </a:ext>
            </a:extLst>
          </p:cNvPr>
          <p:cNvSpPr txBox="1"/>
          <p:nvPr/>
        </p:nvSpPr>
        <p:spPr>
          <a:xfrm>
            <a:off x="6858000" y="4752975"/>
            <a:ext cx="48768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需要展示失败案例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FD2D6590-6283-4E13-BE45-707823572B5D}"/>
              </a:ext>
            </a:extLst>
          </p:cNvPr>
          <p:cNvSpPr/>
          <p:nvPr/>
        </p:nvSpPr>
        <p:spPr>
          <a:xfrm>
            <a:off x="6248400" y="5267325"/>
            <a:ext cx="5638800" cy="6477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F6AFF0A9-BF4C-4308-8C59-70F9888B732E}"/>
              </a:ext>
            </a:extLst>
          </p:cNvPr>
          <p:cNvSpPr/>
          <p:nvPr/>
        </p:nvSpPr>
        <p:spPr>
          <a:xfrm>
            <a:off x="6400800" y="5419725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97ADE3C-8CF1-4C2A-A050-4340C2589C4D}"/>
              </a:ext>
            </a:extLst>
          </p:cNvPr>
          <p:cNvSpPr txBox="1"/>
          <p:nvPr/>
        </p:nvSpPr>
        <p:spPr>
          <a:xfrm>
            <a:off x="6400800" y="5486400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FD237A4D-5CB1-484C-9ED6-38801FC1EB47}"/>
              </a:ext>
            </a:extLst>
          </p:cNvPr>
          <p:cNvSpPr txBox="1"/>
          <p:nvPr/>
        </p:nvSpPr>
        <p:spPr>
          <a:xfrm>
            <a:off x="6858000" y="5476875"/>
            <a:ext cx="48768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需要让读者理解任务难度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8C07464-F69B-402D-B24D-0CEAFE943AAE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第十四篇 Experiments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9A29B3A1-62DE-46A2-BB27-141F38AE5965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71 / 86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B4157F2-3C85-4C93-8EE0-6B6D4BE96D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7246AAB-61B6-4868-8AD2-C55F4285C1A5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0C61A50-3EC6-4319-8248-222A9C25A07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01084BC-62BE-4DA5-A3AC-2ADBDFBA421F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四个细节：引导读者看图，并诚实处理异常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CF82425-919B-46E1-9A5D-2253E6D73D05}"/>
              </a:ext>
            </a:extLst>
          </p:cNvPr>
          <p:cNvSpPr/>
          <p:nvPr/>
        </p:nvSpPr>
        <p:spPr>
          <a:xfrm>
            <a:off x="304800" y="838200"/>
            <a:ext cx="56388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D0019A0-F477-4291-AA39-963FEADC4B0B}"/>
              </a:ext>
            </a:extLst>
          </p:cNvPr>
          <p:cNvSpPr/>
          <p:nvPr/>
        </p:nvSpPr>
        <p:spPr>
          <a:xfrm>
            <a:off x="457200" y="952500"/>
            <a:ext cx="2286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3EB694-28E3-449E-9E38-5BE99C7B9D36}"/>
              </a:ext>
            </a:extLst>
          </p:cNvPr>
          <p:cNvSpPr txBox="1"/>
          <p:nvPr/>
        </p:nvSpPr>
        <p:spPr>
          <a:xfrm>
            <a:off x="533400" y="1000125"/>
            <a:ext cx="2133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01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邀请读者查看图表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DA2A2F2-5D1B-48E8-9177-E377AE5E44F6}"/>
              </a:ext>
            </a:extLst>
          </p:cNvPr>
          <p:cNvSpPr txBox="1"/>
          <p:nvPr/>
        </p:nvSpPr>
        <p:spPr>
          <a:xfrm>
            <a:off x="457200" y="1390650"/>
            <a:ext cx="53340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不能假设读者会自动去看图。你需要明确地引导：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88EFE9-0897-417E-A348-1595FDDC3468}"/>
              </a:ext>
            </a:extLst>
          </p:cNvPr>
          <p:cNvSpPr txBox="1"/>
          <p:nvPr/>
        </p:nvSpPr>
        <p:spPr>
          <a:xfrm>
            <a:off x="457200" y="1790700"/>
            <a:ext cx="5334000" cy="8382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Figure 1 shows the results...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As can be seen in Fig. 1...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The results are summarized in Table 1...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0034409-0E6F-4239-820C-CE4F9F3E256A}"/>
              </a:ext>
            </a:extLst>
          </p:cNvPr>
          <p:cNvSpPr/>
          <p:nvPr/>
        </p:nvSpPr>
        <p:spPr>
          <a:xfrm>
            <a:off x="6248400" y="838200"/>
            <a:ext cx="5638800" cy="18097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DA55C1C-B5F2-48B8-9844-BD4D988C7E25}"/>
              </a:ext>
            </a:extLst>
          </p:cNvPr>
          <p:cNvSpPr/>
          <p:nvPr/>
        </p:nvSpPr>
        <p:spPr>
          <a:xfrm>
            <a:off x="6400800" y="952500"/>
            <a:ext cx="2286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43D715C-8499-407A-BF28-428FED6B53FF}"/>
              </a:ext>
            </a:extLst>
          </p:cNvPr>
          <p:cNvSpPr txBox="1"/>
          <p:nvPr/>
        </p:nvSpPr>
        <p:spPr>
          <a:xfrm>
            <a:off x="6477000" y="1000125"/>
            <a:ext cx="2133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02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描述关键结果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2F9AFF7-302A-49B8-B88F-F64D83B3AA65}"/>
              </a:ext>
            </a:extLst>
          </p:cNvPr>
          <p:cNvSpPr txBox="1"/>
          <p:nvPr/>
        </p:nvSpPr>
        <p:spPr>
          <a:xfrm>
            <a:off x="6400800" y="1390650"/>
            <a:ext cx="5334000" cy="5524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选择重要的、典型的、或特别有趣的结果进行详细描述，不要对所有结果一视同仁。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2092074-929A-4C81-BFBD-6DD8A83B6EE2}"/>
              </a:ext>
            </a:extLst>
          </p:cNvPr>
          <p:cNvSpPr/>
          <p:nvPr/>
        </p:nvSpPr>
        <p:spPr>
          <a:xfrm>
            <a:off x="6400800" y="2000250"/>
            <a:ext cx="5334000" cy="533400"/>
          </a:xfrm>
          <a:prstGeom prst="roundRect">
            <a:avLst>
              <a:gd name="adj" fmla="val 17857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0DCE84A-B8E5-432D-A475-CFAD244DD1EE}"/>
              </a:ext>
            </a:extLst>
          </p:cNvPr>
          <p:cNvSpPr txBox="1"/>
          <p:nvPr/>
        </p:nvSpPr>
        <p:spPr>
          <a:xfrm>
            <a:off x="6477000" y="2114550"/>
            <a:ext cx="51816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你选择描述哪个，读者就会认为哪个重要。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F3E1D47-A09F-4F66-AB02-5BAD0864E706}"/>
              </a:ext>
            </a:extLst>
          </p:cNvPr>
          <p:cNvSpPr/>
          <p:nvPr/>
        </p:nvSpPr>
        <p:spPr>
          <a:xfrm>
            <a:off x="304800" y="2762250"/>
            <a:ext cx="5638800" cy="122872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354169B-A402-423C-BCEA-12B69DBC5970}"/>
              </a:ext>
            </a:extLst>
          </p:cNvPr>
          <p:cNvSpPr/>
          <p:nvPr/>
        </p:nvSpPr>
        <p:spPr>
          <a:xfrm>
            <a:off x="457200" y="2876550"/>
            <a:ext cx="2286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62BBCB3-5CE2-4C8E-B3C4-B443E619411D}"/>
              </a:ext>
            </a:extLst>
          </p:cNvPr>
          <p:cNvSpPr txBox="1"/>
          <p:nvPr/>
        </p:nvSpPr>
        <p:spPr>
          <a:xfrm>
            <a:off x="533400" y="2924175"/>
            <a:ext cx="2133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03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使用评价性语言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C730B11-1BFE-4B67-AB4C-448FC3756400}"/>
              </a:ext>
            </a:extLst>
          </p:cNvPr>
          <p:cNvSpPr txBox="1"/>
          <p:nvPr/>
        </p:nvSpPr>
        <p:spPr>
          <a:xfrm>
            <a:off x="457200" y="3314700"/>
            <a:ext cx="53340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不要让原始数据自己说话。用评价性的词语告诉读者，这些数字意味着什么。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2F8A6EDD-8DC5-4B97-AF1F-36B6491B94A3}"/>
              </a:ext>
            </a:extLst>
          </p:cNvPr>
          <p:cNvSpPr/>
          <p:nvPr/>
        </p:nvSpPr>
        <p:spPr>
          <a:xfrm>
            <a:off x="6248400" y="2762250"/>
            <a:ext cx="5638800" cy="122872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6807DAB-15AB-44F2-A3DE-62EBDF3F0B65}"/>
              </a:ext>
            </a:extLst>
          </p:cNvPr>
          <p:cNvSpPr/>
          <p:nvPr/>
        </p:nvSpPr>
        <p:spPr>
          <a:xfrm>
            <a:off x="6400800" y="2876550"/>
            <a:ext cx="2286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E4F8003-3C2A-4DFA-B76C-1348E7E7B721}"/>
              </a:ext>
            </a:extLst>
          </p:cNvPr>
          <p:cNvSpPr txBox="1"/>
          <p:nvPr/>
        </p:nvSpPr>
        <p:spPr>
          <a:xfrm>
            <a:off x="6477000" y="2924175"/>
            <a:ext cx="2133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04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提及问题与异常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234D72A-0F7B-4CA1-A440-94A6C73FDA45}"/>
              </a:ext>
            </a:extLst>
          </p:cNvPr>
          <p:cNvSpPr txBox="1"/>
          <p:nvPr/>
        </p:nvSpPr>
        <p:spPr>
          <a:xfrm>
            <a:off x="6400800" y="3314700"/>
            <a:ext cx="53340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结果中有瑕疵、异常或不符合预期的数据怎么办？不要隐瞒，但要用弱化语言处理。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C5987D68-46BF-47D1-A867-2B6ADA3F9C79}"/>
              </a:ext>
            </a:extLst>
          </p:cNvPr>
          <p:cNvSpPr/>
          <p:nvPr/>
        </p:nvSpPr>
        <p:spPr>
          <a:xfrm>
            <a:off x="304800" y="4305300"/>
            <a:ext cx="11582400" cy="2038350"/>
          </a:xfrm>
          <a:prstGeom prst="roundRect">
            <a:avLst>
              <a:gd name="adj" fmla="val 4672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0AEBDED-CF71-45E1-8CF3-7AB0627C9729}"/>
              </a:ext>
            </a:extLst>
          </p:cNvPr>
          <p:cNvSpPr txBox="1"/>
          <p:nvPr/>
        </p:nvSpPr>
        <p:spPr>
          <a:xfrm>
            <a:off x="533400" y="4457700"/>
            <a:ext cx="72390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新手与高手的差别，就在异常数据这一段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2CEBD93-3562-4177-9129-088BD08906B9}"/>
              </a:ext>
            </a:extLst>
          </p:cNvPr>
          <p:cNvSpPr txBox="1"/>
          <p:nvPr/>
        </p:nvSpPr>
        <p:spPr>
          <a:xfrm>
            <a:off x="533400" y="4762500"/>
            <a:ext cx="7239000" cy="1642872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新手：</a:t>
            </a:r>
            <a:r>
              <a:rPr sz="1300">
                <a:solidFill>
                  <a:srgbClr val="EAD7F0"/>
                </a:solidFill>
                <a:latin typeface="Times New Roman"/>
                <a:ea typeface="华文中宋"/>
              </a:rPr>
              <a:t>完全不提异常数据 → 看起来像“没发现问题的外行”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高手：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</a:rPr>
              <a:t>Although the average uncertainty slightly exceeds the 50% acceptability limit, nevertheless these results suggest that...</a:t>
            </a:r>
          </a:p>
          <a:p>
            <a:pPr>
              <a:lnSpc>
                <a:spcPct val="145000"/>
              </a:lnSpc>
            </a:pP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承认问题 + 弱化影响 + 转向正面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3AF8536F-3145-4D80-9BA5-D8A9FDF6D08F}"/>
              </a:ext>
            </a:extLst>
          </p:cNvPr>
          <p:cNvSpPr/>
          <p:nvPr/>
        </p:nvSpPr>
        <p:spPr>
          <a:xfrm>
            <a:off x="8001000" y="4476750"/>
            <a:ext cx="3657600" cy="1676400"/>
          </a:xfrm>
          <a:prstGeom prst="roundRect">
            <a:avLst>
              <a:gd name="adj" fmla="val 5681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289B6FE-C120-4E15-8D83-55C0D9A1D7B7}"/>
              </a:ext>
            </a:extLst>
          </p:cNvPr>
          <p:cNvSpPr txBox="1"/>
          <p:nvPr/>
        </p:nvSpPr>
        <p:spPr>
          <a:xfrm>
            <a:off x="8153400" y="4610100"/>
            <a:ext cx="3352800" cy="228600"/>
          </a:xfrm>
        </p:spPr>
        <p:txBody>
          <a:bodyPr wrap="square" rtlCol="0" lIns="0" tIns="0" rIns="0" bIns="0" anchor="t"/>
          <a:lstStyle/>
          <a:p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常用弱化词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FF186B5-ECCE-4BB9-BD4D-59CEE15ACE84}"/>
              </a:ext>
            </a:extLst>
          </p:cNvPr>
          <p:cNvSpPr txBox="1"/>
          <p:nvPr/>
        </p:nvSpPr>
        <p:spPr>
          <a:xfrm>
            <a:off x="8153400" y="4895850"/>
            <a:ext cx="3467100" cy="12192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</a:rPr>
              <a:t>slightly / somewhat / only approximate / a minor deficit / negligible / not significant / it should be noted that...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A526978-A0AA-44AB-A81F-197C3E1B4573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第十四篇 Experiments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C5A1ED2-9AAD-471B-9119-CA55902B130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72 / 86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4C9BADC-9C3A-4001-B303-05B4FFAF1D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31EC8BC5-B642-4C51-BC10-E51726D09AA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032841B-C7FD-4EF0-8D32-AFB6A30C42CB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266D69-D996-45CF-92B0-76D4901B9A59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参考文献要逐条手动编辑，不能贴完就算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431DF21-5E0A-48C8-8927-138D6B3AFE82}"/>
              </a:ext>
            </a:extLst>
          </p:cNvPr>
          <p:cNvSpPr/>
          <p:nvPr/>
        </p:nvSpPr>
        <p:spPr>
          <a:xfrm>
            <a:off x="304800" y="838200"/>
            <a:ext cx="11582400" cy="590550"/>
          </a:xfrm>
          <a:prstGeom prst="roundRect">
            <a:avLst>
              <a:gd name="adj" fmla="val 11904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48D2987-D801-441F-9483-2A41DC6C72EC}"/>
              </a:ext>
            </a:extLst>
          </p:cNvPr>
          <p:cNvSpPr txBox="1"/>
          <p:nvPr/>
        </p:nvSpPr>
        <p:spPr>
          <a:xfrm>
            <a:off x="457200" y="971550"/>
            <a:ext cx="112776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注意　</a:t>
            </a:r>
            <a:r>
              <a:rPr sz="1400">
                <a:solidFill>
                  <a:srgbClr val="FFFFFF"/>
                </a:solidFill>
                <a:latin typeface="Times New Roman"/>
                <a:ea typeface="华文中宋"/>
              </a:rPr>
              <a:t>参考文献绝对不是从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Google Scholar</a:t>
            </a:r>
            <a:r>
              <a:rPr sz="1400">
                <a:solidFill>
                  <a:srgbClr val="FFFFFF"/>
                </a:solidFill>
                <a:latin typeface="Times New Roman"/>
                <a:ea typeface="华文中宋"/>
              </a:rPr>
              <a:t>、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DBLP</a:t>
            </a:r>
            <a:r>
              <a:rPr sz="1400">
                <a:solidFill>
                  <a:srgbClr val="FFFFFF"/>
                </a:solidFill>
                <a:latin typeface="Times New Roman"/>
                <a:ea typeface="华文中宋"/>
              </a:rPr>
              <a:t> 复制下来 </a:t>
            </a:r>
            <a:r>
              <a:rPr sz="1400">
                <a:solidFill>
                  <a:srgbClr val="FFFFFF"/>
                </a:solidFill>
                <a:latin typeface="Times New Roman"/>
                <a:ea typeface="Times New Roman"/>
              </a:rPr>
              <a:t>bib</a:t>
            </a:r>
            <a:r>
              <a:rPr sz="1400">
                <a:solidFill>
                  <a:srgbClr val="FFFFFF"/>
                </a:solidFill>
                <a:latin typeface="Times New Roman"/>
                <a:ea typeface="华文中宋"/>
              </a:rPr>
              <a:t> 贴进去就行了，而是每一个都要自己手动编辑！确保格式正确、统一！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98AD602-71EB-4484-87C1-631CF1BFA42D}"/>
              </a:ext>
            </a:extLst>
          </p:cNvPr>
          <p:cNvSpPr/>
          <p:nvPr/>
        </p:nvSpPr>
        <p:spPr>
          <a:xfrm>
            <a:off x="304800" y="1771650"/>
            <a:ext cx="5638800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7A69E14-7048-4200-9027-5F915500ECD9}"/>
              </a:ext>
            </a:extLst>
          </p:cNvPr>
          <p:cNvSpPr/>
          <p:nvPr/>
        </p:nvSpPr>
        <p:spPr>
          <a:xfrm>
            <a:off x="457200" y="1885950"/>
            <a:ext cx="27432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1BBBF15-D3C7-4C41-BA37-DBE8E617C571}"/>
              </a:ext>
            </a:extLst>
          </p:cNvPr>
          <p:cNvSpPr txBox="1"/>
          <p:nvPr/>
        </p:nvSpPr>
        <p:spPr>
          <a:xfrm>
            <a:off x="533400" y="1933575"/>
            <a:ext cx="25908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1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从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DBLP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复制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9EDB1BD-8F03-4AB4-8A89-C9F400E070B5}"/>
              </a:ext>
            </a:extLst>
          </p:cNvPr>
          <p:cNvSpPr txBox="1"/>
          <p:nvPr/>
        </p:nvSpPr>
        <p:spPr>
          <a:xfrm>
            <a:off x="457200" y="2286000"/>
            <a:ext cx="5334000" cy="8763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整理的第一步不是自己写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bib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，而是从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DBLP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复制原始条目，再逐项修改。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DBLP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的字段齐全、书名规范，适合作为统一改写的起点。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4DCEEC8-E585-4AC1-BCFB-4F0BC8601326}"/>
              </a:ext>
            </a:extLst>
          </p:cNvPr>
          <p:cNvSpPr/>
          <p:nvPr/>
        </p:nvSpPr>
        <p:spPr>
          <a:xfrm>
            <a:off x="6248400" y="1771650"/>
            <a:ext cx="5638800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C71D017-B66C-4F68-A28F-A815CA4FFF01}"/>
              </a:ext>
            </a:extLst>
          </p:cNvPr>
          <p:cNvSpPr/>
          <p:nvPr/>
        </p:nvSpPr>
        <p:spPr>
          <a:xfrm>
            <a:off x="6400800" y="1885950"/>
            <a:ext cx="27432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D8A6ABB-8012-4F7C-AF63-B151320D16E2}"/>
              </a:ext>
            </a:extLst>
          </p:cNvPr>
          <p:cNvSpPr txBox="1"/>
          <p:nvPr/>
        </p:nvSpPr>
        <p:spPr>
          <a:xfrm>
            <a:off x="6477000" y="1933575"/>
            <a:ext cx="25908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2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修改统一的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key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3C8FC32-5274-499B-BADF-BD7DAAD6BEC0}"/>
              </a:ext>
            </a:extLst>
          </p:cNvPr>
          <p:cNvSpPr txBox="1"/>
          <p:nvPr/>
        </p:nvSpPr>
        <p:spPr>
          <a:xfrm>
            <a:off x="6400800" y="2286000"/>
            <a:ext cx="53340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统一采用作者姓 + 年份 + 关键词：</a:t>
            </a:r>
          </a:p>
          <a:p>
            <a:pPr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@inproceedings{zhou2024symagent,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而不是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@inproceedings{DBLP:conf/icml/ZhouL24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这种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3D9A1E1-CBBE-499B-B2D2-274F2DA248C2}"/>
              </a:ext>
            </a:extLst>
          </p:cNvPr>
          <p:cNvSpPr/>
          <p:nvPr/>
        </p:nvSpPr>
        <p:spPr>
          <a:xfrm>
            <a:off x="304800" y="3448050"/>
            <a:ext cx="5638800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940A649-39B6-48A8-BD99-7497FCB22ECB}"/>
              </a:ext>
            </a:extLst>
          </p:cNvPr>
          <p:cNvSpPr/>
          <p:nvPr/>
        </p:nvSpPr>
        <p:spPr>
          <a:xfrm>
            <a:off x="457200" y="3562350"/>
            <a:ext cx="27432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351761A-EC30-432B-89CE-036E3502D909}"/>
              </a:ext>
            </a:extLst>
          </p:cNvPr>
          <p:cNvSpPr txBox="1"/>
          <p:nvPr/>
        </p:nvSpPr>
        <p:spPr>
          <a:xfrm>
            <a:off x="533400" y="3609975"/>
            <a:ext cx="25908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3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修改正确的标识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412795F-0924-401E-8A61-3E6D101EFF87}"/>
              </a:ext>
            </a:extLst>
          </p:cNvPr>
          <p:cNvSpPr txBox="1"/>
          <p:nvPr/>
        </p:nvSpPr>
        <p:spPr>
          <a:xfrm>
            <a:off x="457200" y="3962400"/>
            <a:ext cx="53340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条目类型要与发表载体一致：</a:t>
            </a:r>
          </a:p>
          <a:p>
            <a:pPr>
              <a:lnSpc>
                <a:spcPct val="145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会议论文用 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@inproceedings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期刊论文用 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@article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4CBEB57F-A573-422C-A9C8-339DC0AC531E}"/>
              </a:ext>
            </a:extLst>
          </p:cNvPr>
          <p:cNvSpPr/>
          <p:nvPr/>
        </p:nvSpPr>
        <p:spPr>
          <a:xfrm>
            <a:off x="6248400" y="3448050"/>
            <a:ext cx="5638800" cy="1562100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78D0094-D138-4C87-BFB1-4EE4EFFF31E6}"/>
              </a:ext>
            </a:extLst>
          </p:cNvPr>
          <p:cNvSpPr/>
          <p:nvPr/>
        </p:nvSpPr>
        <p:spPr>
          <a:xfrm>
            <a:off x="6400800" y="3562350"/>
            <a:ext cx="27432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8608E52-5CE8-47D1-BD58-931B9323E56A}"/>
              </a:ext>
            </a:extLst>
          </p:cNvPr>
          <p:cNvSpPr txBox="1"/>
          <p:nvPr/>
        </p:nvSpPr>
        <p:spPr>
          <a:xfrm>
            <a:off x="6477000" y="3609975"/>
            <a:ext cx="25908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4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删除无用字段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736094B-CA71-4BF4-9369-EADBF1F50A63}"/>
              </a:ext>
            </a:extLst>
          </p:cNvPr>
          <p:cNvSpPr txBox="1"/>
          <p:nvPr/>
        </p:nvSpPr>
        <p:spPr>
          <a:xfrm>
            <a:off x="6400800" y="3962400"/>
            <a:ext cx="5334000" cy="8763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删除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publisher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等无用字段，一般来说保留以下字段即可，多余字段只会把不一致带进参考文献。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8CB181C-3267-4AF7-AC55-4561D3F56B43}"/>
              </a:ext>
            </a:extLst>
          </p:cNvPr>
          <p:cNvSpPr/>
          <p:nvPr/>
        </p:nvSpPr>
        <p:spPr>
          <a:xfrm>
            <a:off x="304800" y="5143500"/>
            <a:ext cx="11582400" cy="619125"/>
          </a:xfrm>
          <a:prstGeom prst="roundRect">
            <a:avLst>
              <a:gd name="adj" fmla="val 9433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D9D0AC-552F-48C7-9DC2-E6DE287A213D}"/>
              </a:ext>
            </a:extLst>
          </p:cNvPr>
          <p:cNvSpPr txBox="1"/>
          <p:nvPr/>
        </p:nvSpPr>
        <p:spPr>
          <a:xfrm>
            <a:off x="533400" y="5295900"/>
            <a:ext cx="1238250" cy="22860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保留字段清单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457AA41-C375-4D30-BA4B-EF00B0057D2F}"/>
              </a:ext>
            </a:extLst>
          </p:cNvPr>
          <p:cNvSpPr txBox="1"/>
          <p:nvPr/>
        </p:nvSpPr>
        <p:spPr>
          <a:xfrm>
            <a:off x="1905000" y="5295900"/>
            <a:ext cx="9525000" cy="5905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author · title · booktitle · journal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（期刊）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 · volume · number · pages · year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0A5D741-9A96-48D9-AD3D-BF9E4C60EF14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第十五篇 Reference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D8AA8BD-9DB4-433A-9AA0-BE28953B4CB8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73 / 86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08C4772-C6A9-4D11-8C57-39E38067BF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7C5DD764-2D4A-4778-B855-FCBE4B83DFCF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978E3DA-B549-4FAF-9E42-9F8DDA6E2ABA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0C9B71-31F5-4F0C-AAF5-01B27D44F92A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Step 5–9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：大小写保护、作者、卷期号与页码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B873FF6-80C5-4516-B1C8-EF4CF1450B63}"/>
              </a:ext>
            </a:extLst>
          </p:cNvPr>
          <p:cNvSpPr/>
          <p:nvPr/>
        </p:nvSpPr>
        <p:spPr>
          <a:xfrm>
            <a:off x="304800" y="838200"/>
            <a:ext cx="6858000" cy="219075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22110D3-70B9-4E6A-94E2-8957CC018C22}"/>
              </a:ext>
            </a:extLst>
          </p:cNvPr>
          <p:cNvSpPr/>
          <p:nvPr/>
        </p:nvSpPr>
        <p:spPr>
          <a:xfrm>
            <a:off x="457200" y="952500"/>
            <a:ext cx="27432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5D1F2F3-07C3-4D1C-82BD-050633CCD188}"/>
              </a:ext>
            </a:extLst>
          </p:cNvPr>
          <p:cNvSpPr txBox="1"/>
          <p:nvPr/>
        </p:nvSpPr>
        <p:spPr>
          <a:xfrm>
            <a:off x="533400" y="1000125"/>
            <a:ext cx="25908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5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统一大小写保护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C1B839-27C6-4CD9-ACEB-09EEA45850BA}"/>
              </a:ext>
            </a:extLst>
          </p:cNvPr>
          <p:cNvSpPr txBox="1"/>
          <p:nvPr/>
        </p:nvSpPr>
        <p:spPr>
          <a:xfrm>
            <a:off x="457200" y="1390650"/>
            <a:ext cx="6553200" cy="12382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直接复制下来的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bib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会把原本应该大写的自动变成小写，需要使用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{}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保护。对于论文标题，或者一些常见的名字，例如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LLM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GPT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等，都需要使用大写保护。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C29B78D-E8D5-4B8E-9980-81ABF726361E}"/>
              </a:ext>
            </a:extLst>
          </p:cNvPr>
          <p:cNvSpPr/>
          <p:nvPr/>
        </p:nvSpPr>
        <p:spPr>
          <a:xfrm>
            <a:off x="7315200" y="838200"/>
            <a:ext cx="4572000" cy="2190750"/>
          </a:xfrm>
          <a:prstGeom prst="roundRect">
            <a:avLst>
              <a:gd name="adj" fmla="val 434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8577166-A68C-4E9C-9342-D059F4247762}"/>
              </a:ext>
            </a:extLst>
          </p:cNvPr>
          <p:cNvSpPr txBox="1"/>
          <p:nvPr/>
        </p:nvSpPr>
        <p:spPr>
          <a:xfrm>
            <a:off x="7467600" y="971550"/>
            <a:ext cx="42672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写法示例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3CABE26-5428-4FE0-8D52-C2AB48A74B08}"/>
              </a:ext>
            </a:extLst>
          </p:cNvPr>
          <p:cNvSpPr txBox="1"/>
          <p:nvPr/>
        </p:nvSpPr>
        <p:spPr>
          <a:xfrm>
            <a:off x="7467600" y="1257300"/>
            <a:ext cx="4267200" cy="117856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  <a:spcAft>
                <a:spcPts val="500"/>
              </a:spcAft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title={{SymSkill}: Symbol and Skill Co-Invention for Data-Efficient Robot Learning}</a:t>
            </a:r>
          </a:p>
          <a:p>
            <a:pPr>
              <a:lnSpc>
                <a:spcPct val="145000"/>
              </a:lnSpc>
              <a:spcAft>
                <a:spcPts val="500"/>
              </a:spcAft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title = {{GPT}-4o mini}   |   title = {{Qwen3}-8B}</a:t>
            </a:r>
          </a:p>
          <a:p>
            <a:pPr>
              <a:lnSpc>
                <a:spcPct val="145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title = {{LLM-SR:} {S}cientific Equation Discovery}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FCBC961-A14B-4740-9B36-8C21C13CC327}"/>
              </a:ext>
            </a:extLst>
          </p:cNvPr>
          <p:cNvSpPr txBox="1"/>
          <p:nvPr/>
        </p:nvSpPr>
        <p:spPr>
          <a:xfrm>
            <a:off x="7467600" y="2628900"/>
            <a:ext cx="4267200" cy="24765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如果不加 </a:t>
            </a:r>
            <a:r>
              <a:rPr sz="1200">
                <a:solidFill>
                  <a:srgbClr val="EAD7F0"/>
                </a:solidFill>
                <a:latin typeface="Times New Roman"/>
                <a:ea typeface="Times New Roman"/>
              </a:rPr>
              <a:t>{}</a:t>
            </a: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，标题就会全都变成小写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7CC41AD-463F-4426-A8F8-5183C0106C63}"/>
              </a:ext>
            </a:extLst>
          </p:cNvPr>
          <p:cNvSpPr/>
          <p:nvPr/>
        </p:nvSpPr>
        <p:spPr>
          <a:xfrm>
            <a:off x="304800" y="3162300"/>
            <a:ext cx="57912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0D4957B-1310-4A5D-BC41-92536D7E1A5F}"/>
              </a:ext>
            </a:extLst>
          </p:cNvPr>
          <p:cNvSpPr/>
          <p:nvPr/>
        </p:nvSpPr>
        <p:spPr>
          <a:xfrm>
            <a:off x="457200" y="3276600"/>
            <a:ext cx="27432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324620F-FDD4-47AC-AD49-0AE6678D29BC}"/>
              </a:ext>
            </a:extLst>
          </p:cNvPr>
          <p:cNvSpPr txBox="1"/>
          <p:nvPr/>
        </p:nvSpPr>
        <p:spPr>
          <a:xfrm>
            <a:off x="533400" y="3324225"/>
            <a:ext cx="25908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6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关于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Author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12B7B2B-4D2B-4BB6-88A6-91F15F18D9D0}"/>
              </a:ext>
            </a:extLst>
          </p:cNvPr>
          <p:cNvSpPr txBox="1"/>
          <p:nvPr/>
        </p:nvSpPr>
        <p:spPr>
          <a:xfrm>
            <a:off x="457200" y="3714750"/>
            <a:ext cx="54864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除非作者太多的情况，建议保留所有作者；如果作者实在太多，可以用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et al.,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代替。作者名称可以保留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DBLP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导出的作者格式，不需要改写。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207B003-9680-419E-BFD9-FDD989896AA5}"/>
              </a:ext>
            </a:extLst>
          </p:cNvPr>
          <p:cNvSpPr/>
          <p:nvPr/>
        </p:nvSpPr>
        <p:spPr>
          <a:xfrm>
            <a:off x="6248400" y="3162300"/>
            <a:ext cx="56388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62DE4263-C365-40F9-9A87-92CCF2EB49D1}"/>
              </a:ext>
            </a:extLst>
          </p:cNvPr>
          <p:cNvSpPr/>
          <p:nvPr/>
        </p:nvSpPr>
        <p:spPr>
          <a:xfrm>
            <a:off x="6400800" y="3276600"/>
            <a:ext cx="3048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9FE17B2-8462-4B52-A1E8-8036CF1B4A6A}"/>
              </a:ext>
            </a:extLst>
          </p:cNvPr>
          <p:cNvSpPr txBox="1"/>
          <p:nvPr/>
        </p:nvSpPr>
        <p:spPr>
          <a:xfrm>
            <a:off x="6477000" y="3324225"/>
            <a:ext cx="2895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Step 8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 ·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Volume / Number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8017C7D-F2B4-4F4E-9537-F7E570154D33}"/>
              </a:ext>
            </a:extLst>
          </p:cNvPr>
          <p:cNvSpPr txBox="1"/>
          <p:nvPr/>
        </p:nvSpPr>
        <p:spPr>
          <a:xfrm>
            <a:off x="6400800" y="3714750"/>
            <a:ext cx="5334000" cy="4381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对于期刊引用，需要有准确的期卷号，例如：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94CE15F-41C2-4726-8B8A-AB15706FC7D7}"/>
              </a:ext>
            </a:extLst>
          </p:cNvPr>
          <p:cNvSpPr txBox="1"/>
          <p:nvPr/>
        </p:nvSpPr>
        <p:spPr>
          <a:xfrm>
            <a:off x="6400800" y="4133850"/>
            <a:ext cx="5334000" cy="6667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journal={Nature}, volume = {529}, number = {7587},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pages = {484--489}, year={2016}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9E990D1-7799-48C4-ADDE-D748981FFCB5}"/>
              </a:ext>
            </a:extLst>
          </p:cNvPr>
          <p:cNvSpPr/>
          <p:nvPr/>
        </p:nvSpPr>
        <p:spPr>
          <a:xfrm>
            <a:off x="304800" y="4972050"/>
            <a:ext cx="11582400" cy="952500"/>
          </a:xfrm>
          <a:prstGeom prst="roundRect">
            <a:avLst>
              <a:gd name="adj" fmla="val 7575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CEB9ACF-35B4-43DE-99D9-336D88D42F59}"/>
              </a:ext>
            </a:extLst>
          </p:cNvPr>
          <p:cNvSpPr txBox="1"/>
          <p:nvPr/>
        </p:nvSpPr>
        <p:spPr>
          <a:xfrm>
            <a:off x="457200" y="5143500"/>
            <a:ext cx="11277600" cy="8382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400" b="1">
                <a:solidFill>
                  <a:srgbClr val="B5743A"/>
                </a:solidFill>
                <a:latin typeface="Times New Roman"/>
                <a:ea typeface="Times New Roman"/>
              </a:rPr>
              <a:t>Step 9</a:t>
            </a:r>
            <a:r>
              <a:rPr sz="1400" b="1">
                <a:solidFill>
                  <a:srgbClr val="B5743A"/>
                </a:solidFill>
                <a:latin typeface="Times New Roman"/>
                <a:ea typeface="华文中宋"/>
              </a:rPr>
              <a:t> · Pages　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除部分特殊会议没有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pages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，例如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ICLR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，其余保持一致即可。同一批参考文献里，页码字段要么都写，要么都不写，不要条目之间风格不一。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32637B7-5DEC-4845-9FB6-AE255D928F3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第十五篇 Reference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FEA1E35-6738-48F6-BCB3-CA2429963F1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74 / 86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DC18015-448A-4A68-9D58-9E0EADB98E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D61F53A9-806F-48D4-9DF5-25DEB758804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3DEFA2E-4478-4130-A242-9DF9F9F2BCF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A97870-2F96-4CF1-B529-7E726EFE4D82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Step 7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：同一个会议的引用，格式必须完全一致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CA1349E-5F73-4AB6-B644-0457286E8786}"/>
              </a:ext>
            </a:extLst>
          </p:cNvPr>
          <p:cNvSpPr/>
          <p:nvPr/>
        </p:nvSpPr>
        <p:spPr>
          <a:xfrm>
            <a:off x="304800" y="838200"/>
            <a:ext cx="11582400" cy="1352550"/>
          </a:xfrm>
          <a:prstGeom prst="roundRect">
            <a:avLst>
              <a:gd name="adj" fmla="val 7042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907E159-6629-456E-A705-902015991AE5}"/>
              </a:ext>
            </a:extLst>
          </p:cNvPr>
          <p:cNvSpPr txBox="1"/>
          <p:nvPr/>
        </p:nvSpPr>
        <p:spPr>
          <a:xfrm>
            <a:off x="457200" y="990600"/>
            <a:ext cx="112776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0B56A8"/>
                </a:solidFill>
                <a:latin typeface="Times New Roman"/>
                <a:ea typeface="华文中宋"/>
              </a:rPr>
              <a:t>统一原则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17280CB-376A-4D2F-9946-4976E780FA3B}"/>
              </a:ext>
            </a:extLst>
          </p:cNvPr>
          <p:cNvSpPr txBox="1"/>
          <p:nvPr/>
        </p:nvSpPr>
        <p:spPr>
          <a:xfrm>
            <a:off x="457200" y="1495425"/>
            <a:ext cx="11277600" cy="7810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确保在参考文献中，同一个会议的引用，格式完全一致：不要有的用全称，有的用缩写；有的首字母大写，有的不大写等等。会议名称首字母都改为大写，同一个会议在全文中只保留一种写法。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8295F44-3BA1-4629-AD67-476DE775A2ED}"/>
              </a:ext>
            </a:extLst>
          </p:cNvPr>
          <p:cNvSpPr/>
          <p:nvPr/>
        </p:nvSpPr>
        <p:spPr>
          <a:xfrm>
            <a:off x="304800" y="2562225"/>
            <a:ext cx="563880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659BEE2-6887-4268-95F2-F19828B3A01D}"/>
              </a:ext>
            </a:extLst>
          </p:cNvPr>
          <p:cNvSpPr/>
          <p:nvPr/>
        </p:nvSpPr>
        <p:spPr>
          <a:xfrm>
            <a:off x="457200" y="2676525"/>
            <a:ext cx="2286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564266D-E204-4B2D-B35A-955502652773}"/>
              </a:ext>
            </a:extLst>
          </p:cNvPr>
          <p:cNvSpPr txBox="1"/>
          <p:nvPr/>
        </p:nvSpPr>
        <p:spPr>
          <a:xfrm>
            <a:off x="533400" y="2724150"/>
            <a:ext cx="2133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大部分会议的写法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BD8B843-7DD8-4D53-A69C-473ADC60A6E3}"/>
              </a:ext>
            </a:extLst>
          </p:cNvPr>
          <p:cNvSpPr txBox="1"/>
          <p:nvPr/>
        </p:nvSpPr>
        <p:spPr>
          <a:xfrm>
            <a:off x="457200" y="3114675"/>
            <a:ext cx="5334000" cy="3429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对于大部分会议，都应该写成如下形式：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10CE44A-2D17-469A-8D17-58B3837F950B}"/>
              </a:ext>
            </a:extLst>
          </p:cNvPr>
          <p:cNvSpPr txBox="1"/>
          <p:nvPr/>
        </p:nvSpPr>
        <p:spPr>
          <a:xfrm>
            <a:off x="457200" y="3514725"/>
            <a:ext cx="53340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  <a:spcAft>
                <a:spcPts val="200"/>
              </a:spcAft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Proceedings of the xxth International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Conference on Machine Learning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97DE1C-9B59-4682-88C2-7E1A5D631A54}"/>
              </a:ext>
            </a:extLst>
          </p:cNvPr>
          <p:cNvSpPr txBox="1"/>
          <p:nvPr/>
        </p:nvSpPr>
        <p:spPr>
          <a:xfrm>
            <a:off x="457200" y="4143375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会议名称首字母都改为大写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A8BB427C-9410-491C-8B7C-82707794D149}"/>
              </a:ext>
            </a:extLst>
          </p:cNvPr>
          <p:cNvSpPr/>
          <p:nvPr/>
        </p:nvSpPr>
        <p:spPr>
          <a:xfrm>
            <a:off x="6248400" y="2562225"/>
            <a:ext cx="563880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F2FF6279-6E83-4FAA-AF90-24A602686609}"/>
              </a:ext>
            </a:extLst>
          </p:cNvPr>
          <p:cNvSpPr/>
          <p:nvPr/>
        </p:nvSpPr>
        <p:spPr>
          <a:xfrm>
            <a:off x="6400800" y="2676525"/>
            <a:ext cx="20574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1DC75-74CC-4613-809C-CCB228A12E29}"/>
              </a:ext>
            </a:extLst>
          </p:cNvPr>
          <p:cNvSpPr txBox="1"/>
          <p:nvPr/>
        </p:nvSpPr>
        <p:spPr>
          <a:xfrm>
            <a:off x="6477000" y="2724150"/>
            <a:ext cx="19050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届数与序数词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FAC87F-91F5-4E06-BE23-78B7E2A4F32E}"/>
              </a:ext>
            </a:extLst>
          </p:cNvPr>
          <p:cNvSpPr txBox="1"/>
          <p:nvPr/>
        </p:nvSpPr>
        <p:spPr>
          <a:xfrm>
            <a:off x="6400800" y="3114675"/>
            <a:ext cx="5334000" cy="3429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届数用数字表示，注意序数词不要用错：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0027FE0-C4DD-470C-A8A5-B4014989CD83}"/>
              </a:ext>
            </a:extLst>
          </p:cNvPr>
          <p:cNvSpPr txBox="1"/>
          <p:nvPr/>
        </p:nvSpPr>
        <p:spPr>
          <a:xfrm>
            <a:off x="6400800" y="3514725"/>
            <a:ext cx="5334000" cy="32385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1st, 2nd, 3rd, 4th, 5th ……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2A9D33D-8929-4E12-93AE-707C9920E524}"/>
              </a:ext>
            </a:extLst>
          </p:cNvPr>
          <p:cNvSpPr txBox="1"/>
          <p:nvPr/>
        </p:nvSpPr>
        <p:spPr>
          <a:xfrm>
            <a:off x="6400800" y="3857625"/>
            <a:ext cx="5334000" cy="5334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有些特殊会议没有届数而是年份，保证同一个会议的引用格式一致即可。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AB86B9B-64C2-4ECB-AEB4-C2F3DF2EBCFC}"/>
              </a:ext>
            </a:extLst>
          </p:cNvPr>
          <p:cNvSpPr/>
          <p:nvPr/>
        </p:nvSpPr>
        <p:spPr>
          <a:xfrm>
            <a:off x="304800" y="4581525"/>
            <a:ext cx="11582400" cy="1381125"/>
          </a:xfrm>
          <a:prstGeom prst="roundRect">
            <a:avLst>
              <a:gd name="adj" fmla="val 6172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4DA0A0-D182-4807-992C-439F79BD15D0}"/>
              </a:ext>
            </a:extLst>
          </p:cNvPr>
          <p:cNvSpPr txBox="1"/>
          <p:nvPr/>
        </p:nvSpPr>
        <p:spPr>
          <a:xfrm>
            <a:off x="457200" y="4733925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改完一轮后，拿两个同会议条目放在一起对比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39B6A3D-3D5B-4F05-9ABF-2DF478BF2275}"/>
              </a:ext>
            </a:extLst>
          </p:cNvPr>
          <p:cNvSpPr txBox="1"/>
          <p:nvPr/>
        </p:nvSpPr>
        <p:spPr>
          <a:xfrm>
            <a:off x="457200" y="5038725"/>
            <a:ext cx="11277600" cy="3810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全拼与缩写、有无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Proceedings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前缀、序数词、尾部的届数，每一项都要一致。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25A3B0D-2A72-45DE-B88E-0BF084BC1812}"/>
              </a:ext>
            </a:extLst>
          </p:cNvPr>
          <p:cNvSpPr txBox="1"/>
          <p:nvPr/>
        </p:nvSpPr>
        <p:spPr>
          <a:xfrm>
            <a:off x="457200" y="5553075"/>
            <a:ext cx="11277600" cy="2857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Proceedings of the xxth International Conference on Machine Learning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50FC0CE-2018-4C7F-BD6D-FF89AD526E8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第十五篇 Reference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385529E-4C08-4937-B010-DDAAE91F73A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75 / 86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917126E-D98E-438A-9519-9186896B8B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3EAF77FC-35B6-45ED-920F-51A63416F96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56FC162-8649-4A6B-9794-21ABCC41CFA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AD97589-7420-4BDC-B7FB-18E2ABA439D1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特殊会议怎么写：用年份、无 </a:t>
            </a:r>
            <a:r>
              <a:rPr sz="2200" b="1">
                <a:solidFill>
                  <a:srgbClr val="7B2484"/>
                </a:solidFill>
                <a:latin typeface="Times New Roman"/>
                <a:ea typeface="Times New Roman"/>
              </a:rPr>
              <a:t>Proceedings</a:t>
            </a:r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、删尾部数字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699C150-BFBB-4CC3-91FA-0A80F9BC2F03}"/>
              </a:ext>
            </a:extLst>
          </p:cNvPr>
          <p:cNvSpPr/>
          <p:nvPr/>
        </p:nvSpPr>
        <p:spPr>
          <a:xfrm>
            <a:off x="304800" y="838200"/>
            <a:ext cx="11582400" cy="1381125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B83AED9-814D-4F63-A3D5-C0861A771698}"/>
              </a:ext>
            </a:extLst>
          </p:cNvPr>
          <p:cNvSpPr/>
          <p:nvPr/>
        </p:nvSpPr>
        <p:spPr>
          <a:xfrm>
            <a:off x="457200" y="952500"/>
            <a:ext cx="20574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AD67DD1-6C20-4DCD-8396-A9B2093A5A77}"/>
              </a:ext>
            </a:extLst>
          </p:cNvPr>
          <p:cNvSpPr txBox="1"/>
          <p:nvPr/>
        </p:nvSpPr>
        <p:spPr>
          <a:xfrm>
            <a:off x="533400" y="1000125"/>
            <a:ext cx="19050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没有届数而是年份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3E5E8C7-9C37-4484-BDCB-C8B9774FFB72}"/>
              </a:ext>
            </a:extLst>
          </p:cNvPr>
          <p:cNvSpPr txBox="1"/>
          <p:nvPr/>
        </p:nvSpPr>
        <p:spPr>
          <a:xfrm>
            <a:off x="2667000" y="990600"/>
            <a:ext cx="476250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保证同一个会议的引用格式一致即可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F7692F-3C7B-4F56-AF9D-A398A74BDB72}"/>
              </a:ext>
            </a:extLst>
          </p:cNvPr>
          <p:cNvSpPr txBox="1"/>
          <p:nvPr/>
        </p:nvSpPr>
        <p:spPr>
          <a:xfrm>
            <a:off x="457200" y="1390650"/>
            <a:ext cx="11277600" cy="11049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EMLNP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：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{Proceedings of the 2024 Conference on Empirical Methods in Natural Language Processing}</a:t>
            </a:r>
          </a:p>
          <a:p>
            <a:pPr>
              <a:lnSpc>
                <a:spcPct val="160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CVPR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：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booktitle = {Proceedings of the IEEE/CVF Conference on Computer Vision and Pattern Recognition}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DBCB135-ED63-4A6A-B0A3-7BEFBE4A2DC3}"/>
              </a:ext>
            </a:extLst>
          </p:cNvPr>
          <p:cNvSpPr/>
          <p:nvPr/>
        </p:nvSpPr>
        <p:spPr>
          <a:xfrm>
            <a:off x="304800" y="2667000"/>
            <a:ext cx="11582400" cy="1409700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CD06386-76E1-4586-9E62-172C2826D316}"/>
              </a:ext>
            </a:extLst>
          </p:cNvPr>
          <p:cNvSpPr/>
          <p:nvPr/>
        </p:nvSpPr>
        <p:spPr>
          <a:xfrm>
            <a:off x="457200" y="2781300"/>
            <a:ext cx="2667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1216350-AF66-4FA7-A30F-CCC6394056EA}"/>
              </a:ext>
            </a:extLst>
          </p:cNvPr>
          <p:cNvSpPr txBox="1"/>
          <p:nvPr/>
        </p:nvSpPr>
        <p:spPr>
          <a:xfrm>
            <a:off x="533400" y="2828925"/>
            <a:ext cx="2514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部分会议没有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Proceedings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2967C3-D5C9-4791-BD2C-592CCBAE4232}"/>
              </a:ext>
            </a:extLst>
          </p:cNvPr>
          <p:cNvSpPr txBox="1"/>
          <p:nvPr/>
        </p:nvSpPr>
        <p:spPr>
          <a:xfrm>
            <a:off x="3276600" y="2819400"/>
            <a:ext cx="4762500" cy="2286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同样只要求同一个会议格式一致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EC06EC4-6462-4213-B334-034D6DA1C609}"/>
              </a:ext>
            </a:extLst>
          </p:cNvPr>
          <p:cNvSpPr txBox="1"/>
          <p:nvPr/>
        </p:nvSpPr>
        <p:spPr>
          <a:xfrm>
            <a:off x="457200" y="3181350"/>
            <a:ext cx="11277600" cy="4381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 b="1">
                <a:solidFill>
                  <a:srgbClr val="0B56A8"/>
                </a:solidFill>
                <a:latin typeface="Times New Roman"/>
                <a:ea typeface="Times New Roman"/>
              </a:rPr>
              <a:t>NeurIPS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：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booktitle = {Advances in Neural Information Processing Systems}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9BAC573-7A76-4648-B13C-5E3EAB1F87D7}"/>
              </a:ext>
            </a:extLst>
          </p:cNvPr>
          <p:cNvSpPr txBox="1"/>
          <p:nvPr/>
        </p:nvSpPr>
        <p:spPr>
          <a:xfrm>
            <a:off x="457200" y="3638550"/>
            <a:ext cx="112776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注意　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很多时候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NeurIPS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引用后面会有一个数字，例如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Advances in Neural Information Processing Systems 34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，这种数字删掉。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49D06CE-6112-4943-9B0C-4464763B4316}"/>
              </a:ext>
            </a:extLst>
          </p:cNvPr>
          <p:cNvSpPr/>
          <p:nvPr/>
        </p:nvSpPr>
        <p:spPr>
          <a:xfrm>
            <a:off x="304800" y="4419600"/>
            <a:ext cx="11582400" cy="1285875"/>
          </a:xfrm>
          <a:prstGeom prst="roundRect">
            <a:avLst>
              <a:gd name="adj" fmla="val 5494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58FD207-C66A-4CB4-8ABB-FC3A44189D3A}"/>
              </a:ext>
            </a:extLst>
          </p:cNvPr>
          <p:cNvSpPr txBox="1"/>
          <p:nvPr/>
        </p:nvSpPr>
        <p:spPr>
          <a:xfrm>
            <a:off x="457200" y="4591050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自检时把同会议条目两两对齐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5793CAB-CF4A-456D-A60D-B8CBBB6FF965}"/>
              </a:ext>
            </a:extLst>
          </p:cNvPr>
          <p:cNvSpPr txBox="1"/>
          <p:nvPr/>
        </p:nvSpPr>
        <p:spPr>
          <a:xfrm>
            <a:off x="457200" y="4933950"/>
            <a:ext cx="112776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会议名称首字母都改为大写；全称与缩写不混用；有无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booktitle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前缀不混用；届数写法不混用。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只要两个同会议条目放在一起能看出差异，就是需要改的地方。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453414D-1D3F-484B-8753-48A6E1622BC5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第十五篇 Reference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4F7C3F5-F217-47A4-A653-76E4DB2C472B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76 / 86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B9ED9BE-B3B0-4386-ADA8-061CC0A618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F3FC108F-A9CF-4D79-AB62-641153367D4E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CB7F63E-3076-4DBB-82E8-E9367FCD2FE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2C2F3A6-BE46-4C7B-8AA7-4B910209743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投稿前自检：七项逐条过一遍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5EEB923-F24D-4F06-857F-34BCCB9E40F2}"/>
              </a:ext>
            </a:extLst>
          </p:cNvPr>
          <p:cNvSpPr/>
          <p:nvPr/>
        </p:nvSpPr>
        <p:spPr>
          <a:xfrm>
            <a:off x="304800" y="838200"/>
            <a:ext cx="56388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10C0870-9E6C-4CFB-BFC5-43DE6CEB0034}"/>
              </a:ext>
            </a:extLst>
          </p:cNvPr>
          <p:cNvSpPr/>
          <p:nvPr/>
        </p:nvSpPr>
        <p:spPr>
          <a:xfrm>
            <a:off x="457200" y="10096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AFE02F-8A0E-4907-836D-C9BCB8E0D7F7}"/>
              </a:ext>
            </a:extLst>
          </p:cNvPr>
          <p:cNvSpPr txBox="1"/>
          <p:nvPr/>
        </p:nvSpPr>
        <p:spPr>
          <a:xfrm>
            <a:off x="457200" y="107632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2ACA2C-B4F2-4D91-99B6-5E867ED2BE8E}"/>
              </a:ext>
            </a:extLst>
          </p:cNvPr>
          <p:cNvSpPr txBox="1"/>
          <p:nvPr/>
        </p:nvSpPr>
        <p:spPr>
          <a:xfrm>
            <a:off x="914400" y="102870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无关字段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是否删除，例如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Publisher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URL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等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3BB7510-6799-4610-94A9-C7C5B7FB2510}"/>
              </a:ext>
            </a:extLst>
          </p:cNvPr>
          <p:cNvSpPr/>
          <p:nvPr/>
        </p:nvSpPr>
        <p:spPr>
          <a:xfrm>
            <a:off x="6248400" y="838200"/>
            <a:ext cx="56388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71C3876-C438-4E61-8403-800D59B71A7F}"/>
              </a:ext>
            </a:extLst>
          </p:cNvPr>
          <p:cNvSpPr/>
          <p:nvPr/>
        </p:nvSpPr>
        <p:spPr>
          <a:xfrm>
            <a:off x="6400800" y="10096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C03436B-9188-456C-8C33-F1BF672F6B35}"/>
              </a:ext>
            </a:extLst>
          </p:cNvPr>
          <p:cNvSpPr txBox="1"/>
          <p:nvPr/>
        </p:nvSpPr>
        <p:spPr>
          <a:xfrm>
            <a:off x="6400800" y="107632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0A57555-F8E1-4D71-BD11-C2C43B41FA3D}"/>
              </a:ext>
            </a:extLst>
          </p:cNvPr>
          <p:cNvSpPr txBox="1"/>
          <p:nvPr/>
        </p:nvSpPr>
        <p:spPr>
          <a:xfrm>
            <a:off x="6858000" y="102870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Title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是否有标题大小写混乱，即有的文章标题每个首字母都大写，有的只有第一个字母大写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1BC37C0-59E8-48D5-B98D-7E33159FF2A3}"/>
              </a:ext>
            </a:extLst>
          </p:cNvPr>
          <p:cNvSpPr/>
          <p:nvPr/>
        </p:nvSpPr>
        <p:spPr>
          <a:xfrm>
            <a:off x="304800" y="2190750"/>
            <a:ext cx="56388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066A926-791E-4055-92C2-A2E81B1ED7B0}"/>
              </a:ext>
            </a:extLst>
          </p:cNvPr>
          <p:cNvSpPr/>
          <p:nvPr/>
        </p:nvSpPr>
        <p:spPr>
          <a:xfrm>
            <a:off x="457200" y="236220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AF642E9-7A9A-43F5-A525-66ED1C95BCAC}"/>
              </a:ext>
            </a:extLst>
          </p:cNvPr>
          <p:cNvSpPr txBox="1"/>
          <p:nvPr/>
        </p:nvSpPr>
        <p:spPr>
          <a:xfrm>
            <a:off x="457200" y="242887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17840EA-0C58-4FDD-8629-EE8A7E17188B}"/>
              </a:ext>
            </a:extLst>
          </p:cNvPr>
          <p:cNvSpPr txBox="1"/>
          <p:nvPr/>
        </p:nvSpPr>
        <p:spPr>
          <a:xfrm>
            <a:off x="914400" y="238125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Author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作者名称是否写全，作者太多的改为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et al.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，是否有大小写混乱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BF1489B-D8FE-41DD-B4B8-E452DE881ED1}"/>
              </a:ext>
            </a:extLst>
          </p:cNvPr>
          <p:cNvSpPr/>
          <p:nvPr/>
        </p:nvSpPr>
        <p:spPr>
          <a:xfrm>
            <a:off x="6248400" y="2190750"/>
            <a:ext cx="56388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4C5E2DC-39A5-4E6C-98A2-31EB11B11977}"/>
              </a:ext>
            </a:extLst>
          </p:cNvPr>
          <p:cNvSpPr/>
          <p:nvPr/>
        </p:nvSpPr>
        <p:spPr>
          <a:xfrm>
            <a:off x="6400800" y="236220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32FBB21-13C1-413A-B385-CDBDEC3429C8}"/>
              </a:ext>
            </a:extLst>
          </p:cNvPr>
          <p:cNvSpPr txBox="1"/>
          <p:nvPr/>
        </p:nvSpPr>
        <p:spPr>
          <a:xfrm>
            <a:off x="6400800" y="242887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8C2F512-5CAF-47A7-88BC-83D8A0A4C2D5}"/>
              </a:ext>
            </a:extLst>
          </p:cNvPr>
          <p:cNvSpPr txBox="1"/>
          <p:nvPr/>
        </p:nvSpPr>
        <p:spPr>
          <a:xfrm>
            <a:off x="6858000" y="238125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Booktitle / Journal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同一个会议格式是否统一、是否有无关词（例如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NeurIPS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的数字）、大小写是否一致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431C161-9616-4488-B259-D7001F8926DE}"/>
              </a:ext>
            </a:extLst>
          </p:cNvPr>
          <p:cNvSpPr/>
          <p:nvPr/>
        </p:nvSpPr>
        <p:spPr>
          <a:xfrm>
            <a:off x="304800" y="3543300"/>
            <a:ext cx="5638800" cy="8953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825A8DB-0272-456B-98C3-14101AEA29F9}"/>
              </a:ext>
            </a:extLst>
          </p:cNvPr>
          <p:cNvSpPr/>
          <p:nvPr/>
        </p:nvSpPr>
        <p:spPr>
          <a:xfrm>
            <a:off x="457200" y="37147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BE0AD80-737B-481B-A7EC-EC135314B157}"/>
              </a:ext>
            </a:extLst>
          </p:cNvPr>
          <p:cNvSpPr txBox="1"/>
          <p:nvPr/>
        </p:nvSpPr>
        <p:spPr>
          <a:xfrm>
            <a:off x="457200" y="378142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D79BF44-3304-445E-8E91-F2C1695A014D}"/>
              </a:ext>
            </a:extLst>
          </p:cNvPr>
          <p:cNvSpPr txBox="1"/>
          <p:nvPr/>
        </p:nvSpPr>
        <p:spPr>
          <a:xfrm>
            <a:off x="914400" y="373380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Volume / Number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期刊引用期卷号不要缺失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0BC1827-977F-4D39-8E38-B46FE401CD9E}"/>
              </a:ext>
            </a:extLst>
          </p:cNvPr>
          <p:cNvSpPr/>
          <p:nvPr/>
        </p:nvSpPr>
        <p:spPr>
          <a:xfrm>
            <a:off x="6248400" y="3543300"/>
            <a:ext cx="5638800" cy="8953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34AF5B50-C331-46B1-A803-610F1B11D0DE}"/>
              </a:ext>
            </a:extLst>
          </p:cNvPr>
          <p:cNvSpPr/>
          <p:nvPr/>
        </p:nvSpPr>
        <p:spPr>
          <a:xfrm>
            <a:off x="6400800" y="371475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8DC9DBD-31B5-4F67-A9A4-2DDA8B68D633}"/>
              </a:ext>
            </a:extLst>
          </p:cNvPr>
          <p:cNvSpPr txBox="1"/>
          <p:nvPr/>
        </p:nvSpPr>
        <p:spPr>
          <a:xfrm>
            <a:off x="6400800" y="378142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87BEB59-6EF8-4015-9ACA-B07BF9BB5CAB}"/>
              </a:ext>
            </a:extLst>
          </p:cNvPr>
          <p:cNvSpPr txBox="1"/>
          <p:nvPr/>
        </p:nvSpPr>
        <p:spPr>
          <a:xfrm>
            <a:off x="6858000" y="373380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Times New Roman"/>
              </a:rPr>
              <a:t>Pages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除了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ICLR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等没有页码的会议，其他不要缺失页码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FFCBF72-17EA-482A-A855-78D954B621CA}"/>
              </a:ext>
            </a:extLst>
          </p:cNvPr>
          <p:cNvSpPr/>
          <p:nvPr/>
        </p:nvSpPr>
        <p:spPr>
          <a:xfrm>
            <a:off x="304800" y="4895850"/>
            <a:ext cx="56388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03843F62-5F6D-48AA-8B49-05CD8D8DFE0E}"/>
              </a:ext>
            </a:extLst>
          </p:cNvPr>
          <p:cNvSpPr/>
          <p:nvPr/>
        </p:nvSpPr>
        <p:spPr>
          <a:xfrm>
            <a:off x="457200" y="5067300"/>
            <a:ext cx="342900" cy="342900"/>
          </a:xfrm>
          <a:prstGeom prst="ellipse">
            <a:avLst/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E82F68-661F-44C4-8F22-21F82F3ADFFF}"/>
              </a:ext>
            </a:extLst>
          </p:cNvPr>
          <p:cNvSpPr txBox="1"/>
          <p:nvPr/>
        </p:nvSpPr>
        <p:spPr>
          <a:xfrm>
            <a:off x="457200" y="5133975"/>
            <a:ext cx="3429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</a:rPr>
              <a:t>07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85FB32A-E5D8-4BA2-89A2-5E17F2165E2C}"/>
              </a:ext>
            </a:extLst>
          </p:cNvPr>
          <p:cNvSpPr txBox="1"/>
          <p:nvPr/>
        </p:nvSpPr>
        <p:spPr>
          <a:xfrm>
            <a:off x="914400" y="5086350"/>
            <a:ext cx="4876800" cy="990600"/>
          </a:xfrm>
        </p:spPr>
        <p:txBody>
          <a:bodyPr wrap="square" rtlCol="0" lIns="0" tIns="0" rIns="0" bIns="0" anchor="t"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A2430"/>
                </a:solidFill>
                <a:latin typeface="Times New Roman"/>
                <a:ea typeface="华文中宋"/>
              </a:rPr>
              <a:t>重复检查</a:t>
            </a:r>
          </a:p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是否有重复的文献（同一篇文章被两个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key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引用）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49F86305-C705-405F-80FB-D1B6479BE981}"/>
              </a:ext>
            </a:extLst>
          </p:cNvPr>
          <p:cNvSpPr/>
          <p:nvPr/>
        </p:nvSpPr>
        <p:spPr>
          <a:xfrm>
            <a:off x="6248400" y="4895850"/>
            <a:ext cx="5638800" cy="1238250"/>
          </a:xfrm>
          <a:prstGeom prst="roundRect">
            <a:avLst>
              <a:gd name="adj" fmla="val 7692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C03BB0E-0900-447C-9769-B0204ED2C9E3}"/>
              </a:ext>
            </a:extLst>
          </p:cNvPr>
          <p:cNvSpPr txBox="1"/>
          <p:nvPr/>
        </p:nvSpPr>
        <p:spPr>
          <a:xfrm>
            <a:off x="6400800" y="508635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自检不是可选步骤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8BCB303-BAAB-4956-B9C9-4AED22BE4B86}"/>
              </a:ext>
            </a:extLst>
          </p:cNvPr>
          <p:cNvSpPr txBox="1"/>
          <p:nvPr/>
        </p:nvSpPr>
        <p:spPr>
          <a:xfrm>
            <a:off x="6400800" y="5429250"/>
            <a:ext cx="5334000" cy="633984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每一项都要自己手动过一遍，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确认格式正确、统一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C0236B16-1635-4DC0-B831-C92780E78ACD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第十五篇 Reference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E4475B0-4867-4654-80CD-798F4F315B3F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77 / 86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C1EA26B0-46E5-4FDA-981E-1353AD6F05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202D21CF-8F6C-44C4-9200-8296CA4FE2FB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9905987-2F70-4E35-94DC-FF4A5D01471C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7AA193-FCFD-45B8-A4C6-7D1C450EDC85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Rebuttal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的五条技巧与原则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2566881-CA8E-4C03-9AF2-BCA128B07C06}"/>
              </a:ext>
            </a:extLst>
          </p:cNvPr>
          <p:cNvSpPr/>
          <p:nvPr/>
        </p:nvSpPr>
        <p:spPr>
          <a:xfrm>
            <a:off x="304800" y="838200"/>
            <a:ext cx="3733800" cy="1285875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92BB4FA-E45C-4162-85E0-E96233F7343D}"/>
              </a:ext>
            </a:extLst>
          </p:cNvPr>
          <p:cNvSpPr/>
          <p:nvPr/>
        </p:nvSpPr>
        <p:spPr>
          <a:xfrm>
            <a:off x="457200" y="952500"/>
            <a:ext cx="20955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65C25AE-B78C-490A-AE17-885493F2EDEF}"/>
              </a:ext>
            </a:extLst>
          </p:cNvPr>
          <p:cNvSpPr txBox="1"/>
          <p:nvPr/>
        </p:nvSpPr>
        <p:spPr>
          <a:xfrm>
            <a:off x="533400" y="1000125"/>
            <a:ext cx="19431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①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有问必答，不漏点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22F0671-A733-45CA-A0CA-DF491D0EE6F1}"/>
              </a:ext>
            </a:extLst>
          </p:cNvPr>
          <p:cNvSpPr txBox="1"/>
          <p:nvPr/>
        </p:nvSpPr>
        <p:spPr>
          <a:xfrm>
            <a:off x="457200" y="1390650"/>
            <a:ext cx="3429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逐点回应每一条意见；篇幅有限时可把类似意见合并为一点，但万不可擅自删除或遗漏要点。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BEFAD21-45CB-49BB-A293-FA28BA2AD189}"/>
              </a:ext>
            </a:extLst>
          </p:cNvPr>
          <p:cNvSpPr/>
          <p:nvPr/>
        </p:nvSpPr>
        <p:spPr>
          <a:xfrm>
            <a:off x="4229100" y="838200"/>
            <a:ext cx="3733800" cy="1285875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DBE0D2A-489A-440F-8B91-3655B342282B}"/>
              </a:ext>
            </a:extLst>
          </p:cNvPr>
          <p:cNvSpPr/>
          <p:nvPr/>
        </p:nvSpPr>
        <p:spPr>
          <a:xfrm>
            <a:off x="4381500" y="952500"/>
            <a:ext cx="20955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E913B53-0434-425D-B52D-2BF75D3E61C0}"/>
              </a:ext>
            </a:extLst>
          </p:cNvPr>
          <p:cNvSpPr txBox="1"/>
          <p:nvPr/>
        </p:nvSpPr>
        <p:spPr>
          <a:xfrm>
            <a:off x="4457700" y="1000125"/>
            <a:ext cx="19431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②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揣摩审稿人倾向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1F91C87-C1B2-4BD5-A139-0A85410C9D15}"/>
              </a:ext>
            </a:extLst>
          </p:cNvPr>
          <p:cNvSpPr txBox="1"/>
          <p:nvPr/>
        </p:nvSpPr>
        <p:spPr>
          <a:xfrm>
            <a:off x="4381500" y="1390650"/>
            <a:ext cx="3429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一切可以团结的力量都要团结，不中立的争取为中立，反动的也可以分化和利用（下一页展开）。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45594D8-4738-4E25-A214-EFD76AA30B7D}"/>
              </a:ext>
            </a:extLst>
          </p:cNvPr>
          <p:cNvSpPr/>
          <p:nvPr/>
        </p:nvSpPr>
        <p:spPr>
          <a:xfrm>
            <a:off x="8153400" y="838200"/>
            <a:ext cx="3733800" cy="1285875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8C1E395-9825-434C-A257-C1C94E58926B}"/>
              </a:ext>
            </a:extLst>
          </p:cNvPr>
          <p:cNvSpPr/>
          <p:nvPr/>
        </p:nvSpPr>
        <p:spPr>
          <a:xfrm>
            <a:off x="8305800" y="952500"/>
            <a:ext cx="22479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1EABED1-910C-4A57-B33F-DE9275B054A0}"/>
              </a:ext>
            </a:extLst>
          </p:cNvPr>
          <p:cNvSpPr txBox="1"/>
          <p:nvPr/>
        </p:nvSpPr>
        <p:spPr>
          <a:xfrm>
            <a:off x="8382000" y="1000125"/>
            <a:ext cx="20955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③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 Rebuttal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是一盘棋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41120F2-93D2-498A-81C2-4B235598470B}"/>
              </a:ext>
            </a:extLst>
          </p:cNvPr>
          <p:cNvSpPr txBox="1"/>
          <p:nvPr/>
        </p:nvSpPr>
        <p:spPr>
          <a:xfrm>
            <a:off x="8305800" y="1390650"/>
            <a:ext cx="3429000" cy="10668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整篇需要统筹协调，与正文、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 review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配合得相得益彰；哪位审稿人多分配笔墨都要深入思考。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2889871-5588-4AA6-88D2-3357444369E3}"/>
              </a:ext>
            </a:extLst>
          </p:cNvPr>
          <p:cNvSpPr/>
          <p:nvPr/>
        </p:nvSpPr>
        <p:spPr>
          <a:xfrm>
            <a:off x="304800" y="2743200"/>
            <a:ext cx="5638800" cy="12573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0D8A819-CCE3-4B21-8C0A-66F2A1FB793C}"/>
              </a:ext>
            </a:extLst>
          </p:cNvPr>
          <p:cNvSpPr/>
          <p:nvPr/>
        </p:nvSpPr>
        <p:spPr>
          <a:xfrm>
            <a:off x="457200" y="2857500"/>
            <a:ext cx="20955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2A9D9D8-323E-4F79-AB3B-D586389E83CF}"/>
              </a:ext>
            </a:extLst>
          </p:cNvPr>
          <p:cNvSpPr txBox="1"/>
          <p:nvPr/>
        </p:nvSpPr>
        <p:spPr>
          <a:xfrm>
            <a:off x="533400" y="2905125"/>
            <a:ext cx="19431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④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能缩写就缩写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80963EB-0AF6-4EC9-A002-0F9231351E3C}"/>
              </a:ext>
            </a:extLst>
          </p:cNvPr>
          <p:cNvSpPr txBox="1"/>
          <p:nvPr/>
        </p:nvSpPr>
        <p:spPr>
          <a:xfrm>
            <a:off x="457200" y="3314700"/>
            <a:ext cx="5334000" cy="7239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中能缩写的尽量缩写，从而节省空间，将资源留给更需要的回应。</a:t>
            </a:r>
          </a:p>
          <a:p>
            <a:pPr>
              <a:lnSpc>
                <a:spcPct val="145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篇幅是一种有限资源，分配本身就是在优化你的得分期望。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E4EECC7-E039-4801-A38D-5FBE3B78C4F7}"/>
              </a:ext>
            </a:extLst>
          </p:cNvPr>
          <p:cNvSpPr/>
          <p:nvPr/>
        </p:nvSpPr>
        <p:spPr>
          <a:xfrm>
            <a:off x="6248400" y="2743200"/>
            <a:ext cx="5638800" cy="12573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70B3C66E-2E30-4386-9FD9-E9BD74C4082F}"/>
              </a:ext>
            </a:extLst>
          </p:cNvPr>
          <p:cNvSpPr/>
          <p:nvPr/>
        </p:nvSpPr>
        <p:spPr>
          <a:xfrm>
            <a:off x="6400800" y="2857500"/>
            <a:ext cx="3048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809979E-849A-4A5F-AC13-B9323DCF6F38}"/>
              </a:ext>
            </a:extLst>
          </p:cNvPr>
          <p:cNvSpPr txBox="1"/>
          <p:nvPr/>
        </p:nvSpPr>
        <p:spPr>
          <a:xfrm>
            <a:off x="6477000" y="2905125"/>
            <a:ext cx="2895600" cy="2095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⑤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发现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factual error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，先下一城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B501DD0-E172-43C5-8C19-AD4E64412D90}"/>
              </a:ext>
            </a:extLst>
          </p:cNvPr>
          <p:cNvSpPr txBox="1"/>
          <p:nvPr/>
        </p:nvSpPr>
        <p:spPr>
          <a:xfrm>
            <a:off x="6400800" y="3314700"/>
            <a:ext cx="5334000" cy="723900"/>
          </a:xfrm>
        </p:spPr>
        <p:txBody>
          <a:bodyPr wrap="square" rtlCol="0" lIns="0" tIns="0" rIns="0" bIns="0" anchor="t"/>
          <a:lstStyle/>
          <a:p>
            <a:pPr>
              <a:lnSpc>
                <a:spcPct val="145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若审稿人提出的观点有显然错误、或要求对比的数据集显然不是本领域常用数据，可在回应此人时首先指出其错误，赢得主动。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6411354F-CAD9-45D2-ABB1-EFD74EB77312}"/>
              </a:ext>
            </a:extLst>
          </p:cNvPr>
          <p:cNvSpPr/>
          <p:nvPr/>
        </p:nvSpPr>
        <p:spPr>
          <a:xfrm>
            <a:off x="304800" y="4305300"/>
            <a:ext cx="11582400" cy="1905000"/>
          </a:xfrm>
          <a:prstGeom prst="roundRect">
            <a:avLst>
              <a:gd name="adj" fmla="val 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6DC1349-E42A-4A73-8D15-3DCBF37DC036}"/>
              </a:ext>
            </a:extLst>
          </p:cNvPr>
          <p:cNvSpPr txBox="1"/>
          <p:nvPr/>
        </p:nvSpPr>
        <p:spPr>
          <a:xfrm>
            <a:off x="457200" y="4476750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记住：</a:t>
            </a:r>
            <a:r>
              <a:rPr sz="1600" b="1">
                <a:solidFill>
                  <a:srgbClr val="FFC845"/>
                </a:solidFill>
                <a:latin typeface="Times New Roman"/>
                <a:ea typeface="Times New Roman"/>
              </a:rPr>
              <a:t>rebuttal</a:t>
            </a:r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 不只写给那位审稿人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DDB8153-1A1E-453C-8DEF-7E52D25F78BA}"/>
              </a:ext>
            </a:extLst>
          </p:cNvPr>
          <p:cNvSpPr txBox="1"/>
          <p:nvPr/>
        </p:nvSpPr>
        <p:spPr>
          <a:xfrm>
            <a:off x="457200" y="4781550"/>
            <a:ext cx="11277600" cy="7048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除了该审稿人之外，其他审稿人以及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AC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都会看到。上述问题还可以在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AC Message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中指出，降低该审稿人意见在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AC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心中的置信度。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AABDD67-7F70-44A6-93AF-194FAC5B6E16}"/>
              </a:ext>
            </a:extLst>
          </p:cNvPr>
          <p:cNvSpPr/>
          <p:nvPr/>
        </p:nvSpPr>
        <p:spPr>
          <a:xfrm>
            <a:off x="533400" y="552450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FD4AF17-422E-473F-8C19-759A2FEC8596}"/>
              </a:ext>
            </a:extLst>
          </p:cNvPr>
          <p:cNvSpPr txBox="1"/>
          <p:nvPr/>
        </p:nvSpPr>
        <p:spPr>
          <a:xfrm>
            <a:off x="685800" y="5657850"/>
            <a:ext cx="10668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一旦被审阅人在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paper discussion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阶段发现遗漏，就会被当作硬伤“置于死地”。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E347B4D-9033-410B-9966-22DC85455703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432C135-8963-4E2E-ABDF-FE519D97A83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78 / 86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F96F2FA-4CC2-4AC6-97E8-3D7AAD627A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FC785A70-1AFE-42D6-B888-4636DD74E250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5E26EA0-39F0-4C63-8060-1CB21C3ED43C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F8CA0E3-9189-4E8A-A59D-C4BDB58CB00B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揣摩审稿人倾向：不同类型，不同用兵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6373E41-A529-42DE-925A-B7350DF6C9AE}"/>
              </a:ext>
            </a:extLst>
          </p:cNvPr>
          <p:cNvSpPr/>
          <p:nvPr/>
        </p:nvSpPr>
        <p:spPr>
          <a:xfrm>
            <a:off x="304800" y="838200"/>
            <a:ext cx="11582400" cy="800100"/>
          </a:xfrm>
          <a:prstGeom prst="roundRect">
            <a:avLst>
              <a:gd name="adj" fmla="val 11904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FAA2F2-3D75-400F-BCF1-A75E4FF185C9}"/>
              </a:ext>
            </a:extLst>
          </p:cNvPr>
          <p:cNvSpPr txBox="1"/>
          <p:nvPr/>
        </p:nvSpPr>
        <p:spPr>
          <a:xfrm>
            <a:off x="533400" y="990600"/>
            <a:ext cx="9144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总原则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9D223B4-AB99-41E9-971D-975C3FA30DFF}"/>
              </a:ext>
            </a:extLst>
          </p:cNvPr>
          <p:cNvSpPr txBox="1"/>
          <p:nvPr/>
        </p:nvSpPr>
        <p:spPr>
          <a:xfrm>
            <a:off x="1676400" y="1123950"/>
            <a:ext cx="10363200" cy="4953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一切可以团结的力量都要团结，不中立的可以争取为中立，反动的也可以分化和利用。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B81DE44-1330-4ADF-B13F-37D06A7AF98D}"/>
              </a:ext>
            </a:extLst>
          </p:cNvPr>
          <p:cNvSpPr/>
          <p:nvPr/>
        </p:nvSpPr>
        <p:spPr>
          <a:xfrm>
            <a:off x="304800" y="1752600"/>
            <a:ext cx="3733800" cy="1724025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2A15E61-94D9-4879-9B6C-0C11F2982BD4}"/>
              </a:ext>
            </a:extLst>
          </p:cNvPr>
          <p:cNvSpPr/>
          <p:nvPr/>
        </p:nvSpPr>
        <p:spPr>
          <a:xfrm>
            <a:off x="457200" y="18859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822051-D176-44CA-80F2-8B22EC52A53E}"/>
              </a:ext>
            </a:extLst>
          </p:cNvPr>
          <p:cNvSpPr txBox="1"/>
          <p:nvPr/>
        </p:nvSpPr>
        <p:spPr>
          <a:xfrm>
            <a:off x="533400" y="1981200"/>
            <a:ext cx="3276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明确承诺提分的审稿人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7961F3C-ACB8-4BB8-AC52-88D362FCACBE}"/>
              </a:ext>
            </a:extLst>
          </p:cNvPr>
          <p:cNvSpPr txBox="1"/>
          <p:nvPr/>
        </p:nvSpPr>
        <p:spPr>
          <a:xfrm>
            <a:off x="457200" y="2457450"/>
            <a:ext cx="3429000" cy="12573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意见里写着“如果解决了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xxx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，我就会提升评分”——对此一定要充分争取。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C01A8D3-1843-44B2-946D-76C2E4B843C6}"/>
              </a:ext>
            </a:extLst>
          </p:cNvPr>
          <p:cNvSpPr/>
          <p:nvPr/>
        </p:nvSpPr>
        <p:spPr>
          <a:xfrm>
            <a:off x="4229100" y="1752600"/>
            <a:ext cx="3733800" cy="1724025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22E765C-044D-41E1-B578-C20FC6E846E8}"/>
              </a:ext>
            </a:extLst>
          </p:cNvPr>
          <p:cNvSpPr/>
          <p:nvPr/>
        </p:nvSpPr>
        <p:spPr>
          <a:xfrm>
            <a:off x="4381500" y="18859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6F3F5EA-B340-4965-8FD9-5F3077898A59}"/>
              </a:ext>
            </a:extLst>
          </p:cNvPr>
          <p:cNvSpPr txBox="1"/>
          <p:nvPr/>
        </p:nvSpPr>
        <p:spPr>
          <a:xfrm>
            <a:off x="4457700" y="1981200"/>
            <a:ext cx="3276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意见相互矛盾的两审稿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0A544F9-A9A0-4FD5-A86E-A9C11C2ADBF5}"/>
              </a:ext>
            </a:extLst>
          </p:cNvPr>
          <p:cNvSpPr txBox="1"/>
          <p:nvPr/>
        </p:nvSpPr>
        <p:spPr>
          <a:xfrm>
            <a:off x="4381500" y="2457450"/>
            <a:ext cx="3429000" cy="12573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一位指出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novelty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不足，另一位却说 </a:t>
            </a: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This paper is interesting and novel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——一定要为我所用，让两人在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discussion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中“短兵相接”。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FCD4AD59-8851-434B-8507-BB18361C1598}"/>
              </a:ext>
            </a:extLst>
          </p:cNvPr>
          <p:cNvSpPr/>
          <p:nvPr/>
        </p:nvSpPr>
        <p:spPr>
          <a:xfrm>
            <a:off x="8153400" y="1752600"/>
            <a:ext cx="3733800" cy="1724025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2CDDE8F-2345-449B-8F80-34F823A8E09F}"/>
              </a:ext>
            </a:extLst>
          </p:cNvPr>
          <p:cNvSpPr/>
          <p:nvPr/>
        </p:nvSpPr>
        <p:spPr>
          <a:xfrm>
            <a:off x="8305800" y="188595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1DDBC93-4CED-4D75-8F9F-6A2091F1CFF4}"/>
              </a:ext>
            </a:extLst>
          </p:cNvPr>
          <p:cNvSpPr txBox="1"/>
          <p:nvPr/>
        </p:nvSpPr>
        <p:spPr>
          <a:xfrm>
            <a:off x="8382000" y="1981200"/>
            <a:ext cx="3276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borderline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审稿人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F7E3F12-CF7F-4C82-8A7D-3CB0552C6D9E}"/>
              </a:ext>
            </a:extLst>
          </p:cNvPr>
          <p:cNvSpPr txBox="1"/>
          <p:nvPr/>
        </p:nvSpPr>
        <p:spPr>
          <a:xfrm>
            <a:off x="8305800" y="2457450"/>
            <a:ext cx="3543300" cy="12573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处在中线附近的评分，往往左右最终结果。——一定要充分“拉拢腐蚀”，把他关心的每一个问题回应到位。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E473590-066E-4AF4-9EDD-058F677CDBA1}"/>
              </a:ext>
            </a:extLst>
          </p:cNvPr>
          <p:cNvSpPr/>
          <p:nvPr/>
        </p:nvSpPr>
        <p:spPr>
          <a:xfrm>
            <a:off x="304800" y="3867150"/>
            <a:ext cx="5638800" cy="1819275"/>
          </a:xfrm>
          <a:prstGeom prst="roundRect">
            <a:avLst>
              <a:gd name="adj" fmla="val 4166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85ACB74-39FA-4532-803B-72AF81A0B3BE}"/>
              </a:ext>
            </a:extLst>
          </p:cNvPr>
          <p:cNvSpPr/>
          <p:nvPr/>
        </p:nvSpPr>
        <p:spPr>
          <a:xfrm>
            <a:off x="533400" y="4038600"/>
            <a:ext cx="2667000" cy="323850"/>
          </a:xfrm>
          <a:prstGeom prst="roundRect">
            <a:avLst>
              <a:gd name="adj" fmla="val 29411"/>
            </a:avLst>
          </a:prstGeom>
          <a:solidFill>
            <a:srgbClr val="0B56A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42A2505-4D90-4F46-BEBE-58D0F0EE21B4}"/>
              </a:ext>
            </a:extLst>
          </p:cNvPr>
          <p:cNvSpPr txBox="1"/>
          <p:nvPr/>
        </p:nvSpPr>
        <p:spPr>
          <a:xfrm>
            <a:off x="609600" y="4095750"/>
            <a:ext cx="25146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初审给了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positive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分数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2EBEC1D-E16C-4483-8837-6330F8EACA32}"/>
              </a:ext>
            </a:extLst>
          </p:cNvPr>
          <p:cNvSpPr txBox="1"/>
          <p:nvPr/>
        </p:nvSpPr>
        <p:spPr>
          <a:xfrm>
            <a:off x="457200" y="4533900"/>
            <a:ext cx="5334000" cy="14859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一定要巩固基础：</a:t>
            </a:r>
          </a:p>
          <a:p>
            <a:pPr>
              <a:lnSpc>
                <a:spcPct val="160000"/>
              </a:lnSpc>
              <a:spcBef>
                <a:spcPts val="3000"/>
              </a:spcBef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把已经达成共识的部分写清楚，不要再因为表述不清而重新引入争议点。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5AF40DAB-4028-4F37-AB68-BEF0AA6BF5BC}"/>
              </a:ext>
            </a:extLst>
          </p:cNvPr>
          <p:cNvSpPr/>
          <p:nvPr/>
        </p:nvSpPr>
        <p:spPr>
          <a:xfrm>
            <a:off x="6248400" y="3867150"/>
            <a:ext cx="5638800" cy="1819275"/>
          </a:xfrm>
          <a:prstGeom prst="roundRect">
            <a:avLst>
              <a:gd name="adj" fmla="val 4166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97794BDC-189D-4A03-A669-2A6F7EBE5027}"/>
              </a:ext>
            </a:extLst>
          </p:cNvPr>
          <p:cNvSpPr/>
          <p:nvPr/>
        </p:nvSpPr>
        <p:spPr>
          <a:xfrm>
            <a:off x="6477000" y="4038600"/>
            <a:ext cx="2667000" cy="323850"/>
          </a:xfrm>
          <a:prstGeom prst="roundRect">
            <a:avLst>
              <a:gd name="adj" fmla="val 29411"/>
            </a:avLst>
          </a:prstGeom>
          <a:solidFill>
            <a:srgbClr val="E86D3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0F0578B-387C-4D6D-A60A-730B7A6F2F80}"/>
              </a:ext>
            </a:extLst>
          </p:cNvPr>
          <p:cNvSpPr txBox="1"/>
          <p:nvPr/>
        </p:nvSpPr>
        <p:spPr>
          <a:xfrm>
            <a:off x="6553200" y="4095750"/>
            <a:ext cx="25146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初审给了 </a:t>
            </a:r>
            <a:r>
              <a:rPr sz="1400" b="1">
                <a:solidFill>
                  <a:srgbClr val="FFFFFF"/>
                </a:solidFill>
                <a:latin typeface="Times New Roman"/>
                <a:ea typeface="Times New Roman"/>
              </a:rPr>
              <a:t>negative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分数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4B72B9B-0F59-448F-BC8E-0DA8DC9FC85D}"/>
              </a:ext>
            </a:extLst>
          </p:cNvPr>
          <p:cNvSpPr txBox="1"/>
          <p:nvPr/>
        </p:nvSpPr>
        <p:spPr>
          <a:xfrm>
            <a:off x="6400800" y="4533900"/>
            <a:ext cx="5334000" cy="14859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一定要花费大多数的精力和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篇幅来解释澄清，</a:t>
            </a:r>
          </a:p>
          <a:p>
            <a:pPr>
              <a:lnSpc>
                <a:spcPct val="160000"/>
              </a:lnSpc>
              <a:spcBef>
                <a:spcPts val="3000"/>
              </a:spcBef>
            </a:pPr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争取“冰释前嫌”。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6D34AA3-79E3-44B6-B8C7-2C9119C4D213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E77AF30-F493-49E3-BB56-269183FE799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79 / 86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962A93F-C2B5-4DF9-BCA1-B26408D44E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590CA4D4-ED4C-434A-AA37-426CD11636B6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22744D5-FCD0-4EEF-96ED-4D807D4C65BF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44D746-4D85-4603-9230-FFCE7C1DD218}"/>
              </a:ext>
            </a:extLst>
          </p:cNvPr>
          <p:cNvSpPr txBox="1"/>
          <p:nvPr/>
        </p:nvSpPr>
        <p:spPr>
          <a:xfrm>
            <a:off x="304800" y="152400"/>
            <a:ext cx="7810500" cy="3810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常见问题 ① </a:t>
            </a:r>
            <a:r>
              <a:rPr sz="2200" b="1">
                <a:solidFill>
                  <a:srgbClr val="7B2484"/>
                </a:solidFill>
                <a:latin typeface="Times New Roman"/>
                <a:ea typeface="Times New Roman"/>
              </a:rPr>
              <a:t>Novelty</a:t>
            </a:r>
            <a:r>
              <a:rPr sz="2200" b="1">
                <a:solidFill>
                  <a:srgbClr val="7B2484"/>
                </a:solidFill>
                <a:latin typeface="Times New Roman"/>
                <a:ea typeface="华文中宋"/>
              </a:rPr>
              <a:t> 不足：先把类型说清，再选择打法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16E16E5-C2D0-4C50-AF5B-308CD1D551AC}"/>
              </a:ext>
            </a:extLst>
          </p:cNvPr>
          <p:cNvSpPr/>
          <p:nvPr/>
        </p:nvSpPr>
        <p:spPr>
          <a:xfrm>
            <a:off x="304800" y="838200"/>
            <a:ext cx="5638800" cy="108585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0862F90-6C71-41E9-A23E-79921BFC417F}"/>
              </a:ext>
            </a:extLst>
          </p:cNvPr>
          <p:cNvSpPr/>
          <p:nvPr/>
        </p:nvSpPr>
        <p:spPr>
          <a:xfrm>
            <a:off x="457200" y="95250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278291-4328-4293-BE12-7596482D2275}"/>
              </a:ext>
            </a:extLst>
          </p:cNvPr>
          <p:cNvSpPr txBox="1"/>
          <p:nvPr/>
        </p:nvSpPr>
        <p:spPr>
          <a:xfrm>
            <a:off x="533400" y="1028700"/>
            <a:ext cx="28956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类型 1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　与别人的方法差异不大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CAE1E02-F9C5-4F9A-9B5E-4EAF34052F44}"/>
              </a:ext>
            </a:extLst>
          </p:cNvPr>
          <p:cNvSpPr txBox="1"/>
          <p:nvPr/>
        </p:nvSpPr>
        <p:spPr>
          <a:xfrm>
            <a:off x="457200" y="1466850"/>
            <a:ext cx="5334000" cy="571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审稿人认为你的工作与已有方法看上去很像，看不出真正新在哪里。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47AF321-27CD-42B0-9750-E3E0A8B89DAC}"/>
              </a:ext>
            </a:extLst>
          </p:cNvPr>
          <p:cNvSpPr/>
          <p:nvPr/>
        </p:nvSpPr>
        <p:spPr>
          <a:xfrm>
            <a:off x="6248400" y="838200"/>
            <a:ext cx="5638800" cy="108585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8C7CFB9-493B-4957-8297-8C1C7C7ABD07}"/>
              </a:ext>
            </a:extLst>
          </p:cNvPr>
          <p:cNvSpPr/>
          <p:nvPr/>
        </p:nvSpPr>
        <p:spPr>
          <a:xfrm>
            <a:off x="6400800" y="952500"/>
            <a:ext cx="3048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17E37C-EBC6-4A08-AC8A-AB12B383C079}"/>
              </a:ext>
            </a:extLst>
          </p:cNvPr>
          <p:cNvSpPr txBox="1"/>
          <p:nvPr/>
        </p:nvSpPr>
        <p:spPr>
          <a:xfrm>
            <a:off x="6477000" y="1028700"/>
            <a:ext cx="28956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类型 2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　简单的 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A+B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组合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70917E-551D-4178-9E16-53CF9EEED2BA}"/>
              </a:ext>
            </a:extLst>
          </p:cNvPr>
          <p:cNvSpPr txBox="1"/>
          <p:nvPr/>
        </p:nvSpPr>
        <p:spPr>
          <a:xfrm>
            <a:off x="6400800" y="1466850"/>
            <a:ext cx="5448300" cy="653796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审稿人认为方法只是两个现成部件拼在一起，属于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trivial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的简单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combine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BC27512-35BB-41A9-B37F-BC8810311AC1}"/>
              </a:ext>
            </a:extLst>
          </p:cNvPr>
          <p:cNvSpPr/>
          <p:nvPr/>
        </p:nvSpPr>
        <p:spPr>
          <a:xfrm>
            <a:off x="304800" y="2419350"/>
            <a:ext cx="11582400" cy="1866900"/>
          </a:xfrm>
          <a:prstGeom prst="roundRect">
            <a:avLst>
              <a:gd name="adj" fmla="val 5102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AA1087B-4EA9-45C3-A0F1-33E595F605C6}"/>
              </a:ext>
            </a:extLst>
          </p:cNvPr>
          <p:cNvSpPr txBox="1"/>
          <p:nvPr/>
        </p:nvSpPr>
        <p:spPr>
          <a:xfrm>
            <a:off x="457200" y="2590800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FC845"/>
                </a:solidFill>
                <a:latin typeface="Times New Roman"/>
                <a:ea typeface="华文中宋"/>
              </a:rPr>
              <a:t>打法一 · 重新梳理并强调重要贡献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C61D18E-941F-44E5-81EC-BD685652706B}"/>
              </a:ext>
            </a:extLst>
          </p:cNvPr>
          <p:cNvSpPr txBox="1"/>
          <p:nvPr/>
        </p:nvSpPr>
        <p:spPr>
          <a:xfrm>
            <a:off x="533400" y="2895600"/>
            <a:ext cx="10972800" cy="952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可以尝试重新梳理和强调文章的重要贡献，然后澄清并不是简单的组合；再强调一下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motivation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和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intuition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，用另一种方式将文章亮点表达出来。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07C4B45-C9DB-45CC-BCB8-6421D4525FA7}"/>
              </a:ext>
            </a:extLst>
          </p:cNvPr>
          <p:cNvSpPr/>
          <p:nvPr/>
        </p:nvSpPr>
        <p:spPr>
          <a:xfrm>
            <a:off x="533400" y="3810000"/>
            <a:ext cx="10972800" cy="419100"/>
          </a:xfrm>
          <a:prstGeom prst="roundRect">
            <a:avLst>
              <a:gd name="adj" fmla="val 2272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8C0CC8B-E2F7-4003-BBC7-72E0195365B1}"/>
              </a:ext>
            </a:extLst>
          </p:cNvPr>
          <p:cNvSpPr txBox="1"/>
          <p:nvPr/>
        </p:nvSpPr>
        <p:spPr>
          <a:xfrm>
            <a:off x="685800" y="3886200"/>
            <a:ext cx="10668000" cy="266700"/>
          </a:xfrm>
        </p:spPr>
        <p:txBody>
          <a:bodyPr wrap="square" rtlCol="0" lIns="0" tIns="0" rIns="0" bIns="0" anchor="t"/>
          <a:lstStyle/>
          <a:p>
            <a:pPr algn="ctr"/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重点不是重复一遍摘要，而是把“为什么这样设计”重新讲一遍，让审稿人换个角度看同一个方法。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43C37CF-4CBD-46E5-9CAC-036D079623BC}"/>
              </a:ext>
            </a:extLst>
          </p:cNvPr>
          <p:cNvSpPr/>
          <p:nvPr/>
        </p:nvSpPr>
        <p:spPr>
          <a:xfrm>
            <a:off x="304800" y="4400550"/>
            <a:ext cx="11582400" cy="1695450"/>
          </a:xfrm>
          <a:prstGeom prst="roundRect">
            <a:avLst>
              <a:gd name="adj" fmla="val 5263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7D4585C-604C-484B-BE33-50AD5685562F}"/>
              </a:ext>
            </a:extLst>
          </p:cNvPr>
          <p:cNvSpPr txBox="1"/>
          <p:nvPr/>
        </p:nvSpPr>
        <p:spPr>
          <a:xfrm>
            <a:off x="457200" y="4572000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0B56A8"/>
                </a:solidFill>
                <a:latin typeface="Times New Roman"/>
                <a:ea typeface="华文中宋"/>
              </a:rPr>
              <a:t>打法二 · 围魏救赵　</a:t>
            </a:r>
            <a:r>
              <a:rPr sz="1400" b="1">
                <a:solidFill>
                  <a:srgbClr val="0B56A8"/>
                </a:solidFill>
                <a:latin typeface="Times New Roman"/>
                <a:ea typeface="华文中宋"/>
              </a:rPr>
              <a:t>（仍同时使用）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8E46047-A855-4C7A-B88E-EB94581A9826}"/>
              </a:ext>
            </a:extLst>
          </p:cNvPr>
          <p:cNvSpPr txBox="1"/>
          <p:nvPr/>
        </p:nvSpPr>
        <p:spPr>
          <a:xfrm>
            <a:off x="457200" y="4876800"/>
            <a:ext cx="11277600" cy="7239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若审稿人针对方法的某个部件提出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novelty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不足，可强调其他部件或整个方法的范式是前所未有的；或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claim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说方法简单有效、效果好、性能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SOTA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等。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355D9A6-BEBB-4551-A7EF-BE770894741C}"/>
              </a:ext>
            </a:extLst>
          </p:cNvPr>
          <p:cNvSpPr txBox="1"/>
          <p:nvPr/>
        </p:nvSpPr>
        <p:spPr>
          <a:xfrm>
            <a:off x="457200" y="5638800"/>
            <a:ext cx="11277600" cy="4191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 b="1">
                <a:solidFill>
                  <a:srgbClr val="B5743A"/>
                </a:solidFill>
                <a:latin typeface="Times New Roman"/>
                <a:ea typeface="华文中宋"/>
              </a:rPr>
              <a:t>当局部被质疑时，把战场抬到整个范式与最终效果上，而不是在被质疑的部件上反复纠缠。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711CA78-583E-4393-ACE5-A4AD601B3E97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400DFEB-F792-40D5-812B-66B8301578A9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80 / 86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F8BA924-354E-4A32-8DF7-D57B4CF860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318D560-01A1-47F3-9B23-883684D88EF8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1FB7497-CA2A-42D3-9392-AFFC61622C9B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61D5BD6-C314-4579-A8B4-8901B65514B4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常见问题 ②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Factual Error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　③ 效果不明显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D00C2B6-7605-47F1-AAEA-07CF0C78E548}"/>
              </a:ext>
            </a:extLst>
          </p:cNvPr>
          <p:cNvSpPr/>
          <p:nvPr/>
        </p:nvSpPr>
        <p:spPr>
          <a:xfrm>
            <a:off x="304800" y="838200"/>
            <a:ext cx="11582400" cy="1857375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03E2F7-5D64-43B1-8B26-EC15B74E915B}"/>
              </a:ext>
            </a:extLst>
          </p:cNvPr>
          <p:cNvSpPr/>
          <p:nvPr/>
        </p:nvSpPr>
        <p:spPr>
          <a:xfrm>
            <a:off x="457200" y="9525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1DA799-9218-4A06-8EAE-1DFACCE2A3D7}"/>
              </a:ext>
            </a:extLst>
          </p:cNvPr>
          <p:cNvSpPr txBox="1"/>
          <p:nvPr/>
        </p:nvSpPr>
        <p:spPr>
          <a:xfrm>
            <a:off x="533400" y="1028700"/>
            <a:ext cx="44196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Factual Error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：没有太多 </a:t>
            </a: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</a:rPr>
              <a:t>rebuttal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余地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BA73F4E-C1CA-4439-950F-7868CC67BCA0}"/>
              </a:ext>
            </a:extLst>
          </p:cNvPr>
          <p:cNvSpPr txBox="1"/>
          <p:nvPr/>
        </p:nvSpPr>
        <p:spPr>
          <a:xfrm>
            <a:off x="457200" y="1447800"/>
            <a:ext cx="11277600" cy="12573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6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这种比较麻烦，基本没有太多可以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的余地，往往只能大方承认，并表示感谢，同时表示会在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final version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中更正错误。</a:t>
            </a:r>
          </a:p>
          <a:p>
            <a:pPr>
              <a:lnSpc>
                <a:spcPct val="160000"/>
              </a:lnSpc>
              <a:spcAft>
                <a:spcPts val="6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如果是因为写作问题导致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reviewer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没有理解正确，也可以承认，并解释一下：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0B56A8"/>
                </a:solidFill>
                <a:latin typeface="Times New Roman"/>
                <a:ea typeface="华文中宋"/>
              </a:rPr>
              <a:t>“我们已经修改了这部分描述，实际上是这样做的，并不是你理解的那样，</a:t>
            </a:r>
            <a:r>
              <a:rPr sz="1300">
                <a:solidFill>
                  <a:srgbClr val="0B56A8"/>
                </a:solidFill>
                <a:latin typeface="Times New Roman"/>
                <a:ea typeface="Times New Roman"/>
              </a:rPr>
              <a:t>blabla”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9041B62-6A7F-491E-BF89-64E10F95DE33}"/>
              </a:ext>
            </a:extLst>
          </p:cNvPr>
          <p:cNvSpPr/>
          <p:nvPr/>
        </p:nvSpPr>
        <p:spPr>
          <a:xfrm>
            <a:off x="304800" y="2990850"/>
            <a:ext cx="11582400" cy="514350"/>
          </a:xfrm>
          <a:prstGeom prst="roundRect">
            <a:avLst>
              <a:gd name="adj" fmla="val 18518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2B3A6CF-084E-4D1B-8DC0-F3E5A6D8A84A}"/>
              </a:ext>
            </a:extLst>
          </p:cNvPr>
          <p:cNvSpPr txBox="1"/>
          <p:nvPr/>
        </p:nvSpPr>
        <p:spPr>
          <a:xfrm>
            <a:off x="457200" y="3124200"/>
            <a:ext cx="112776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ea typeface="华文中宋"/>
              </a:rPr>
              <a:t>效果不明显（提升有限）：三条可用的回应路径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DDEDFDF-0180-416C-9F6B-25A496A79C38}"/>
              </a:ext>
            </a:extLst>
          </p:cNvPr>
          <p:cNvSpPr/>
          <p:nvPr/>
        </p:nvSpPr>
        <p:spPr>
          <a:xfrm>
            <a:off x="304800" y="3638550"/>
            <a:ext cx="3733800" cy="1685925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A8B75A1-3A7C-4960-872D-7D9DBE5E47AE}"/>
              </a:ext>
            </a:extLst>
          </p:cNvPr>
          <p:cNvSpPr/>
          <p:nvPr/>
        </p:nvSpPr>
        <p:spPr>
          <a:xfrm>
            <a:off x="457200" y="377190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76F5998-FEDD-4CFB-821D-C469EC27075D}"/>
              </a:ext>
            </a:extLst>
          </p:cNvPr>
          <p:cNvSpPr txBox="1"/>
          <p:nvPr/>
        </p:nvSpPr>
        <p:spPr>
          <a:xfrm>
            <a:off x="533400" y="3867150"/>
            <a:ext cx="3276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路径 1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拿文献做类比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65FAB55-A15D-4038-B53B-B0BBDBA258BB}"/>
              </a:ext>
            </a:extLst>
          </p:cNvPr>
          <p:cNvSpPr txBox="1"/>
          <p:nvPr/>
        </p:nvSpPr>
        <p:spPr>
          <a:xfrm>
            <a:off x="457200" y="4305300"/>
            <a:ext cx="3429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找一些参考文献，论证自己方法的涨点幅度和其它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SOTA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的涨点幅度是可比的：“别人发在顶会的结果相比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baseline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也是涨这么多”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80185474-4462-4CA9-B1CE-EA30CFEDB6F1}"/>
              </a:ext>
            </a:extLst>
          </p:cNvPr>
          <p:cNvSpPr/>
          <p:nvPr/>
        </p:nvSpPr>
        <p:spPr>
          <a:xfrm>
            <a:off x="4229100" y="3638550"/>
            <a:ext cx="3733800" cy="1685925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4A3FD08-FA10-4E6B-8593-1B08CFF993A4}"/>
              </a:ext>
            </a:extLst>
          </p:cNvPr>
          <p:cNvSpPr/>
          <p:nvPr/>
        </p:nvSpPr>
        <p:spPr>
          <a:xfrm>
            <a:off x="4381500" y="377190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F3ADB08-459E-4E06-BC23-9BFC97A6205B}"/>
              </a:ext>
            </a:extLst>
          </p:cNvPr>
          <p:cNvSpPr txBox="1"/>
          <p:nvPr/>
        </p:nvSpPr>
        <p:spPr>
          <a:xfrm>
            <a:off x="4457700" y="3867150"/>
            <a:ext cx="3276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路径 2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优势场景与公平设置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56A3B71-781C-46DF-907E-94BE089A0412}"/>
              </a:ext>
            </a:extLst>
          </p:cNvPr>
          <p:cNvSpPr txBox="1"/>
          <p:nvPr/>
        </p:nvSpPr>
        <p:spPr>
          <a:xfrm>
            <a:off x="4381500" y="4305300"/>
            <a:ext cx="3429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试着找出自己的方法有没有性能提升特别明显的场景，作为一个特色展示出来，并说明这些场景非常重要；或者加上公平设置下的对比。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D875994-0B69-4984-9103-D8F0BDAB4522}"/>
              </a:ext>
            </a:extLst>
          </p:cNvPr>
          <p:cNvSpPr/>
          <p:nvPr/>
        </p:nvSpPr>
        <p:spPr>
          <a:xfrm>
            <a:off x="8153400" y="3638550"/>
            <a:ext cx="3733800" cy="1685925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B36178B9-F284-46C2-840C-CF585F02AAA2}"/>
              </a:ext>
            </a:extLst>
          </p:cNvPr>
          <p:cNvSpPr/>
          <p:nvPr/>
        </p:nvSpPr>
        <p:spPr>
          <a:xfrm>
            <a:off x="8305800" y="3771900"/>
            <a:ext cx="3429000" cy="419100"/>
          </a:xfrm>
          <a:prstGeom prst="roundRect">
            <a:avLst>
              <a:gd name="adj" fmla="val 227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8AAA7B0-9C8B-45C5-BF58-A08101731938}"/>
              </a:ext>
            </a:extLst>
          </p:cNvPr>
          <p:cNvSpPr txBox="1"/>
          <p:nvPr/>
        </p:nvSpPr>
        <p:spPr>
          <a:xfrm>
            <a:off x="8382000" y="3867150"/>
            <a:ext cx="3276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路径 3</a:t>
            </a:r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 · 换其他维度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27B296F-1752-4512-93BE-D9C7B6820721}"/>
              </a:ext>
            </a:extLst>
          </p:cNvPr>
          <p:cNvSpPr txBox="1"/>
          <p:nvPr/>
        </p:nvSpPr>
        <p:spPr>
          <a:xfrm>
            <a:off x="8305800" y="4305300"/>
            <a:ext cx="3429000" cy="1714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其他方面的好处，比如效率？通用性？鲁棒性？等等。当单一指标涨点有限时，换一个对领域有价值的维度重新衡量方法。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1FA4719-ECB1-4251-B62B-01D5BF2B29AA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20DD74A-EE1A-4F86-BE2E-D27AA098B80B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81 / 86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DAC7B0B-17AF-45B9-AD3D-5E7EB91969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54D459E3-27AC-43E1-ACEC-5E77259E0523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41DE549-3A0E-4E9C-AAB6-C9058C2F141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8C5B58-B0A2-4CAF-9F87-7050B2CAEE32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常见问题 ④ 实验不充分　⑤ 语法结构与文献遗漏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0D2F160-F017-472E-A943-D0CD2AC69B2B}"/>
              </a:ext>
            </a:extLst>
          </p:cNvPr>
          <p:cNvSpPr/>
          <p:nvPr/>
        </p:nvSpPr>
        <p:spPr>
          <a:xfrm>
            <a:off x="304800" y="838200"/>
            <a:ext cx="11582400" cy="14573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F47B49F-9CBF-4AA5-A14A-3A4E4A62410B}"/>
              </a:ext>
            </a:extLst>
          </p:cNvPr>
          <p:cNvSpPr/>
          <p:nvPr/>
        </p:nvSpPr>
        <p:spPr>
          <a:xfrm>
            <a:off x="457200" y="9525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271353-E4FE-43EE-B278-3B6D70A416C0}"/>
              </a:ext>
            </a:extLst>
          </p:cNvPr>
          <p:cNvSpPr txBox="1"/>
          <p:nvPr/>
        </p:nvSpPr>
        <p:spPr>
          <a:xfrm>
            <a:off x="533400" y="1028700"/>
            <a:ext cx="51816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Times New Roman"/>
              </a:rPr>
              <a:t>④</a:t>
            </a:r>
            <a:r>
              <a:rPr sz="1500" b="1">
                <a:solidFill>
                  <a:srgbClr val="FFFFFF"/>
                </a:solidFill>
                <a:latin typeface="Times New Roman"/>
                <a:ea typeface="华文中宋"/>
              </a:rPr>
              <a:t> 实验不充分：能补则补，补不了就给解释与承诺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ACB9969-7AE4-4F7E-9D27-F3422AB7F1DD}"/>
              </a:ext>
            </a:extLst>
          </p:cNvPr>
          <p:cNvSpPr txBox="1"/>
          <p:nvPr/>
        </p:nvSpPr>
        <p:spPr>
          <a:xfrm>
            <a:off x="457200" y="1447800"/>
            <a:ext cx="11277600" cy="11239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600"/>
              </a:spcAft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尽量补充实验；如果不能补充，想办法做出解释，比如实验规模太大、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 rebuttal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期间无条件做出，可在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rebuttal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中承诺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final version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中补上。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对于要求不合理的实验意见，可实事求是地说明为何无需做实验，可以多加一些“证据”，比如参考文献，支撑你的说法。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4C3A2AA-F832-4BCE-AA97-F822A733943C}"/>
              </a:ext>
            </a:extLst>
          </p:cNvPr>
          <p:cNvSpPr/>
          <p:nvPr/>
        </p:nvSpPr>
        <p:spPr>
          <a:xfrm>
            <a:off x="304800" y="2762250"/>
            <a:ext cx="11582400" cy="933450"/>
          </a:xfrm>
          <a:prstGeom prst="roundRect">
            <a:avLst>
              <a:gd name="adj" fmla="val 9090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6CF7085-D1CB-46BD-8B68-EB28AB9C5B50}"/>
              </a:ext>
            </a:extLst>
          </p:cNvPr>
          <p:cNvSpPr txBox="1"/>
          <p:nvPr/>
        </p:nvSpPr>
        <p:spPr>
          <a:xfrm>
            <a:off x="457200" y="2914650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B5743A"/>
                </a:solidFill>
                <a:latin typeface="Times New Roman"/>
                <a:ea typeface="华文中宋"/>
              </a:rPr>
              <a:t>⑤ 语法、结构、参考文献遗漏等问题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8819C87-056C-4607-AD57-615989234E51}"/>
              </a:ext>
            </a:extLst>
          </p:cNvPr>
          <p:cNvSpPr txBox="1"/>
          <p:nvPr/>
        </p:nvSpPr>
        <p:spPr>
          <a:xfrm>
            <a:off x="457200" y="3238500"/>
            <a:ext cx="11277600" cy="4191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大部分时候承认、感谢、并修改即可。这类意见不涉及学术判断，不值得在上面花费篇幅与情绪。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59C0C78-6BD4-429B-8057-B945DBA8F1FF}"/>
              </a:ext>
            </a:extLst>
          </p:cNvPr>
          <p:cNvSpPr/>
          <p:nvPr/>
        </p:nvSpPr>
        <p:spPr>
          <a:xfrm>
            <a:off x="304800" y="3924300"/>
            <a:ext cx="11582400" cy="2286000"/>
          </a:xfrm>
          <a:prstGeom prst="roundRect">
            <a:avLst>
              <a:gd name="adj" fmla="val 4166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90423C7-1489-4FFB-A2D8-CABD0E6310C6}"/>
              </a:ext>
            </a:extLst>
          </p:cNvPr>
          <p:cNvSpPr txBox="1"/>
          <p:nvPr/>
        </p:nvSpPr>
        <p:spPr>
          <a:xfrm>
            <a:off x="533400" y="4114800"/>
            <a:ext cx="1905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Novelty 不足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7FA59A5-3CF0-4710-B58C-D7C50BDC8EB3}"/>
              </a:ext>
            </a:extLst>
          </p:cNvPr>
          <p:cNvSpPr txBox="1"/>
          <p:nvPr/>
        </p:nvSpPr>
        <p:spPr>
          <a:xfrm>
            <a:off x="2590800" y="4114800"/>
            <a:ext cx="89154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重讲贡献与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motivation / intuition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，或围魏救赵抬到范式与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SOTA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6BF7966-4D59-4C84-A874-8F878A80D93F}"/>
              </a:ext>
            </a:extLst>
          </p:cNvPr>
          <p:cNvSpPr txBox="1"/>
          <p:nvPr/>
        </p:nvSpPr>
        <p:spPr>
          <a:xfrm>
            <a:off x="533400" y="4533900"/>
            <a:ext cx="1905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Times New Roman"/>
              </a:rPr>
              <a:t>Factual Error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3AE975-063E-4C3A-A936-A00EAD919920}"/>
              </a:ext>
            </a:extLst>
          </p:cNvPr>
          <p:cNvSpPr txBox="1"/>
          <p:nvPr/>
        </p:nvSpPr>
        <p:spPr>
          <a:xfrm>
            <a:off x="2590800" y="4533900"/>
            <a:ext cx="89154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大方承认 + 表示感谢 + 承诺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final version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更正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B574465-B0A0-476F-A3FA-DCCF24DC2172}"/>
              </a:ext>
            </a:extLst>
          </p:cNvPr>
          <p:cNvSpPr txBox="1"/>
          <p:nvPr/>
        </p:nvSpPr>
        <p:spPr>
          <a:xfrm>
            <a:off x="533400" y="4953000"/>
            <a:ext cx="1905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效果不明显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66B3705-2BEA-4E7C-8832-D692866E2493}"/>
              </a:ext>
            </a:extLst>
          </p:cNvPr>
          <p:cNvSpPr txBox="1"/>
          <p:nvPr/>
        </p:nvSpPr>
        <p:spPr>
          <a:xfrm>
            <a:off x="2590800" y="4953000"/>
            <a:ext cx="89154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类比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SOTA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 涨点 / 展示优势场景与公平设置 / 效率、通用性、鲁棒性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F8EECE9-A329-4B62-B73C-6A1CC379FEE8}"/>
              </a:ext>
            </a:extLst>
          </p:cNvPr>
          <p:cNvSpPr txBox="1"/>
          <p:nvPr/>
        </p:nvSpPr>
        <p:spPr>
          <a:xfrm>
            <a:off x="533400" y="5372100"/>
            <a:ext cx="1905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实验不充分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BAB7387-277E-415A-950C-B9A032E0E756}"/>
              </a:ext>
            </a:extLst>
          </p:cNvPr>
          <p:cNvSpPr txBox="1"/>
          <p:nvPr/>
        </p:nvSpPr>
        <p:spPr>
          <a:xfrm>
            <a:off x="2590800" y="5372100"/>
            <a:ext cx="89154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补实验，或解释并承诺，或对不合理要求举证说明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D39A0BF-4C9C-442C-898F-C9A707DDE031}"/>
              </a:ext>
            </a:extLst>
          </p:cNvPr>
          <p:cNvSpPr txBox="1"/>
          <p:nvPr/>
        </p:nvSpPr>
        <p:spPr>
          <a:xfrm>
            <a:off x="533400" y="5791200"/>
            <a:ext cx="1905000" cy="247650"/>
          </a:xfrm>
        </p:spPr>
        <p:txBody>
          <a:bodyPr wrap="square" rtlCol="0" lIns="0" tIns="0" rIns="0" bIns="0" anchor="t"/>
          <a:lstStyle/>
          <a:p>
            <a:r>
              <a:rPr sz="1400" b="1">
                <a:solidFill>
                  <a:srgbClr val="FFC845"/>
                </a:solidFill>
                <a:latin typeface="Times New Roman"/>
                <a:ea typeface="华文中宋"/>
              </a:rPr>
              <a:t>语法与格式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F108AA5-624E-4690-AC35-A435BB5AC13F}"/>
              </a:ext>
            </a:extLst>
          </p:cNvPr>
          <p:cNvSpPr txBox="1"/>
          <p:nvPr/>
        </p:nvSpPr>
        <p:spPr>
          <a:xfrm>
            <a:off x="2590800" y="5791200"/>
            <a:ext cx="8915400" cy="247650"/>
          </a:xfrm>
        </p:spPr>
        <p:txBody>
          <a:bodyPr wrap="square" rtlCol="0" lIns="0" tIns="0" rIns="0" bIns="0" anchor="t"/>
          <a:lstStyle/>
          <a:p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承认、感谢、修改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ACD28CB-7ACB-4B77-A14F-4F7D8E6126F2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D03ADE2-1670-4DFF-B204-FB67DDE2AD65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82 / 86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F44D4AB1-C11A-43D7-93FE-5C30FE4AAE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50ACEAD2-789A-46F3-91DC-79F6B8258D3D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DBD0D6E-ABCA-47BA-B514-277CE3A7C6B5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F3BEBC6-03BB-4955-A510-38AC3B2C134C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AC Message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：把审稿人的问题递到 </a:t>
            </a:r>
            <a:r>
              <a:rPr sz="2600" b="1">
                <a:solidFill>
                  <a:srgbClr val="7B2484"/>
                </a:solidFill>
                <a:latin typeface="Times New Roman"/>
                <a:ea typeface="Times New Roman"/>
              </a:rPr>
              <a:t>AC</a:t>
            </a:r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 眼前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8006242-E756-40A1-875F-2BD6F39CCD3C}"/>
              </a:ext>
            </a:extLst>
          </p:cNvPr>
          <p:cNvSpPr/>
          <p:nvPr/>
        </p:nvSpPr>
        <p:spPr>
          <a:xfrm>
            <a:off x="304800" y="838200"/>
            <a:ext cx="11582400" cy="1209675"/>
          </a:xfrm>
          <a:prstGeom prst="roundRect">
            <a:avLst>
              <a:gd name="adj" fmla="val 6250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D0655E-ABB5-4020-AD16-9B6685D97F65}"/>
              </a:ext>
            </a:extLst>
          </p:cNvPr>
          <p:cNvSpPr txBox="1"/>
          <p:nvPr/>
        </p:nvSpPr>
        <p:spPr>
          <a:xfrm>
            <a:off x="457200" y="990600"/>
            <a:ext cx="11277600" cy="24765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0B56A8"/>
                </a:solidFill>
                <a:latin typeface="Times New Roman"/>
                <a:ea typeface="华文中宋"/>
              </a:rPr>
              <a:t>什么时候写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40D0B0B-B5E8-4DF4-ADFA-C16BA35970CE}"/>
              </a:ext>
            </a:extLst>
          </p:cNvPr>
          <p:cNvSpPr txBox="1"/>
          <p:nvPr/>
        </p:nvSpPr>
        <p:spPr>
          <a:xfrm>
            <a:off x="457200" y="1276350"/>
            <a:ext cx="11277600" cy="9906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对于有恶意、或者出现事实错误被你抓到把柄的审稿人，可以向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AC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写投诉信举报。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如果在审稿意见中发现了审稿人的“问题”，如不专业、对文章涉及领域不熟悉、自我矛盾等，可以抓到把柄，向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AC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写投诉信举报从而引起 </a:t>
            </a:r>
            <a:r>
              <a:rPr sz="1300">
                <a:solidFill>
                  <a:srgbClr val="1A2430"/>
                </a:solidFill>
                <a:latin typeface="Times New Roman"/>
                <a:ea typeface="Times New Roman"/>
              </a:rPr>
              <a:t>AC</a:t>
            </a: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 注意。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5F78737-1E8E-414B-A7A1-BC4193FB7234}"/>
              </a:ext>
            </a:extLst>
          </p:cNvPr>
          <p:cNvSpPr/>
          <p:nvPr/>
        </p:nvSpPr>
        <p:spPr>
          <a:xfrm>
            <a:off x="304800" y="2476500"/>
            <a:ext cx="3733800" cy="3019425"/>
          </a:xfrm>
          <a:prstGeom prst="roundRect">
            <a:avLst>
              <a:gd name="adj" fmla="val 255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32763FD-2D3A-47D9-863B-9AC91B0FAE93}"/>
              </a:ext>
            </a:extLst>
          </p:cNvPr>
          <p:cNvSpPr/>
          <p:nvPr/>
        </p:nvSpPr>
        <p:spPr>
          <a:xfrm>
            <a:off x="457200" y="2609850"/>
            <a:ext cx="2476500" cy="342900"/>
          </a:xfrm>
          <a:prstGeom prst="roundRect">
            <a:avLst>
              <a:gd name="adj" fmla="val 2777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18F9406-4E66-48E5-9B65-95D98684B7F1}"/>
              </a:ext>
            </a:extLst>
          </p:cNvPr>
          <p:cNvSpPr txBox="1"/>
          <p:nvPr/>
        </p:nvSpPr>
        <p:spPr>
          <a:xfrm>
            <a:off x="533400" y="2676525"/>
            <a:ext cx="23241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写法 1</a:t>
            </a: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 · 违背常识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491AB8-00A4-4063-9C04-02D4C507F079}"/>
              </a:ext>
            </a:extLst>
          </p:cNvPr>
          <p:cNvSpPr txBox="1"/>
          <p:nvPr/>
        </p:nvSpPr>
        <p:spPr>
          <a:xfrm>
            <a:off x="457200" y="3067050"/>
            <a:ext cx="3429000" cy="32004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Please note that Assigned Reviewer #id has made some statements that are either against the common-sense in our field or self-contradictory (ironically his/her own confidence rating is "very confident").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6EF03A9-DBC0-42EB-8655-E3073338E086}"/>
              </a:ext>
            </a:extLst>
          </p:cNvPr>
          <p:cNvSpPr/>
          <p:nvPr/>
        </p:nvSpPr>
        <p:spPr>
          <a:xfrm>
            <a:off x="4229100" y="2476500"/>
            <a:ext cx="3733800" cy="3019425"/>
          </a:xfrm>
          <a:prstGeom prst="roundRect">
            <a:avLst>
              <a:gd name="adj" fmla="val 255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6208ED0-69EC-4D68-948C-DFE4E611FEE4}"/>
              </a:ext>
            </a:extLst>
          </p:cNvPr>
          <p:cNvSpPr/>
          <p:nvPr/>
        </p:nvSpPr>
        <p:spPr>
          <a:xfrm>
            <a:off x="4381500" y="2609850"/>
            <a:ext cx="2476500" cy="342900"/>
          </a:xfrm>
          <a:prstGeom prst="roundRect">
            <a:avLst>
              <a:gd name="adj" fmla="val 2777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85DD707-2982-47E0-A4FC-67A3588D97B2}"/>
              </a:ext>
            </a:extLst>
          </p:cNvPr>
          <p:cNvSpPr txBox="1"/>
          <p:nvPr/>
        </p:nvSpPr>
        <p:spPr>
          <a:xfrm>
            <a:off x="4457700" y="2676525"/>
            <a:ext cx="23241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写法 2</a:t>
            </a: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 · 自相矛盾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099EB75-3E38-4311-9C8A-A6B48467CD62}"/>
              </a:ext>
            </a:extLst>
          </p:cNvPr>
          <p:cNvSpPr txBox="1"/>
          <p:nvPr/>
        </p:nvSpPr>
        <p:spPr>
          <a:xfrm>
            <a:off x="4381500" y="3067050"/>
            <a:ext cx="3429000" cy="32004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We want to bring to your attention the very flawed review #id. This reviewer is self-contradictory, cf. Comment #id1, Comment #id2, and Response #id. blabla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6951A63-1231-4B76-89CC-05883EBDD037}"/>
              </a:ext>
            </a:extLst>
          </p:cNvPr>
          <p:cNvSpPr/>
          <p:nvPr/>
        </p:nvSpPr>
        <p:spPr>
          <a:xfrm>
            <a:off x="8153400" y="2476500"/>
            <a:ext cx="3733800" cy="3019425"/>
          </a:xfrm>
          <a:prstGeom prst="roundRect">
            <a:avLst>
              <a:gd name="adj" fmla="val 2551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E0FEBFE-1662-46BA-9E9E-BE56CB1288BA}"/>
              </a:ext>
            </a:extLst>
          </p:cNvPr>
          <p:cNvSpPr/>
          <p:nvPr/>
        </p:nvSpPr>
        <p:spPr>
          <a:xfrm>
            <a:off x="8305800" y="2609850"/>
            <a:ext cx="2476500" cy="342900"/>
          </a:xfrm>
          <a:prstGeom prst="roundRect">
            <a:avLst>
              <a:gd name="adj" fmla="val 27777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CFDEB78-3E2B-4492-A5CF-C5B7CA87B64A}"/>
              </a:ext>
            </a:extLst>
          </p:cNvPr>
          <p:cNvSpPr txBox="1"/>
          <p:nvPr/>
        </p:nvSpPr>
        <p:spPr>
          <a:xfrm>
            <a:off x="8382000" y="2676525"/>
            <a:ext cx="23241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300" b="1">
                <a:solidFill>
                  <a:srgbClr val="FFC845"/>
                </a:solidFill>
                <a:latin typeface="Times New Roman"/>
                <a:ea typeface="华文中宋"/>
              </a:rPr>
              <a:t>写法 3</a:t>
            </a:r>
            <a:r>
              <a:rPr sz="1300" b="1">
                <a:solidFill>
                  <a:srgbClr val="FFFFFF"/>
                </a:solidFill>
                <a:latin typeface="Times New Roman"/>
                <a:ea typeface="华文中宋"/>
              </a:rPr>
              <a:t> · 严重偏见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77A1BE8-1E0F-4DA7-92FA-C2F9FF95FA6E}"/>
              </a:ext>
            </a:extLst>
          </p:cNvPr>
          <p:cNvSpPr txBox="1"/>
          <p:nvPr/>
        </p:nvSpPr>
        <p:spPr>
          <a:xfrm>
            <a:off x="8305800" y="3067050"/>
            <a:ext cx="3429000" cy="16002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100">
                <a:solidFill>
                  <a:srgbClr val="FFFFFF"/>
                </a:solidFill>
                <a:latin typeface="Times New Roman"/>
                <a:ea typeface="Times New Roman"/>
              </a:rPr>
              <a:t>We would like to raise attention to AC that unfortunately Reviewer #id holds a very biased view towards the contributions of our paper. blabla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BE6888E-BF91-48EF-8559-C5A840F6A63C}"/>
              </a:ext>
            </a:extLst>
          </p:cNvPr>
          <p:cNvSpPr txBox="1"/>
          <p:nvPr/>
        </p:nvSpPr>
        <p:spPr>
          <a:xfrm>
            <a:off x="8305800" y="4762500"/>
            <a:ext cx="3429000" cy="12573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EAD7F0"/>
                </a:solidFill>
                <a:latin typeface="Times New Roman"/>
                <a:ea typeface="华文中宋"/>
              </a:rPr>
              <a:t>以上三种是手册列举的可能写法，按自己遇到的情况选用。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8682DAA-A3D6-44FB-B1B2-5835179A4CA5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51DFFBA-93C2-4675-BABF-E2797761C997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83 / 86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BDC482A-CAAF-4EED-B824-CCBFBB1D8A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BC96D243-D05E-495C-84D3-360A347D2869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D76F599-B44C-4E7B-B2BC-D2097DD49CED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69396D2-11E4-441E-A34B-878BBB45F06E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常用表达（一）开头致谢 · 共性问题优先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8814203-B483-4F90-9DF3-A9C205920F3D}"/>
              </a:ext>
            </a:extLst>
          </p:cNvPr>
          <p:cNvSpPr/>
          <p:nvPr/>
        </p:nvSpPr>
        <p:spPr>
          <a:xfrm>
            <a:off x="304800" y="838200"/>
            <a:ext cx="5638800" cy="531495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24244B0-BAFF-4385-83E1-A9361542C583}"/>
              </a:ext>
            </a:extLst>
          </p:cNvPr>
          <p:cNvSpPr/>
          <p:nvPr/>
        </p:nvSpPr>
        <p:spPr>
          <a:xfrm>
            <a:off x="457200" y="952500"/>
            <a:ext cx="11430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029E51B-A53E-4DE2-852C-B45365C10832}"/>
              </a:ext>
            </a:extLst>
          </p:cNvPr>
          <p:cNvSpPr txBox="1"/>
          <p:nvPr/>
        </p:nvSpPr>
        <p:spPr>
          <a:xfrm>
            <a:off x="533400" y="1000125"/>
            <a:ext cx="9906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开头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C5E965D-7734-4FA1-B37C-98A8B818FC2B}"/>
              </a:ext>
            </a:extLst>
          </p:cNvPr>
          <p:cNvSpPr txBox="1"/>
          <p:nvPr/>
        </p:nvSpPr>
        <p:spPr>
          <a:xfrm>
            <a:off x="457200" y="1371600"/>
            <a:ext cx="5334000" cy="46291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Thank you for your suggestion.</a:t>
            </a:r>
          </a:p>
          <a:p>
            <a:pPr>
              <a:lnSpc>
                <a:spcPct val="160000"/>
              </a:lnSpc>
              <a:spcBef>
                <a:spcPts val="200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Thank you for the positive/detailed/constructive comments.</a:t>
            </a:r>
          </a:p>
          <a:p>
            <a:pPr>
              <a:lnSpc>
                <a:spcPct val="160000"/>
              </a:lnSpc>
              <a:spcBef>
                <a:spcPts val="200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sincerely thank all reviewers and ACs for their time and efforts. Below please find the responses to some specific comments.</a:t>
            </a:r>
          </a:p>
          <a:p>
            <a:pPr>
              <a:lnSpc>
                <a:spcPct val="160000"/>
              </a:lnSpc>
              <a:spcBef>
                <a:spcPts val="200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thank the reviewers for their useful comments. The common questions are first answered, then we clarify questions from every individual review.</a:t>
            </a:r>
          </a:p>
          <a:p>
            <a:pPr>
              <a:lnSpc>
                <a:spcPct val="160000"/>
              </a:lnSpc>
              <a:spcBef>
                <a:spcPts val="200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thank the useful suggestions from the reviewers. Some important or common questions are first addressed, followed by answers to individual reviews.</a:t>
            </a:r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组织顺序：先回答重要或共性的问题，再逐位审稿人逐条回应。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AB3779B-24D4-4F78-ADFE-FF64606F0044}"/>
              </a:ext>
            </a:extLst>
          </p:cNvPr>
          <p:cNvSpPr/>
          <p:nvPr/>
        </p:nvSpPr>
        <p:spPr>
          <a:xfrm>
            <a:off x="6248400" y="838200"/>
            <a:ext cx="5638800" cy="2343150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742A7F2-3395-4461-BB1F-A272348FEC6A}"/>
              </a:ext>
            </a:extLst>
          </p:cNvPr>
          <p:cNvSpPr/>
          <p:nvPr/>
        </p:nvSpPr>
        <p:spPr>
          <a:xfrm>
            <a:off x="6400800" y="952500"/>
            <a:ext cx="13716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BFCCA65-FB28-411B-943F-4D75E4DD54CA}"/>
              </a:ext>
            </a:extLst>
          </p:cNvPr>
          <p:cNvSpPr txBox="1"/>
          <p:nvPr/>
        </p:nvSpPr>
        <p:spPr>
          <a:xfrm>
            <a:off x="6477000" y="1000125"/>
            <a:ext cx="12192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表达同意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9621A8C-E74C-4523-96A1-351094934ABB}"/>
              </a:ext>
            </a:extLst>
          </p:cNvPr>
          <p:cNvSpPr txBox="1"/>
          <p:nvPr/>
        </p:nvSpPr>
        <p:spPr>
          <a:xfrm>
            <a:off x="6400800" y="1371600"/>
            <a:ext cx="5334000" cy="17716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thank the reviewer for pointing out this issue.</a:t>
            </a:r>
          </a:p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agree with you and have incorporated this suggestion throughout our paper.</a:t>
            </a:r>
          </a:p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have reflected this comment by …</a:t>
            </a:r>
          </a:p>
          <a:p>
            <a:pPr>
              <a:lnSpc>
                <a:spcPct val="160000"/>
              </a:lnSpc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can/will add/compare/revise/correct ... in our revised manuscript/our final version.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3851050-139E-4E6B-B2A8-B50279973EDA}"/>
              </a:ext>
            </a:extLst>
          </p:cNvPr>
          <p:cNvSpPr/>
          <p:nvPr/>
        </p:nvSpPr>
        <p:spPr>
          <a:xfrm>
            <a:off x="6248400" y="3295650"/>
            <a:ext cx="5638800" cy="219075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7035588-D405-4E29-8E1C-FFA2EC5037A2}"/>
              </a:ext>
            </a:extLst>
          </p:cNvPr>
          <p:cNvSpPr/>
          <p:nvPr/>
        </p:nvSpPr>
        <p:spPr>
          <a:xfrm>
            <a:off x="6400800" y="3409950"/>
            <a:ext cx="13716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504BF44-32AE-48B9-AB11-454907CCBF18}"/>
              </a:ext>
            </a:extLst>
          </p:cNvPr>
          <p:cNvSpPr txBox="1"/>
          <p:nvPr/>
        </p:nvSpPr>
        <p:spPr>
          <a:xfrm>
            <a:off x="6477000" y="3457575"/>
            <a:ext cx="12192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解释澄清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9A4A493-8B4F-45CD-B4D7-EBF0789E2F26}"/>
              </a:ext>
            </a:extLst>
          </p:cNvPr>
          <p:cNvSpPr txBox="1"/>
          <p:nvPr/>
        </p:nvSpPr>
        <p:spPr>
          <a:xfrm>
            <a:off x="6400800" y="3810000"/>
            <a:ext cx="5334000" cy="16192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have indeed stated/included/discussed/compared/reported/clarified/elaborated ... in our original paper ... (cf. Line #id).</a:t>
            </a:r>
          </a:p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As we stated in Line #id, ...</a:t>
            </a:r>
          </a:p>
          <a:p>
            <a:pPr>
              <a:lnSpc>
                <a:spcPct val="160000"/>
              </a:lnSpc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have rewritten ... to be more in line with your comments. We hope that the edited section clarifies …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F9ADF3C-3FAF-44EA-B752-E4139D2D0C81}"/>
              </a:ext>
            </a:extLst>
          </p:cNvPr>
          <p:cNvSpPr/>
          <p:nvPr/>
        </p:nvSpPr>
        <p:spPr>
          <a:xfrm>
            <a:off x="6248400" y="5600700"/>
            <a:ext cx="5638800" cy="552450"/>
          </a:xfrm>
          <a:prstGeom prst="roundRect">
            <a:avLst>
              <a:gd name="adj" fmla="val 17241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7955F70-4CC4-409F-BAF9-3413A5C1A55E}"/>
              </a:ext>
            </a:extLst>
          </p:cNvPr>
          <p:cNvSpPr txBox="1"/>
          <p:nvPr/>
        </p:nvSpPr>
        <p:spPr>
          <a:xfrm>
            <a:off x="6400800" y="5734050"/>
            <a:ext cx="5334000" cy="28575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引用原文行号（</a:t>
            </a:r>
            <a:r>
              <a:rPr sz="1200" b="1">
                <a:solidFill>
                  <a:srgbClr val="B5743A"/>
                </a:solidFill>
                <a:latin typeface="Times New Roman"/>
                <a:ea typeface="Times New Roman"/>
              </a:rPr>
              <a:t>Line #id</a:t>
            </a: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）把“其实已经写过”变成可验证的事实。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DEC6CE2-4A3E-47CF-9FE4-1F6219F64188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65EB6ED-3BF2-4910-B2DC-2D2B39665812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84 / 86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653BA68-7268-44E4-B577-6D6D6A678C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DCB65CD7-83D8-49EB-ABE9-098530FFD6E5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2990D34-9DB2-4F9C-A348-E167EAF587A2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9E9541-3464-415D-8DA5-26A487E151E3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常用表达（二）礼貌地不同意 · 补充额外信息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BA24F36-DAEB-40FC-9134-82A004BD319A}"/>
              </a:ext>
            </a:extLst>
          </p:cNvPr>
          <p:cNvSpPr/>
          <p:nvPr/>
        </p:nvSpPr>
        <p:spPr>
          <a:xfrm>
            <a:off x="304800" y="838200"/>
            <a:ext cx="5638800" cy="531495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A908BA7-7732-4523-BC9E-A64FD83BDCAE}"/>
              </a:ext>
            </a:extLst>
          </p:cNvPr>
          <p:cNvSpPr/>
          <p:nvPr/>
        </p:nvSpPr>
        <p:spPr>
          <a:xfrm>
            <a:off x="457200" y="9525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FEEE7F9-AF1B-4249-8AF7-160AC69D041B}"/>
              </a:ext>
            </a:extLst>
          </p:cNvPr>
          <p:cNvSpPr txBox="1"/>
          <p:nvPr/>
        </p:nvSpPr>
        <p:spPr>
          <a:xfrm>
            <a:off x="533400" y="1000125"/>
            <a:ext cx="1524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表达不同意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03B75C-8BD5-4568-98C4-2305408C3291}"/>
              </a:ext>
            </a:extLst>
          </p:cNvPr>
          <p:cNvSpPr txBox="1"/>
          <p:nvPr/>
        </p:nvSpPr>
        <p:spPr>
          <a:xfrm>
            <a:off x="457200" y="1371600"/>
            <a:ext cx="5334000" cy="46291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respectfully disagree with Reviewer #id that ...</a:t>
            </a:r>
          </a:p>
          <a:p>
            <a:pPr>
              <a:lnSpc>
                <a:spcPct val="160000"/>
              </a:lnSpc>
              <a:spcBef>
                <a:spcPts val="122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The reviewer might have overlooked Table #id ...</a:t>
            </a:r>
          </a:p>
          <a:p>
            <a:pPr>
              <a:lnSpc>
                <a:spcPct val="160000"/>
              </a:lnSpc>
              <a:spcBef>
                <a:spcPts val="122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can compare ... but it is not quite related to our work ...</a:t>
            </a:r>
          </a:p>
          <a:p>
            <a:pPr>
              <a:lnSpc>
                <a:spcPct val="160000"/>
              </a:lnSpc>
              <a:spcBef>
                <a:spcPts val="122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have to emphasize that ...</a:t>
            </a:r>
          </a:p>
          <a:p>
            <a:pPr>
              <a:lnSpc>
                <a:spcPct val="160000"/>
              </a:lnSpc>
              <a:spcBef>
                <a:spcPts val="122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The reviewer raises an interesting concern. However, our work ...</a:t>
            </a:r>
          </a:p>
          <a:p>
            <a:pPr>
              <a:lnSpc>
                <a:spcPct val="160000"/>
              </a:lnSpc>
              <a:spcBef>
                <a:spcPts val="122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Thank you for the comment, but we cannot fully agree with the comment. As stated/emphasized ...</a:t>
            </a:r>
          </a:p>
          <a:p>
            <a:pPr>
              <a:lnSpc>
                <a:spcPct val="160000"/>
              </a:lnSpc>
              <a:spcBef>
                <a:spcPts val="1220"/>
              </a:spcBef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You have raised an important point; however, we believe that ... would be outside the scope of our paper because …</a:t>
            </a:r>
          </a:p>
          <a:p>
            <a:pPr>
              <a:lnSpc>
                <a:spcPct val="160000"/>
              </a:lnSpc>
              <a:spcBef>
                <a:spcPts val="1220"/>
              </a:spcBef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This is a valid assessment of …; however, we believe that ... would be more appropriate because ...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550D51B-066C-4738-AB38-7357AE7CDA55}"/>
              </a:ext>
            </a:extLst>
          </p:cNvPr>
          <p:cNvSpPr/>
          <p:nvPr/>
        </p:nvSpPr>
        <p:spPr>
          <a:xfrm>
            <a:off x="6248400" y="838200"/>
            <a:ext cx="5638800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CC16A8A-27BB-4516-93A5-B2F4CA2EB3F2}"/>
              </a:ext>
            </a:extLst>
          </p:cNvPr>
          <p:cNvSpPr/>
          <p:nvPr/>
        </p:nvSpPr>
        <p:spPr>
          <a:xfrm>
            <a:off x="6400800" y="952500"/>
            <a:ext cx="2057400" cy="304800"/>
          </a:xfrm>
          <a:prstGeom prst="roundRect">
            <a:avLst>
              <a:gd name="adj" fmla="val 31250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92E03A4-2E33-47FD-818D-253486DB039E}"/>
              </a:ext>
            </a:extLst>
          </p:cNvPr>
          <p:cNvSpPr txBox="1"/>
          <p:nvPr/>
        </p:nvSpPr>
        <p:spPr>
          <a:xfrm>
            <a:off x="6477000" y="1000125"/>
            <a:ext cx="19050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ea typeface="华文中宋"/>
              </a:rPr>
              <a:t>额外信息与解释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3B02E07-FD36-4886-AECF-6879FB5F16DE}"/>
              </a:ext>
            </a:extLst>
          </p:cNvPr>
          <p:cNvSpPr txBox="1"/>
          <p:nvPr/>
        </p:nvSpPr>
        <p:spPr>
          <a:xfrm>
            <a:off x="6400800" y="1371600"/>
            <a:ext cx="5334000" cy="16573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have included a new figure/table (cf. Figure/Table #id) to further illustrate…</a:t>
            </a:r>
          </a:p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We have supplemented the xxx section with explanations of ...</a:t>
            </a:r>
          </a:p>
          <a:p>
            <a:pPr>
              <a:lnSpc>
                <a:spcPct val="160000"/>
              </a:lnSpc>
              <a:spcAft>
                <a:spcPts val="700"/>
              </a:spcAft>
            </a:pPr>
            <a:r>
              <a:rPr sz="1100">
                <a:solidFill>
                  <a:srgbClr val="0B56A8"/>
                </a:solidFill>
                <a:latin typeface="Times New Roman"/>
                <a:ea typeface="Times New Roman"/>
              </a:rPr>
              <a:t>Thank you for the comment. We will explore this in future work.</a:t>
            </a:r>
          </a:p>
          <a:p>
            <a:pPr>
              <a:lnSpc>
                <a:spcPct val="160000"/>
              </a:lnSpc>
            </a:pPr>
            <a:r>
              <a:rPr sz="1200" b="1">
                <a:solidFill>
                  <a:srgbClr val="B5743A"/>
                </a:solidFill>
                <a:latin typeface="Times New Roman"/>
                <a:ea typeface="华文中宋"/>
              </a:rPr>
              <a:t>新图、新表、新章节都要在句子里标出编号，方便审稿人直接去查。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BA2A8C6C-BF91-4018-AC1A-723E86AA3CFE}"/>
              </a:ext>
            </a:extLst>
          </p:cNvPr>
          <p:cNvSpPr/>
          <p:nvPr/>
        </p:nvSpPr>
        <p:spPr>
          <a:xfrm>
            <a:off x="6248400" y="3200400"/>
            <a:ext cx="5638800" cy="2105025"/>
          </a:xfrm>
          <a:prstGeom prst="roundRect">
            <a:avLst>
              <a:gd name="adj" fmla="val 3225"/>
            </a:avLst>
          </a:prstGeom>
          <a:solidFill>
            <a:srgbClr val="FDF8F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CF59E57-45FD-48D8-BC02-3B8B09FD7DE2}"/>
              </a:ext>
            </a:extLst>
          </p:cNvPr>
          <p:cNvSpPr txBox="1"/>
          <p:nvPr/>
        </p:nvSpPr>
        <p:spPr>
          <a:xfrm>
            <a:off x="6400800" y="3352800"/>
            <a:ext cx="5334000" cy="22860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B5743A"/>
                </a:solidFill>
                <a:latin typeface="Times New Roman"/>
                <a:ea typeface="华文中宋"/>
              </a:rPr>
              <a:t>更多资料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852E096-2378-4107-86F9-B3663F0220A6}"/>
              </a:ext>
            </a:extLst>
          </p:cNvPr>
          <p:cNvSpPr txBox="1"/>
          <p:nvPr/>
        </p:nvSpPr>
        <p:spPr>
          <a:xfrm>
            <a:off x="6400800" y="3657600"/>
            <a:ext cx="5334000" cy="7429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Rebuttal 指南：</a:t>
            </a:r>
          </a:p>
          <a:p>
            <a:pPr>
              <a:lnSpc>
                <a:spcPct val="160000"/>
              </a:lnSpc>
            </a:pPr>
            <a:r>
              <a:rPr sz="1200">
                <a:solidFill>
                  <a:srgbClr val="0B56A8"/>
                </a:solidFill>
                <a:latin typeface="Times New Roman"/>
                <a:ea typeface="Times New Roman"/>
              </a:rPr>
              <a:t>https://github.com/MLNLP-World/Paper-Rebuttal-Tips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F67D372-E46A-4180-8A34-1CFEE9D24075}"/>
              </a:ext>
            </a:extLst>
          </p:cNvPr>
          <p:cNvSpPr txBox="1"/>
          <p:nvPr/>
        </p:nvSpPr>
        <p:spPr>
          <a:xfrm>
            <a:off x="6400800" y="4533900"/>
            <a:ext cx="5334000" cy="142875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 b="1">
                <a:solidFill>
                  <a:srgbClr val="7B2484"/>
                </a:solidFill>
                <a:latin typeface="Times New Roman"/>
                <a:ea typeface="华文中宋"/>
              </a:rPr>
              <a:t>以上句式供选择使用，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1A2430"/>
                </a:solidFill>
                <a:latin typeface="Times New Roman"/>
                <a:ea typeface="华文中宋"/>
              </a:rPr>
              <a:t>根据具体意见与篇幅取舍。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5371373-DD54-40AD-BA72-24171E53DA29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第十六篇 如何 Rebuttal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7C7294A-1E0D-4402-B431-CA13BA00B3AC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85 / 86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E895B5DA-4F3C-4091-B008-E537CCDC4D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0" y="66675"/>
            <a:ext cx="3733800" cy="5334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CBA5D099-B828-40C9-B250-A0BEFBD7508A}"/>
              </a:ext>
            </a:extLst>
          </p:cNvPr>
          <p:cNvSpPr/>
          <p:nvPr/>
        </p:nvSpPr>
        <p:spPr>
          <a:xfrm>
            <a:off x="304800" y="552450"/>
            <a:ext cx="685800" cy="28575"/>
          </a:xfrm>
          <a:prstGeom prst="rect">
            <a:avLst/>
          </a:prstGeom>
          <a:solidFill>
            <a:srgbClr val="FFC84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8C52781-69C5-4D54-B97C-670BFEC324AC}"/>
              </a:ext>
            </a:extLst>
          </p:cNvPr>
          <p:cNvSpPr/>
          <p:nvPr/>
        </p:nvSpPr>
        <p:spPr>
          <a:xfrm>
            <a:off x="304800" y="685800"/>
            <a:ext cx="11582400" cy="9525"/>
          </a:xfrm>
          <a:prstGeom prst="rect">
            <a:avLst/>
          </a:prstGeom>
          <a:solidFill>
            <a:srgbClr val="DCE4E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12F9E56-4EFA-47F2-B9A7-AEE5AA6F98DF}"/>
              </a:ext>
            </a:extLst>
          </p:cNvPr>
          <p:cNvSpPr txBox="1"/>
          <p:nvPr/>
        </p:nvSpPr>
        <p:spPr>
          <a:xfrm>
            <a:off x="304800" y="152400"/>
            <a:ext cx="7810500" cy="39624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7B2484"/>
                </a:solidFill>
                <a:latin typeface="Times New Roman"/>
                <a:ea typeface="华文中宋"/>
              </a:rPr>
              <a:t>十六篇内容：前半会读会想，后半会写会回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0E11476-EC36-4A3F-8534-73FB070E91EE}"/>
              </a:ext>
            </a:extLst>
          </p:cNvPr>
          <p:cNvSpPr/>
          <p:nvPr/>
        </p:nvSpPr>
        <p:spPr>
          <a:xfrm>
            <a:off x="304800" y="838200"/>
            <a:ext cx="5638800" cy="4476750"/>
          </a:xfrm>
          <a:prstGeom prst="roundRect">
            <a:avLst>
              <a:gd name="adj" fmla="val 21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B60B36-49EF-4D92-A47D-40E12AF9EA35}"/>
              </a:ext>
            </a:extLst>
          </p:cNvPr>
          <p:cNvSpPr txBox="1"/>
          <p:nvPr/>
        </p:nvSpPr>
        <p:spPr>
          <a:xfrm>
            <a:off x="457200" y="99060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第一部分 · 如何做科研（第一至七篇）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ABDF28D-7037-44B6-9E1D-3CF8FDBAD0EF}"/>
              </a:ext>
            </a:extLst>
          </p:cNvPr>
          <p:cNvSpPr txBox="1"/>
          <p:nvPr/>
        </p:nvSpPr>
        <p:spPr>
          <a:xfrm>
            <a:off x="457200" y="1333500"/>
            <a:ext cx="5334000" cy="2857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第一篇　总览：什么是研究与关键能力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第二篇　如何找论文？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第三篇　如何读论文？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第四篇　如何想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Idea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？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第五篇　如何进行学术汇报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第六篇　如何高效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Meeting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第七篇　一些好的习惯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D41B724-6590-46A8-806A-BFC32B4AE42F}"/>
              </a:ext>
            </a:extLst>
          </p:cNvPr>
          <p:cNvSpPr/>
          <p:nvPr/>
        </p:nvSpPr>
        <p:spPr>
          <a:xfrm>
            <a:off x="533400" y="4400550"/>
            <a:ext cx="5181600" cy="628650"/>
          </a:xfrm>
          <a:prstGeom prst="roundRect">
            <a:avLst>
              <a:gd name="adj" fmla="val 15151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9F5F51-A540-4FCB-B3D5-5CC5F9327B6C}"/>
              </a:ext>
            </a:extLst>
          </p:cNvPr>
          <p:cNvSpPr txBox="1"/>
          <p:nvPr/>
        </p:nvSpPr>
        <p:spPr>
          <a:xfrm>
            <a:off x="609600" y="4495800"/>
            <a:ext cx="502920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60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这一半解决“输入”：找什么、读什么、</a:t>
            </a:r>
          </a:p>
          <a:p>
            <a:pPr algn="ctr">
              <a:lnSpc>
                <a:spcPct val="160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怎么想、怎么讲给人听。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486F9BA-485A-4B9C-9C2E-A99E0C808504}"/>
              </a:ext>
            </a:extLst>
          </p:cNvPr>
          <p:cNvSpPr/>
          <p:nvPr/>
        </p:nvSpPr>
        <p:spPr>
          <a:xfrm>
            <a:off x="6248400" y="838200"/>
            <a:ext cx="5638800" cy="4476750"/>
          </a:xfrm>
          <a:prstGeom prst="roundRect">
            <a:avLst>
              <a:gd name="adj" fmla="val 2127"/>
            </a:avLst>
          </a:prstGeom>
          <a:solidFill>
            <a:srgbClr val="7B2484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8AD9459-8DFD-4002-B263-0A37AA8F02F9}"/>
              </a:ext>
            </a:extLst>
          </p:cNvPr>
          <p:cNvSpPr txBox="1"/>
          <p:nvPr/>
        </p:nvSpPr>
        <p:spPr>
          <a:xfrm>
            <a:off x="6400800" y="990600"/>
            <a:ext cx="5334000" cy="247650"/>
          </a:xfrm>
        </p:spPr>
        <p:txBody>
          <a:bodyPr wrap="square" rtlCol="0" lIns="0" tIns="0" rIns="0" bIns="0" anchor="t"/>
          <a:lstStyle/>
          <a:p>
            <a:r>
              <a:rPr sz="1500" b="1">
                <a:solidFill>
                  <a:srgbClr val="FFC845"/>
                </a:solidFill>
                <a:latin typeface="Times New Roman"/>
                <a:ea typeface="华文中宋"/>
              </a:rPr>
              <a:t>第二部分 · 如何写论文（第八至十六篇）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77850B-916C-4DA9-A138-4528FCA9DD7A}"/>
              </a:ext>
            </a:extLst>
          </p:cNvPr>
          <p:cNvSpPr txBox="1"/>
          <p:nvPr/>
        </p:nvSpPr>
        <p:spPr>
          <a:xfrm>
            <a:off x="6400800" y="1333500"/>
            <a:ext cx="5334000" cy="2857500"/>
          </a:xfrm>
        </p:spPr>
        <p:txBody>
          <a:bodyPr wrap="square" rtlCol="0" lIns="0" tIns="0" rIns="0" bIns="0" anchor="t"/>
          <a:lstStyle/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第八篇　写论文之前：大纲与八句话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第九篇　论文画图指南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第十篇　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Abstract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　第十一篇　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Introduction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第十二篇　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Related Works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　第十三篇　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Methods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第十四篇　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Experiments</a:t>
            </a: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　第十五篇　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Reference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Times New Roman"/>
                <a:ea typeface="华文中宋"/>
              </a:rPr>
              <a:t>第十六篇　如何 </a:t>
            </a:r>
            <a:r>
              <a:rPr sz="1300">
                <a:solidFill>
                  <a:srgbClr val="FFFFFF"/>
                </a:solidFill>
                <a:latin typeface="Times New Roman"/>
                <a:ea typeface="Times New Roman"/>
              </a:rPr>
              <a:t>Rebuttal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A77ED78-40E9-43C9-92FE-9D6D1373E948}"/>
              </a:ext>
            </a:extLst>
          </p:cNvPr>
          <p:cNvSpPr/>
          <p:nvPr/>
        </p:nvSpPr>
        <p:spPr>
          <a:xfrm>
            <a:off x="6477000" y="4400550"/>
            <a:ext cx="5181600" cy="628650"/>
          </a:xfrm>
          <a:prstGeom prst="roundRect">
            <a:avLst>
              <a:gd name="adj" fmla="val 15151"/>
            </a:avLst>
          </a:prstGeom>
          <a:solidFill>
            <a:srgbClr val="8E459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BD0E9B9-06E8-40AF-988C-8D4097DA1C27}"/>
              </a:ext>
            </a:extLst>
          </p:cNvPr>
          <p:cNvSpPr txBox="1"/>
          <p:nvPr/>
        </p:nvSpPr>
        <p:spPr>
          <a:xfrm>
            <a:off x="6553200" y="4495800"/>
            <a:ext cx="5029200" cy="628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60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这一半解决“输出”：先画图定主线，再逐节写正文，</a:t>
            </a:r>
          </a:p>
          <a:p>
            <a:pPr algn="ctr">
              <a:lnSpc>
                <a:spcPct val="160000"/>
              </a:lnSpc>
            </a:pPr>
            <a:r>
              <a:rPr sz="1200">
                <a:solidFill>
                  <a:srgbClr val="FFFFFF"/>
                </a:solidFill>
                <a:latin typeface="Times New Roman"/>
                <a:ea typeface="华文中宋"/>
              </a:rPr>
              <a:t>最后统一参考文献，并准备好审稿人回复。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C6196641-1B3A-41DE-A4E6-DA2B5488A092}"/>
              </a:ext>
            </a:extLst>
          </p:cNvPr>
          <p:cNvSpPr/>
          <p:nvPr/>
        </p:nvSpPr>
        <p:spPr>
          <a:xfrm>
            <a:off x="304800" y="5448300"/>
            <a:ext cx="11582400" cy="590550"/>
          </a:xfrm>
          <a:prstGeom prst="roundRect">
            <a:avLst>
              <a:gd name="adj" fmla="val 13888"/>
            </a:avLst>
          </a:prstGeom>
          <a:solidFill>
            <a:srgbClr val="F5FA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936762F-7CA4-4F8D-AC0F-85BB6583CCA2}"/>
              </a:ext>
            </a:extLst>
          </p:cNvPr>
          <p:cNvSpPr txBox="1"/>
          <p:nvPr/>
        </p:nvSpPr>
        <p:spPr>
          <a:xfrm>
            <a:off x="457200" y="5676900"/>
            <a:ext cx="112776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86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页 · 覆盖手册《如何做科研与写论文》全部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16</a:t>
            </a:r>
            <a:r>
              <a:rPr sz="1200">
                <a:solidFill>
                  <a:srgbClr val="1A2430"/>
                </a:solidFill>
                <a:latin typeface="Times New Roman"/>
                <a:ea typeface="华文中宋"/>
              </a:rPr>
              <a:t> 篇文档 · 中文华文中宋 / 英文 </a:t>
            </a:r>
            <a:r>
              <a:rPr sz="1200">
                <a:solidFill>
                  <a:srgbClr val="1A2430"/>
                </a:solidFill>
                <a:latin typeface="Times New Roman"/>
                <a:ea typeface="Times New Roman"/>
              </a:rPr>
              <a:t>Times New Roman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D3CFC81-11EB-493E-BE7B-31FDE2699DA2}"/>
              </a:ext>
            </a:extLst>
          </p:cNvPr>
          <p:cNvSpPr txBox="1"/>
          <p:nvPr/>
        </p:nvSpPr>
        <p:spPr>
          <a:xfrm>
            <a:off x="304800" y="6515100"/>
            <a:ext cx="6096000" cy="190500"/>
          </a:xfrm>
        </p:spPr>
        <p:txBody>
          <a:bodyPr wrap="square" rtlCol="0" lIns="0" tIns="0" rIns="0" bIns="0" anchor="t"/>
          <a:lstStyle/>
          <a:p>
            <a:r>
              <a:rPr sz="1200">
                <a:solidFill>
                  <a:srgbClr val="8A97A5"/>
                </a:solidFill>
                <a:latin typeface="Times New Roman"/>
                <a:ea typeface="华文中宋"/>
              </a:rPr>
              <a:t>如何做科研与写论文 · 全稿地图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70A4FC4-1C5E-4EA9-AED9-648C2BE2977D}"/>
              </a:ext>
            </a:extLst>
          </p:cNvPr>
          <p:cNvSpPr txBox="1"/>
          <p:nvPr/>
        </p:nvSpPr>
        <p:spPr>
          <a:xfrm>
            <a:off x="10668000" y="6515100"/>
            <a:ext cx="12192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A97A5"/>
                </a:solidFill>
                <a:latin typeface="Times New Roman"/>
                <a:ea typeface="Times New Roman"/>
              </a:rPr>
              <a:t>86 / 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